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MEMBERS 01–10 — ATOMIC STRUCTURE — From Thomson's Plum Pudding Model to Modern Quantum Theory. Notes (ALL, Member 01 leads): Welcome the class and state the driving question. Point at the orbit rings and warn they are HISTORICAL Bohr orbits — Slide 38 will replace them with quantum clouds. Stress terms: plum pudding, nucleus, quantised. HANDOFF: Member 01 stays on for the journey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MEMBERS • M01 — Our Learning Journey — Five Models, One Method. Notes (ALL/Member 01): Walk the five timeline nodes left to right. Tell the class to listen for break-dates and counts (e/m, 1 in 8000). Stress terms: scattering, stationary, orbital. HANDOFF: Member 01 continues with what atom meant.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01 — What Is an Atom? From Atomos to Dalton's Theory (1808). Notes (Member 01): Pronounce atomos; date Dalton 1808. Explain fixed ratios with a weighing example. Diagram: five solid spheres plus ratio bars. Stress terms: atomos, fixed ratios. HANDOFF: Staying with Member 01 — what the ball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01 — Dalton's Solid Ball — What It Explained and Why It Was Accepted. Notes (Member 01): Emphasise usefulness vs truth — Dalton was kept because it worked, not because indivisibility was proven. Bars show fixed ratios visually. Stress terms: combining mass. HANDOFF: Staying with Member 01 — the evidence that broke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01 — Atoms Are Divisible — Electricity Reveals Parts Inside. Notes (Member 01): Name both experiments slowly; they are the logical crowbar that opens Dalton's ball. Diagram contrasts sealed ball with opened ball showing dots. Stress terms: electrolysis, divisible. HANDOFF: Over to Member 02 for the electron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01 — The Three Subatomic Particles — Electron, Proton, Neutron. Notes (Member 01): Read the native table row by row; stress 1836× and Chadwick 1932 as later than our main story. Terms: coulomb, neutral. HANDOFF: Over to Member 02 — where the electron was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02 — Discovery of the Electron (1897) — Building the Cathode-Ray Tube. Notes (Member 02): Trace each labelled part: tube, cathode, anode, supply, screen. Explain why low pressure matters. Terms: cathode, anode, vacuum. HANDOFF: Same speaker — what the rays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02 — Cathode Rays at Work — Straight Lines, Shadows, Motion, Glow. Notes (Member 02): Present four observations as courtroom exhibits; the photo shows a real glowing tube (illustrative modern tube, captioned). Terms: fluorescence, momentum. HANDOFF: Same speaker — the deflection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02 — Negative Charge Proved — Bending in Electric and Magnetic Fields. Notes (Member 02): Point at the straight baseline versus the bent cyan path; name the + and − plates. Terms: deflection, polarity. HANDOFF: Same speaker — measuring e/m.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02 — How Light Is the Electron? e/m = 1.76 × 10¹¹ C/kg. Notes (Member 02): Read the equation as words: charge over mass. Do the 1800× logic live: bigger ratio means lighter particle. Terms: charge-to-mass ratio, universal. HANDOFF: Over to Member 03 — the model Thomson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03 — Thomson Asks the Next Question — Where Is the Positive Charge? (1904). Notes (Member 03): Pose the puzzle before the answer; let the class feel the gap. Diagram shows uniform fill with no centre dot. Terms: diffuse, neutral. HANDOFF: Same speaker — the pudding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03 — Plum Pudding — Positive Pudding, Electron Plums, Neutral Whole. Notes (Member 03): Tell both analogies; ask the class which image sticks. Emphasise embedded, not orbiting. Terms: embedded, neutrality. HANDOFF: Same speaker — assumptions and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03 — Assumptions Inside the Pudding — And What It Could Explain. Notes (Member 03): Be fair: credit neutrality and removable electrons before attacking. Terms: uniform, vibrate. HANDOFF: Over to Member 04 — why the pudding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04 — Failure One — Large-Angle Scattering Is Impossible in Pudding. Notes (Member 04): Act out the bus analogy; write 7300× large. Diagram contrasts predicted wiggle with observed rebound. Terms: electric field, deflection. HANDOFF: Same speaker — three more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04 — Failures Two to Four — No Nucleus, No Lines, No Stability. Notes (Member 04): Count failures on fingers: scattering, nucleus, spectra, stability. Terms: line spectra, electrostatic balance. HANDOFF: Same speaker — verdict and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04 — Verdict on Thomson — And the Experiment That Will Test It. Notes (Member 04): Summarise kept-vs-lost in two breaths; end on the apparatus question. Terms: direct test. HANDOFF: Over to Member 05 — the gold-foil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05 — Testing Thomson — Rutherford, Geiger and Marsden (Manchester, ~1909). Notes (Member 05): Name all three; stress aim-before-apparatus so each part has a purpose. Terms: probe, deflection survey. HANDOFF: Same speaker — the source and beam.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05 — The Probe — Alpha Particles in a Lead Collimator. Notes (Member 05): Define each number: +2e charge, 10⁷ m/s speed, helium-nucleus identity. Diagram shows block, hole, beam. Terms: collimator, absorb. HANDOFF: Same speaker — target and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05 — Target and Detector — Gold Foil, Vacuum, Flashes Counted One by One. Notes (Member 05): Walk the full path: source, hole, foil, flash, microscope. Historic Geiger–Marsden figure shown as thumbnail beside the redrawn schematic. Terms: scintillation, vacuum. HANDOFF: Over to Member 06 — what actually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06 — Observation 1 — Almost Everything Goes Straight Through. Notes (Member 06): Point at the straight cyan path; repeat the discipline aloud: seen versus meant. Terms: undeflected. HANDOFF: Same speaker — the small bends.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06 — Observation 2 — A Few Particles Bend by Small Angles. Notes (Member 06): Read 0.14% slowly and write it large; it is the middle tier between common and ultra-rare. Diagram shows the bent cyan path. Terms: repulsion, 0.14%. HANDOFF: Same speaker — the violent rebounds.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06 — Observation 3 — About 1 in 8000 Bounces Back. Notes (Member 06): Land the 1-in-8000 figure; deliver the shell-vs-tissue quote verbatim. Red path shows the 180° return. Terms: dense, head-on. HANDOFF: Same speaker — why aim decides fate.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06 — Impact Parameter — Why the Same Beam Gives Three Fates. Notes (Member 06): Point at the b-bracket between original path and nucleus. Connect rarity tiers to b sizes. Terms: impact parameter, perpendicular. HANDOFF: Same speaker — the zero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06 — Head-On Collision — When b = 0 the Particle Comes Back. Notes (Member 06): Trace the red in-and-out path; chant the rule with the class. Terms: head-on, 180°. HANDOFF: Over to Member 07 — the nuclear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07 — Rutherford's Nuclear Model (1911) — A Dense Centre in Vast Emptiness. Notes (Member 07): Point at nucleus, rings, and emptiness in turn. Warn the class the rings are historical. Terms: nucleus, planetary. HANDOFF: Same speaker — what holds the orbits.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07 — What Holds Electrons Up? Coulomb Attraction as Centripetal Force. Notes (Member 07): Read the equation as a sentence: attraction provides the turning force. Diagram draws inward arrows on the orbiting dot. Terms: centripetal, coulomb. HANDOFF: Same speaker — how small is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07 — How Small Is the Nucleus? The Stadium-and-Seed Scale. Notes (Member 07): State both radii with units; admit the drawing compromise explicitly. Terms: order of magnitude, log scale. HANDOFF: Same speaker — what the model wins and still owes.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07 — What the Nuclear Model Wins — And What It Still Owes. Notes (Member 07): Map each fate to its mechanism; end owing stability and spectra honestly. Terms: mechanism, tier. HANDOFF: Over to Member 08 — head-to-head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08 — Thomson vs Rutherford — Same Electrons, Opposite Architecture. Notes (Member 08): Read the native table row by row; point at both cartoons. Terms: architecture, concentrated. HANDOFF: Same speaker — the five-model panorama.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08 — Five Models in One View — Structure, Evidence, and What Broke Each. Notes (Member 08): Walk the wide table column by column: structure, electrons, evidence, explained, breaker. Credit Thomson (electrons inside) and Rutherford (nucleus). Terms: evidence-driven. HANDOFF: Over to Member 09 — why classical orbits die.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09 — Why Classical Orbits Collapse — The ~10⁻¹¹ s Death Sentence. Notes (Member 09): Stress accelerated-equals-turning; label 10⁻¹¹ s as prediction in red. Diagram shows circle decaying to crash with radiation squiggles. Terms: radiate, spiral. HANDOFF: Same speaker — the second verdict from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09 — Continuous Glow Predicted — Sharp Lines Observed. Notes (Member 09): Contrast the drawn continuum band with the photographed lines. Flag Rydberg as textbook context. Terms: Balmer, continuum. HANDOFF: Same speaker — prediction versus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09 — Prediction vs Measurement — How Physics Judges a Theory. Notes (Member 09): Point left for predictions, right for measurements; end on the need for quantisation. Terms: verdict, quantise. HANDOFF: Over to Member 10 — Bohr's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10 — Bohr's Fix, Idea 1 (1913) — Stationary Orbits That Do Not Radiate. Notes (Member 10): Stress postulated, not proven — Bohr bets stability and wins. Portrait: Bohr c.1922 (public domain, Nobel year). Terms: stationary, postulate. HANDOFF: Same speaker — idea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10 — Bohr's Fix, Idea 2 — Only Whole-Number Orbits Are Allowed. Notes (Member 10): Tap each rung as you count n = 1, 2, 3. Flag h as textbook context. Terms: angular momentum, quantised. HANDOFF: Same speaker — idea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10 — Bohr's Fix, Idea 3 — Light Only in Quantum Jumps. Notes (Member 10): Mime a jump between rungs; bigger leap, bluer flash. Terms: photon, jump. HANDOFF: Same speaker — the energy ladder.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10 — Hydrogen's Energy Ladder — E(n) = −13.6/n² eV, Worked Live. Notes (Member 10): Compute −13.6/4 = −3.4 live; subtract for 10.2 and 1.89. Flag hc as textbook arithmetic on the source formula. Terms: electron-volt, Lyman, Balmer. HANDOFF: Same speaker — orbits to orbitals.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10 — Beyond Bohr — Probability Clouds Replace Fixed Paths. Notes (Member 10): Point at bright-vs-dim zones; drill orbit/orbital until the class repeats it. Flag years as context. Terms: wavefunction, probability density. HANDOFF: Same speaker — the full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10 — Evolution Timeline — Dalton to Quantum in Five Breaks. Notes (Member 10): Walk nodes naming each breaker experiment; end on method over memory. Terms: synthesis. HANDOFF: All members — revision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MEMBERS — Quick Revision A — Electron, Thomson, Gold Foil, Nucleus. Notes (ALL): Rapid-fire, one breath per answer; any member takes one. Terms: rapid recall. HANDOFF: Same round — part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MEMBERS — Quick Revision B — Collapse, Spectra, Bohr, Numbers Drill. Notes (ALL): End with the class chanting both sizes and both mass ratios. Terms: drill. HANDOFF: Topic owners stand for cross-questions.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MEMBERS — SEE TAGS — Teacher Cross-Questions 1–5 — Answered by the Topic Owner. Notes: Each tagged owner stands, answers in two sentences, sits. Point at the tag chips. HANDOFF: Five more — same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MEMBERS — SEE TAGS — Teacher Cross-Questions 6–10 — Answered by the Topic Owner. Notes: Member 09 closes on the double failure. HANDOFF: All together for the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MEMBERS 01–10 — Conclusion — From Solid Ball to Probability Cloud. Notes (ALL, Member 10 leads): Recap the arc slowly, then deliver the source's closing line verbatim. Invite questions. HANDOFF: none — open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MEMBERS 01–10 — References, Sources and Image Credits — Trace Every Claim. Notes (ALL): Point at the manifest path; state plainly which images are illustrative or low-res thumbnails. HANDOFF: end of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ATOMIC STRUCTURE</a:t>
            </a:r>
          </a:p>
          <a:p>
            <a:r>
              <a:rPr sz="2200" b="1">
                <a:solidFill>
                  <a:srgbClr val="F5A623"/>
                </a:solidFill>
                <a:latin typeface="Calibri"/>
              </a:rPr>
              <a:t>From Thomson's Plum Pudding Model</a:t>
            </a:r>
          </a:p>
          <a:p>
            <a:r>
              <a:rPr sz="2200" b="0">
                <a:solidFill>
                  <a:srgbClr val="FFFFFF"/>
                </a:solidFill>
                <a:latin typeface="Calibri"/>
              </a:rPr>
              <a:t>to Modern Quantum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56616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BC6D6"/>
                </a:solidFill>
                <a:latin typeface="Calibri"/>
              </a:rPr>
              <a:t>First-year undergraduate lecture  •  Group of 10  •  [Team Name TBD]  •  [College Name TBD]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434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Ten students teach one story: how the electron was found, how Thomson built a model, how Rutherford broke it, and why even Rutherford had to be replaced.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Driving question for the whole hour: atoms contain charged parts, so what holds them together — and why do atoms not collapse?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Every slide shows real dates, numbers, and equations you can verify — plus the member number responsible for teaching it.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Team: Members 01–10 (names TBD). College: [College Name TBD]. Read each slide's points aloud, point at the diagram, then hand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MEMBERS 01–10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ALL MEMBERS 01–10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01 / 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0" y="3108960"/>
            <a:ext cx="1005840" cy="100584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0" y="2377440"/>
            <a:ext cx="4114800" cy="2468880"/>
          </a:xfrm>
          <a:prstGeom prst="ellipse">
            <a:avLst/>
          </a:prstGeom>
          <a:noFill/>
          <a:ln w="317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23760" y="2148840"/>
            <a:ext cx="3566160" cy="2743200"/>
          </a:xfrm>
          <a:prstGeom prst="ellipse">
            <a:avLst/>
          </a:prstGeom>
          <a:noFill/>
          <a:ln w="25400">
            <a:solidFill>
              <a:srgbClr val="14E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18120" y="1920240"/>
            <a:ext cx="2377440" cy="2926080"/>
          </a:xfrm>
          <a:prstGeom prst="ellipse">
            <a:avLst/>
          </a:prstGeom>
          <a:noFill/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0" y="2743200"/>
            <a:ext cx="256032" cy="256032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66960" y="3840480"/>
            <a:ext cx="256032" cy="256032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52560" y="2286000"/>
            <a:ext cx="256032" cy="256032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528523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BC6D6"/>
                </a:solidFill>
                <a:latin typeface="Calibri"/>
              </a:rPr>
              <a:t>Schematic — crisp rings are HISTORICAL orbits (see Slide 38)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Our Learning Journey — Five Models, One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1808 Dalton: solid ball explains combining ratios — Member 1 shows what it explained and why it was believed.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1897–1904 Thomson: electron found, pudding built — Members 2–4 cover discovery, model, and its failures.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1909–1911 Rutherford, Geiger, Marsden: nucleus found — Members 5–7 rebuild the atom from scattering evidence.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1913 Bohr to quantum orbitals: stability and spectra fixed — Members 9–10 close the arc after Member 8 compares models.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Method to carry all hour: each model kept what worked and was broken by a new experiment with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ALL MEMBERS • M01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ALL MEMBERS — OPENS: MEMBER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02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766560" y="3154680"/>
            <a:ext cx="4480559" cy="0"/>
          </a:xfrm>
          <a:prstGeom prst="line">
            <a:avLst/>
          </a:prstGeom>
          <a:ln w="38100">
            <a:solidFill>
              <a:srgbClr val="0B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720840" y="2880360"/>
            <a:ext cx="548640" cy="54864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64592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1808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2024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Dalton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167128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Calibri"/>
              </a:rPr>
              <a:t>ball</a:t>
            </a:r>
          </a:p>
        </p:txBody>
      </p:sp>
      <p:sp>
        <p:nvSpPr>
          <p:cNvPr id="17" name="Oval 16"/>
          <p:cNvSpPr/>
          <p:nvPr/>
        </p:nvSpPr>
        <p:spPr>
          <a:xfrm>
            <a:off x="7653527" y="2880360"/>
            <a:ext cx="548640" cy="54864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59" y="164592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1897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192024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Thomson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2167128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Calibri"/>
              </a:rPr>
              <a:t>electron</a:t>
            </a:r>
          </a:p>
        </p:txBody>
      </p:sp>
      <p:sp>
        <p:nvSpPr>
          <p:cNvPr id="21" name="Oval 20"/>
          <p:cNvSpPr/>
          <p:nvPr/>
        </p:nvSpPr>
        <p:spPr>
          <a:xfrm>
            <a:off x="8586216" y="2880360"/>
            <a:ext cx="548640" cy="54864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164592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1911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192024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Rutherford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167128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Calibri"/>
              </a:rPr>
              <a:t>nucleus</a:t>
            </a:r>
          </a:p>
        </p:txBody>
      </p:sp>
      <p:sp>
        <p:nvSpPr>
          <p:cNvPr id="25" name="Oval 24"/>
          <p:cNvSpPr/>
          <p:nvPr/>
        </p:nvSpPr>
        <p:spPr>
          <a:xfrm>
            <a:off x="9518904" y="2880360"/>
            <a:ext cx="548640" cy="54864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7736" y="164592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1913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7736" y="192024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Bohr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2167128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Calibri"/>
              </a:rPr>
              <a:t>orbits</a:t>
            </a:r>
          </a:p>
        </p:txBody>
      </p:sp>
      <p:sp>
        <p:nvSpPr>
          <p:cNvPr id="29" name="Oval 28"/>
          <p:cNvSpPr/>
          <p:nvPr/>
        </p:nvSpPr>
        <p:spPr>
          <a:xfrm>
            <a:off x="10451592" y="2880360"/>
            <a:ext cx="548640" cy="54864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50424" y="164592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1926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0424" y="192024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Quantum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0424" y="2167128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Calibri"/>
              </a:rPr>
              <a:t>orbitals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4348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Members 01–10 own the numbered stops — follow the pills.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What Is an Atom? From Atomos to Dalton's Theory (1808)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word atom comes from Greek atomos, meaning indivisible — first a philosophical idea, not an experiment.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In 1808 John Dalton turned philosophy into testable chemistry: matter is made of tiny particles called atoms.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Dalton's rules: atoms of one element are identical, and atoms combine in fixed ratios to form compounds.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Example the class can weigh: carbon and oxygen always combine in fixed mass ratios, never arbitrary amounts.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In Dalton's picture the atom was a tiny solid ball that could never be broken — a claim later experiments destroyed.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01 —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03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2057400"/>
            <a:ext cx="731520" cy="731520"/>
          </a:xfrm>
          <a:prstGeom prst="ellipse">
            <a:avLst/>
          </a:prstGeom>
          <a:solidFill>
            <a:srgbClr val="D9C7A0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26679" y="2057400"/>
            <a:ext cx="731520" cy="731520"/>
          </a:xfrm>
          <a:prstGeom prst="ellipse">
            <a:avLst/>
          </a:prstGeom>
          <a:solidFill>
            <a:srgbClr val="D9C7A0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0" y="2057400"/>
            <a:ext cx="731520" cy="731520"/>
          </a:xfrm>
          <a:prstGeom prst="ellipse">
            <a:avLst/>
          </a:prstGeom>
          <a:solidFill>
            <a:srgbClr val="D9C7A0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4040" y="2057400"/>
            <a:ext cx="731520" cy="731520"/>
          </a:xfrm>
          <a:prstGeom prst="ellipse">
            <a:avLst/>
          </a:prstGeom>
          <a:solidFill>
            <a:srgbClr val="D9C7A0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0" y="2057400"/>
            <a:ext cx="731520" cy="731520"/>
          </a:xfrm>
          <a:prstGeom prst="ellipse">
            <a:avLst/>
          </a:prstGeom>
          <a:solidFill>
            <a:srgbClr val="D9C7A0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9718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A6C7D"/>
                </a:solidFill>
                <a:latin typeface="Calibri"/>
              </a:rPr>
              <a:t>atomos — uncuttable spheres, one kind per element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94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2332"/>
                </a:solidFill>
                <a:latin typeface="Calibri"/>
              </a:rPr>
              <a:t>C : O  12:16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840480"/>
            <a:ext cx="1463040" cy="292608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572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2332"/>
                </a:solidFill>
                <a:latin typeface="Calibri"/>
              </a:rPr>
              <a:t>C : O₂  12:32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4617720"/>
            <a:ext cx="2926080" cy="292608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C7D"/>
                </a:solidFill>
                <a:latin typeface="Calibri"/>
              </a:rPr>
              <a:t>Custom schematic — fixed ratios you can weigh.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Dalton's Solid Ball — What It Explained and Why It Was Accepted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solid ball explained why elements combine in fixed, predictable ratios instead of melting together arbitrarily.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It gave chemistry measurable atoms: each element had a characteristic combining mass chemists could weigh in the lab.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With no evidence of inner parts for nearly a century, an indivisible sphere was the simplest picture that worked.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Acceptance came from usefulness: the model predicted combining behaviour correctly even though its hardness was assumed.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Its weakness was structural silence: a solid ball cannot emit electrons, conduct in discharge tubes, or give line spectra.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01 —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04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92440" y="1783080"/>
            <a:ext cx="1828800" cy="1828800"/>
          </a:xfrm>
          <a:prstGeom prst="ellipse">
            <a:avLst/>
          </a:prstGeom>
          <a:solidFill>
            <a:srgbClr val="D9C7A0"/>
          </a:solidFill>
          <a:ln w="381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749039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Useful: predicts combining masses  •  Silent: no inner parts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526280"/>
            <a:ext cx="4297680" cy="640080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5720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Kept for ~90 years because it WORKED, not because it was proven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Atoms Are Divisible — Electricity Reveals Parts Inside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Electrolysis splits compounds with electric current — neutral matter responds to charge, so charge must live inside atoms.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Electric discharge through low-pressure gases glows and conducts — again, atoms and electricity are connected.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Both experiments force one conclusion: atoms contain smaller charged parts, so atoms are divisible after all.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This raises the question every atomic model tries to answer: how are the inner charged particles arranged?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Atomic models are scientists' arranged-furniture plans for these parts — Member 2 opens the first drawer: the electron.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01 —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05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1965960"/>
            <a:ext cx="1554480" cy="1554480"/>
          </a:xfrm>
          <a:prstGeom prst="ellipse">
            <a:avLst/>
          </a:prstGeom>
          <a:solidFill>
            <a:srgbClr val="D9C7A0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118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5A6C7D"/>
                </a:solidFill>
                <a:latin typeface="Calibri"/>
              </a:rPr>
              <a:t>sealed ball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78240" y="2606040"/>
            <a:ext cx="640080" cy="32004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0" y="1965960"/>
            <a:ext cx="1554480" cy="1554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66960" y="2331720"/>
            <a:ext cx="274320" cy="274320"/>
          </a:xfrm>
          <a:prstGeom prst="ellipse">
            <a:avLst/>
          </a:prstGeom>
          <a:solidFill>
            <a:srgbClr val="00D4FF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0" y="2606039"/>
            <a:ext cx="274320" cy="274320"/>
          </a:xfrm>
          <a:prstGeom prst="ellipse">
            <a:avLst/>
          </a:prstGeom>
          <a:solidFill>
            <a:srgbClr val="00D4FF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49840" y="2880360"/>
            <a:ext cx="274320" cy="274320"/>
          </a:xfrm>
          <a:prstGeom prst="ellipse">
            <a:avLst/>
          </a:prstGeom>
          <a:solidFill>
            <a:srgbClr val="00D4FF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36118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opened: charged parts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343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Electrolysis + discharge glow → electricity lives inside atoms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C7D"/>
                </a:solidFill>
                <a:latin typeface="Calibri"/>
              </a:rPr>
              <a:t>Custom schematic — the logical crowbar that opens the ball.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The Three Subatomic Particles — Electron, Proton, Neutron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electron carries −1.6 × 10⁻¹⁹ C with a tiny mass of ~9.1 × 10⁻³¹ kg — the lightest part, first proof atoms break open.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proton carries the same charge but positive (+1.6 × 10⁻¹⁹ C) and is ~1836 times heavier than the electron.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neutron, found later by Chadwick in 1932, has no charge and a mass almost equal to the proton.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Neutrality rule: total positive charge equals total negative charge, so the whole atom is electrically neutral.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TABLE (right): read each row's charge, mass, and discoverer — the rest of this talk only rearranges these three parts.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01 —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06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29400" y="1508760"/>
          <a:ext cx="4754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80160"/>
                <a:gridCol w="1188720"/>
                <a:gridCol w="1051560"/>
              </a:tblGrid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Particle</a:t>
                      </a:r>
                    </a:p>
                  </a:txBody>
                  <a:tcPr anchor="ctr"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Charge</a:t>
                      </a:r>
                    </a:p>
                  </a:txBody>
                  <a:tcPr anchor="ctr"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Mass</a:t>
                      </a:r>
                    </a:p>
                  </a:txBody>
                  <a:tcPr anchor="ctr"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Found</a:t>
                      </a:r>
                    </a:p>
                  </a:txBody>
                  <a:tcPr anchor="ctr">
                    <a:solidFill>
                      <a:srgbClr val="0B1A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332"/>
                          </a:solidFill>
                          <a:latin typeface="Calibri"/>
                        </a:rPr>
                        <a:t>electron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−1.6×10⁻¹⁹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9.1×10⁻³¹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Thomson 1897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332"/>
                          </a:solidFill>
                          <a:latin typeface="Calibri"/>
                        </a:rPr>
                        <a:t>proton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+1.6×10⁻¹⁹ C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~1836 × e⁻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332"/>
                          </a:solidFill>
                          <a:latin typeface="Calibri"/>
                        </a:rPr>
                        <a:t>neutron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≈ proton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Chadwick 1932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29400" y="4800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Neutrality: total + equals total 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Discovery of the Electron (1897) — Building the Cathode-Ray Tube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J. J. Thomson discovered the electron in 1897 while studying cathode rays — the project starts with his glass tube.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tube is sealed glass holding a gas at very low pressure, so the beam flies without scattering off air molecules.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Two electrodes sit inside: the cathode (−) and the anode (+), wired to a high-voltage supply across the tube.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When voltage is applied, rays stream from cathode to anode — these streams are the cathode rays under test.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Portrait: J. J. Thomson (photo, public domain) — the glow alone proved nothing; his deflection measurements proved everything.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02 — ELECTRON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07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2148840"/>
            <a:ext cx="4389120" cy="1737360"/>
          </a:xfrm>
          <a:prstGeom prst="rect">
            <a:avLst/>
          </a:prstGeom>
          <a:solidFill>
            <a:srgbClr val="E8F2FA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03720" y="2377440"/>
            <a:ext cx="201168" cy="1280160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0" y="2377440"/>
            <a:ext cx="201168" cy="1280160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0136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CATHODE 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180136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ANODE +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23760" y="3017520"/>
            <a:ext cx="329184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ight Arrow 17"/>
          <p:cNvSpPr/>
          <p:nvPr/>
        </p:nvSpPr>
        <p:spPr>
          <a:xfrm>
            <a:off x="10378440" y="2862072"/>
            <a:ext cx="320040" cy="310896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52759" y="2834640"/>
            <a:ext cx="365760" cy="36576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46304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Sealed tube • very low pressure • high voltage</a:t>
            </a:r>
          </a:p>
        </p:txBody>
      </p:sp>
      <p:pic>
        <p:nvPicPr>
          <p:cNvPr id="21" name="Picture 20" descr="jj_thom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4160520"/>
            <a:ext cx="960120" cy="9601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83680" y="5166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Calibri"/>
              </a:rPr>
              <a:t>J. J. Thomson (PD)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1605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1A33"/>
                </a:solidFill>
                <a:latin typeface="Calibri"/>
              </a:rPr>
              <a:t>Straight beam = baseline for the field tests.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4681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C7D"/>
                </a:solidFill>
                <a:latin typeface="Calibri"/>
              </a:rPr>
              <a:t>Custom schematic + Thomson portrait (PD).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Cathode Rays at Work — Straight Lines, Shadows, Motion, Glow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rays travel in straight lines — slide any object into the beam and it casts a sharp shadow on the glass.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Straightness plus shadow proves directed travel from cathode to anode, establishing the baseline undeflected path.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 tiny paddle wheel placed in the beam rotates — the rays carry energy and momentum, so they are physical, not illusion.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Where rays strike, glass or a fluorescent screen glows — each impact point becomes visible as a bright spot.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So far we know the path and the punch, but not the charge — the field tests on the next slide decide that.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02 — ELECTRON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08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thode_ray_tu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08760"/>
            <a:ext cx="448056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6560" y="342900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Calibri"/>
              </a:rPr>
              <a:t>Glowing beam in a real tube (modern photo, illustrative — not Thomson's original)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4023360"/>
            <a:ext cx="310896" cy="310896"/>
          </a:xfrm>
          <a:prstGeom prst="ellipse">
            <a:avLst/>
          </a:prstGeom>
          <a:solidFill>
            <a:srgbClr val="00D4FF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99592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Calibri"/>
              </a:rPr>
              <a:t>straight + shadow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4572000"/>
            <a:ext cx="310896" cy="310896"/>
          </a:xfrm>
          <a:prstGeom prst="ellipse">
            <a:avLst/>
          </a:prstGeom>
          <a:solidFill>
            <a:srgbClr val="00D4FF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54456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Calibri"/>
              </a:rPr>
              <a:t>paddle spins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5120640"/>
            <a:ext cx="310896" cy="310896"/>
          </a:xfrm>
          <a:prstGeom prst="ellipse">
            <a:avLst/>
          </a:prstGeom>
          <a:solidFill>
            <a:srgbClr val="00D4FF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509320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Calibri"/>
              </a:rPr>
              <a:t>screen glows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Negative Charge Proved — Bending in Electric and Magnetic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In an electric field the rays bend toward the positively charged plate — only a negative charge is pulled that way.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Magnetic fields deflect them likewise, confirming the beam responds as moving charge, not as light waves.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undeflected straight path versus the bent path is the whole argument: the difference is caused by charge.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Light would ignore both fields; these rays obey both — so they are streams of charged particles.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Charge is now settled; the next measurement asks how light each particle is — the famous ratio.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02 — ELECTRON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09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783080"/>
            <a:ext cx="2194560" cy="256032"/>
          </a:xfrm>
          <a:prstGeom prst="rect">
            <a:avLst/>
          </a:prstGeom>
          <a:solidFill>
            <a:srgbClr val="E5484D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3611880"/>
            <a:ext cx="2194560" cy="256032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630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5484D"/>
                </a:solidFill>
                <a:latin typeface="Calibri"/>
              </a:rPr>
              <a:t>POSITIVE PLATE (+)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319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NEGATIVE PLATE (−)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66560" y="2834640"/>
            <a:ext cx="1188719" cy="0"/>
          </a:xfrm>
          <a:prstGeom prst="line">
            <a:avLst/>
          </a:prstGeom>
          <a:ln w="19050">
            <a:solidFill>
              <a:srgbClr val="5A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955279" y="2468880"/>
            <a:ext cx="1097281" cy="36576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052560" y="2103120"/>
            <a:ext cx="1554480" cy="36576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Arrow 18"/>
          <p:cNvSpPr/>
          <p:nvPr/>
        </p:nvSpPr>
        <p:spPr>
          <a:xfrm>
            <a:off x="10607040" y="1965960"/>
            <a:ext cx="32004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434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1A33"/>
                </a:solidFill>
                <a:latin typeface="Calibri"/>
              </a:rPr>
              <a:t>Bends toward + plate, so the beam is NEGATIVE. Magnetic deflection agrees.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C7D"/>
                </a:solidFill>
                <a:latin typeface="Calibri"/>
              </a:rPr>
              <a:t>Custom schematic — bend direction is the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How Light Is the Electron? e/m = 1.76 × 10¹¹ C/kg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Thomson balanced electric against magnetic deflection until the two bends cancelled — then computed e/m = 1.76 × 10¹¹ C/kg.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Here e is the particle's charge in coulombs and m its mass in kilograms, so the ratio reads coulombs per kilogram.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value is ~1800 times larger than for a hydrogen ion — for equal charge the mass must be ~1800 times smaller.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same ratio appeared with every gas and every cathode metal — so electrons are a common part of every atom.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Later Millikan's oil-drop experiment fixed the charge e separately; combined with e/m this gives the electron mass. The atom is divisible.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02 — ELECTRON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10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B1A33"/>
                </a:solidFill>
                <a:latin typeface="Calibri"/>
              </a:rPr>
              <a:t>e/m = 1.76 × 10¹¹ C/kg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194560"/>
            <a:ext cx="2148840" cy="822960"/>
          </a:xfrm>
          <a:prstGeom prst="rect">
            <a:avLst/>
          </a:prstGeom>
          <a:solidFill>
            <a:srgbClr val="EFF3F8"/>
          </a:solidFill>
          <a:ln w="2540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221991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5484D"/>
                </a:solidFill>
                <a:latin typeface="Calibri"/>
              </a:rPr>
              <a:t>E-field bends 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1460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B-field bends 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2194560"/>
            <a:ext cx="2148840" cy="822960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33172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balanced → cancel → 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246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e = charge (C)  •  m = mass (kg)  •  ~1800× hydrogen ion → extremely 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886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Same ratio, every gas and cathode metal → electrons live in ALL atoms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526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Millikan oil-drop fixed e separately → mass follows from e/m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Thomson Asks the Next Question — Where Is the Positive Charge? (1904)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Electrons are negative, yet whole atoms are neutral — so an equal positive charge must exist somewhere inside.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In 1904 Thomson proposed his answer: the atom is a sphere of diffuse positive charge filling the whole atom.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sphere's radius is ~10⁻¹⁰ metre — this size becomes the target Rutherford's experiment will test.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Crucially, there is no nucleus in this picture: positive charge is spread smoothly everywhere, not concentrated.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03 — THOMSON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11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691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B1A33"/>
                </a:solidFill>
                <a:latin typeface="Calibri"/>
              </a:rPr>
              <a:t>e⁻ negative  +  atom neutral  =  missing + charge … where?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2697480"/>
            <a:ext cx="1737360" cy="1737360"/>
          </a:xfrm>
          <a:prstGeom prst="ellipse">
            <a:avLst/>
          </a:prstGeom>
          <a:solidFill>
            <a:srgbClr val="FDE8C4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5262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R ≈ 10⁻¹⁰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892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1904 answer: uniform + sphere, NO nucleus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Plum Pudding — Positive Pudding, Electron Plums, Neutral Whole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pudding is the uniform positive charge; the plums are electrons embedded throughout it like fruit in dessert.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Twin analogy from the source: watermelon red pulp is the positive charge and the seeds are the electrons.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Embedding matters: electrons sit inside the positive sphere, held wherever the surrounding charge balances them.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Neutrality is automatic: total positive charge equals total negative charge, so the atom has no net charge.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Point at the diagram: amber fill everywhere versus navy dots — fill and dots together make neutrality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03 — THOMSON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12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0" y="1691640"/>
            <a:ext cx="3931920" cy="2743200"/>
          </a:xfrm>
          <a:prstGeom prst="ellipse">
            <a:avLst/>
          </a:prstGeom>
          <a:solidFill>
            <a:srgbClr val="FDE8C4"/>
          </a:solidFill>
          <a:ln w="381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63840" y="2423160"/>
            <a:ext cx="384048" cy="384048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0" y="2148840"/>
            <a:ext cx="384048" cy="384048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0" y="2514600"/>
            <a:ext cx="384048" cy="384048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3063240"/>
            <a:ext cx="384048" cy="384048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0" y="3246120"/>
            <a:ext cx="384048" cy="384048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0" y="3154680"/>
            <a:ext cx="384048" cy="384048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0" y="3794760"/>
            <a:ext cx="384048" cy="384048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0" y="3886200"/>
            <a:ext cx="384048" cy="384048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66344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Pudding = uniform +  •  Plums = electrons  •  total + = total 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C7D"/>
                </a:solidFill>
                <a:latin typeface="Calibri"/>
              </a:rPr>
              <a:t>Custom schematic — watermelon twin: pulp = +, seeds = electrons.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Assumptions Inside the Pudding — And What It Could Explain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Assumption one: positive charge is spread uniformly through the entire atomic volume, with no dense centre.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Assumption two: electrons sit or vibrate gently about fixed positions inside that uniform charge.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Thomson used these vibrations to try to explain light emission — shaking charges should radiate light.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What the model genuinely explained: electrical neutrality and the fact that electrons can be pulled out of atoms.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What it never earned: exact spectral lines, a nucleus, or stability proof — Member 4 prosecutes each gap.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03 — THOMSON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13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1554480"/>
            <a:ext cx="4480560" cy="914400"/>
          </a:xfrm>
          <a:prstGeom prst="rect">
            <a:avLst/>
          </a:prstGeom>
          <a:solidFill>
            <a:srgbClr val="EFF3F8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64592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A33"/>
                </a:solidFill>
                <a:latin typeface="Calibri"/>
              </a:rPr>
              <a:t>uniform + everywhere</a:t>
            </a:r>
          </a:p>
          <a:p>
            <a:r>
              <a:rPr sz="1100">
                <a:solidFill>
                  <a:srgbClr val="5A6C7D"/>
                </a:solidFill>
                <a:latin typeface="Calibri"/>
              </a:rPr>
              <a:t>no dense centre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697480"/>
            <a:ext cx="4480560" cy="914400"/>
          </a:xfrm>
          <a:prstGeom prst="rect">
            <a:avLst/>
          </a:prstGeom>
          <a:solidFill>
            <a:srgbClr val="EFF3F8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A33"/>
                </a:solidFill>
                <a:latin typeface="Calibri"/>
              </a:rPr>
              <a:t>electrons vibrate</a:t>
            </a:r>
          </a:p>
          <a:p>
            <a:r>
              <a:rPr sz="1100">
                <a:solidFill>
                  <a:srgbClr val="5A6C7D"/>
                </a:solidFill>
                <a:latin typeface="Calibri"/>
              </a:rPr>
              <a:t>tried to explain light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840480"/>
            <a:ext cx="4480560" cy="914400"/>
          </a:xfrm>
          <a:prstGeom prst="rect">
            <a:avLst/>
          </a:prstGeom>
          <a:solidFill>
            <a:srgbClr val="0B1A3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neutral + removable e⁻</a:t>
            </a:r>
          </a:p>
          <a:p>
            <a:r>
              <a:rPr sz="1100">
                <a:solidFill>
                  <a:srgbClr val="BBC6D6"/>
                </a:solidFill>
                <a:latin typeface="Calibri"/>
              </a:rPr>
              <a:t>what it got right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Failure One — Large-Angle Scattering Is Impossible in Pudding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Spread-out positive charge makes only a weak electric field inside the atom, so a passing alpha feels a slight push.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model therefore predicts every alpha particle suffers only a tiny deflection — a small wiggle, never a rebound.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Worse, electrons cannot rescue the prediction: an alpha is ~7300 times heavier than an electron.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Source analogy: a bus hitting ping-pong balls — the bus never bounces back, no matter how many balls it meets.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Experiments showed violent large-angle rebounds instead — the first direct clash between pudding and reality.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04 — THOMSON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14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5484D"/>
                </a:solidFill>
                <a:latin typeface="Calibri"/>
              </a:rPr>
              <a:t>THOMSON PREDICTS: only tiny nudges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0" y="2514600"/>
            <a:ext cx="2651760" cy="1828800"/>
          </a:xfrm>
          <a:prstGeom prst="ellipse">
            <a:avLst/>
          </a:prstGeom>
          <a:solidFill>
            <a:srgbClr val="FDE8C4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6675120" y="3337560"/>
            <a:ext cx="4663439" cy="9144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58000" y="4663440"/>
            <a:ext cx="1463040" cy="457200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68172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BUS (alpha)</a:t>
            </a:r>
          </a:p>
        </p:txBody>
      </p:sp>
      <p:sp>
        <p:nvSpPr>
          <p:cNvPr id="17" name="Oval 16"/>
          <p:cNvSpPr/>
          <p:nvPr/>
        </p:nvSpPr>
        <p:spPr>
          <a:xfrm>
            <a:off x="8778240" y="4754880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0" y="4754880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19" y="4754880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alpha ≈ 7300× electron — ping-pong balls can't stop a bus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Failures Two to Four — No Nucleus, No Lines, No Stability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No nucleus: the model assumes positive charge fills the atom, leaving no dense centre that could hurl an alpha back.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No line spectra: real atoms emit light only at exact wavelengths, but vibrating electrons give no such sharp lines.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Observe-vs-model discipline: exact wavelengths are measured facts; Thomson's smooth vibrations are the failed explanation.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No stability: a set of motionless charges cannot sit in stable balance under electrostatic forces alone.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Three independent failures plus scattering make four — the model is cornered on every side except neutrality.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04 — THOMSON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15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1417320"/>
            <a:ext cx="4480560" cy="868680"/>
          </a:xfrm>
          <a:prstGeom prst="rect">
            <a:avLst/>
          </a:prstGeom>
          <a:solidFill>
            <a:srgbClr val="FDE8E8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490472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5484D"/>
                </a:solidFill>
                <a:latin typeface="Calibri"/>
              </a:rPr>
              <a:t>1  no nucleus</a:t>
            </a:r>
          </a:p>
          <a:p>
            <a:r>
              <a:rPr sz="1100">
                <a:solidFill>
                  <a:srgbClr val="1A2332"/>
                </a:solidFill>
                <a:latin typeface="Calibri"/>
              </a:rPr>
              <a:t>spread +, no dense centre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441448"/>
            <a:ext cx="4480560" cy="868680"/>
          </a:xfrm>
          <a:prstGeom prst="rect">
            <a:avLst/>
          </a:prstGeom>
          <a:solidFill>
            <a:srgbClr val="FDE8E8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514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5484D"/>
                </a:solidFill>
                <a:latin typeface="Calibri"/>
              </a:rPr>
              <a:t>2  no exact lines</a:t>
            </a:r>
          </a:p>
          <a:p>
            <a:r>
              <a:rPr sz="1100">
                <a:solidFill>
                  <a:srgbClr val="1A2332"/>
                </a:solidFill>
                <a:latin typeface="Calibri"/>
              </a:rPr>
              <a:t>vibrations ≠ sharp spectra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465576"/>
            <a:ext cx="4480560" cy="868680"/>
          </a:xfrm>
          <a:prstGeom prst="rect">
            <a:avLst/>
          </a:prstGeom>
          <a:solidFill>
            <a:srgbClr val="FDE8E8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538728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5484D"/>
                </a:solidFill>
                <a:latin typeface="Calibri"/>
              </a:rPr>
              <a:t>3  no stability</a:t>
            </a:r>
          </a:p>
          <a:p>
            <a:r>
              <a:rPr sz="1100">
                <a:solidFill>
                  <a:srgbClr val="1A2332"/>
                </a:solidFill>
                <a:latin typeface="Calibri"/>
              </a:rPr>
              <a:t>static charges can't balance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4489704"/>
            <a:ext cx="4480560" cy="868680"/>
          </a:xfrm>
          <a:prstGeom prst="rect">
            <a:avLst/>
          </a:prstGeom>
          <a:solidFill>
            <a:srgbClr val="FDE8E8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562856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5484D"/>
                </a:solidFill>
                <a:latin typeface="Calibri"/>
              </a:rPr>
              <a:t>4  wrong scattering</a:t>
            </a:r>
          </a:p>
          <a:p>
            <a:r>
              <a:rPr sz="1100">
                <a:solidFill>
                  <a:srgbClr val="1A2332"/>
                </a:solidFill>
                <a:latin typeface="Calibri"/>
              </a:rPr>
              <a:t>tiny bends predicted, rebounds seen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Verdict on Thomson — And the Experiment That Will Test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Kept: electrons exist inside atoms, and neutrality balances equal positive against negative charge.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Lost: large-angle scattering, nuclear structure, exact line spectra, and guaranteed stability.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honest scientific move is a direct test: fire fast heavy particles at atoms and watch the deflections.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If pudding is right, almost every particle sails through with a tiny nudge — Rutherford's team ran exactly this trial.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Transition question for the class: what apparatus could count single particles at every angle? Member 5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04 — THOMSON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16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1600200"/>
            <a:ext cx="4480560" cy="1005840"/>
          </a:xfrm>
          <a:prstGeom prst="rect">
            <a:avLst/>
          </a:prstGeom>
          <a:solidFill>
            <a:srgbClr val="E6F4EA"/>
          </a:solidFill>
          <a:ln w="25400">
            <a:solidFill>
              <a:srgbClr val="14E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9164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KEPT: electrons inside atoms • neutrality balances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880360"/>
            <a:ext cx="4480560" cy="1005840"/>
          </a:xfrm>
          <a:prstGeom prst="rect">
            <a:avLst/>
          </a:prstGeom>
          <a:solidFill>
            <a:srgbClr val="FDE8E8"/>
          </a:solidFill>
          <a:ln w="2540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97180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5484D"/>
                </a:solidFill>
                <a:latin typeface="Calibri"/>
              </a:rPr>
              <a:t>LOST: scattering • nucleus • line spectra • stability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86800" y="4160520"/>
            <a:ext cx="640080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Next: fire fast particles at atoms and count the bends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Testing Thomson — Rutherford, Geiger and Marsden (Manchester, ~1909)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Experimenters: Ernest Rutherford with Hans Geiger and Ernest Marsden, working at Manchester around 1909.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Their aim was explicit: test Thomson's model by firing fast particles at atoms and watching how they deflect.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Strategy: use a heavy, fast, charged probe so any concentrated charge inside the atom reveals itself by repulsion.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Everything that follows — source, beam, foil, screen — serves that single aim: count deflections angle by angle.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Portrait: Rutherford (photo, public domain) — Geiger and Marsden ran the bench; Rutherford read the meaning.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05 — GOLD-FOIL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17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rnest_rutherf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08760"/>
            <a:ext cx="155448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1508760"/>
            <a:ext cx="2697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A33"/>
                </a:solidFill>
                <a:latin typeface="Calibri"/>
              </a:rPr>
              <a:t>Rutherford • Geiger • Marsden — Manchester, ~1909</a:t>
            </a:r>
          </a:p>
          <a:p>
            <a:r>
              <a:rPr sz="1200">
                <a:solidFill>
                  <a:srgbClr val="5A6C7D"/>
                </a:solidFill>
                <a:latin typeface="Calibri"/>
              </a:rPr>
              <a:t>Bench: Geiger and Marsden. Meaning: Rutherford.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840480"/>
            <a:ext cx="4480560" cy="822960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931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AIM: test Thomson — fire fast particles, watch deflections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Every part below serves that aim — source, beam, foil, screen.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C7D"/>
                </a:solidFill>
                <a:latin typeface="Calibri"/>
              </a:rPr>
              <a:t>Portrait: Bain News Service via LoC (PD-US), restoration Bammesk, via Commons.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The Probe — Alpha Particles in a Lead Collimator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source is a radioactive material such as radium or polonium, steadily emitting alpha particles.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Alpha particles are helium nuclei — two protons plus two neutrons — carrying charge +2e.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They leave the source at ~10⁷ metres per second: heavy and fast, ideal hammers for testing atomic structure.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source sits in a lead block with a narrow hole; lead absorbs every stray particle except the thin emerging beam.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Result: a narrow, aimed, single-direction beam — without collimation the angle counts would be meaningless.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05 — GOLD-FOIL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18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1874519"/>
            <a:ext cx="1005840" cy="2011680"/>
          </a:xfrm>
          <a:prstGeom prst="rect">
            <a:avLst/>
          </a:prstGeom>
          <a:solidFill>
            <a:srgbClr val="5A6C7D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977639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Pb block + hole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2880360"/>
            <a:ext cx="1371600" cy="0"/>
          </a:xfrm>
          <a:prstGeom prst="line">
            <a:avLst/>
          </a:prstGeom>
          <a:ln w="381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ght Arrow 14"/>
          <p:cNvSpPr/>
          <p:nvPr/>
        </p:nvSpPr>
        <p:spPr>
          <a:xfrm>
            <a:off x="9144000" y="2724912"/>
            <a:ext cx="365760" cy="310896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4434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A33"/>
                </a:solidFill>
                <a:latin typeface="Calibri"/>
              </a:rPr>
              <a:t>alpha = helium nucleus (2p + 2n)  •  +2e  •  ~10⁷ 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892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radium / polonium source  •  lead absorbs the rest → thin aimed beam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A623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Target and Detector — Gold Foil, Vacuum, Flashes Counted One by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The beam strikes a gold foil only a few hundred atoms thick — nearly two-dimensional, so each alpha meets few atoms.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Gold was chosen for two reasons: it hammers into extremely thin sheets, and its heavy nucleus (charge +79) repels strongly.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Around the foil stands a zinc-sulphide screen: every alpha impact flashes as a tiny scintillation of light.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A microscope counts these flashes angle by angle — single-particle detection, position by position, in the dark.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The whole apparatus sits in vacuum so alphas never scatter off air; Thomson's expectation was almost-all-through with tiny bends.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05 — GOLD-FOIL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19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766560" y="2971800"/>
            <a:ext cx="1645920" cy="0"/>
          </a:xfrm>
          <a:prstGeom prst="line">
            <a:avLst/>
          </a:prstGeom>
          <a:ln w="381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12480" y="1874519"/>
            <a:ext cx="91440" cy="2286000"/>
          </a:xfrm>
          <a:prstGeom prst="rect">
            <a:avLst/>
          </a:prstGeom>
          <a:solidFill>
            <a:srgbClr val="F5A623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425196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A623"/>
                </a:solidFill>
                <a:latin typeface="Calibri"/>
              </a:rPr>
              <a:t>Au foil (Z=79)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0" y="2971800"/>
            <a:ext cx="1828800" cy="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378440" y="2788920"/>
            <a:ext cx="384048" cy="38404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9659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BBC6D6"/>
                </a:solidFill>
                <a:latin typeface="Calibri"/>
              </a:rPr>
              <a:t>ZnS flash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006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few-hundred atoms thick • malleable • vacuum • microscope counts</a:t>
            </a:r>
          </a:p>
        </p:txBody>
      </p:sp>
      <p:pic>
        <p:nvPicPr>
          <p:cNvPr id="19" name="Picture 18" descr="geiger_marsden_apparatu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46304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BBC6D6"/>
                </a:solidFill>
                <a:latin typeface="Calibri"/>
              </a:rPr>
              <a:t>Custom top-view schematic + historic Geiger–Marsden fig. thumbnail (PD, 1913).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A623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Observation 1 — Almost Everything Goes Straight 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What happened: the overwhelming majority of alpha particles crossed the foil with zero measurable deflection.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This is a seen count, not an inference — flash after flash appeared at the straight-ahead position.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Conclusion, and only this: most of the atom offers nothing solid enough to disturb a fast heavy particle.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In the source's words: the atom is mostly empty space — the beam usually meets no charge worth noticing.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Keep observation and conclusion apart: straight flashes were seen; emptiness is what they mean. Two more results follow.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06 —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20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0" y="1965960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2514600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0" y="3063239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3611879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4160520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4173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Calibri"/>
              </a:rPr>
              <a:t>SEEN: flash dead ahead, again and again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" y="3154680"/>
            <a:ext cx="420624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ight Arrow 18"/>
          <p:cNvSpPr/>
          <p:nvPr/>
        </p:nvSpPr>
        <p:spPr>
          <a:xfrm>
            <a:off x="10927080" y="3044952"/>
            <a:ext cx="274320" cy="219456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709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MEANT: mostly empty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BBC6D6"/>
                </a:solidFill>
                <a:latin typeface="Calibri"/>
              </a:rPr>
              <a:t>Custom schematic — left column is SEEN, right column is MEANT.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A623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Observation 2 — A Few Particles Bend by Small Angles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What happened: a small fraction of alphas left the foil travelling a few degrees off the straight path.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Source figure: about 0.14% of particles deflected by more than 1 degree — rare, but far too many to ignore.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Conclusion: positive charge really exists inside the atom, and it repelled the positively charged alphas.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Like charges repel: the bend direction and size fingerprint a positive interior acting at a distance.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These are near misses past buried charge — the next result shows what a direct hit looks like.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06 —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21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0" y="1965960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2514600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0" y="3063239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3611879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4160520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4173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Calibri"/>
              </a:rPr>
              <a:t>SEEN: ~0.14% bend past 1°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" y="3154680"/>
            <a:ext cx="1691640" cy="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58200" y="2514600"/>
            <a:ext cx="2331720" cy="64008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ight Arrow 19"/>
          <p:cNvSpPr/>
          <p:nvPr/>
        </p:nvSpPr>
        <p:spPr>
          <a:xfrm>
            <a:off x="10744200" y="2404872"/>
            <a:ext cx="274320" cy="219456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709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MEANT: positive charge inside repels + alphas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BBC6D6"/>
                </a:solidFill>
                <a:latin typeface="Calibri"/>
              </a:rPr>
              <a:t>Custom schematic — left column is SEEN, right column is MEANT.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A623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Observation 3 — About 1 in 8000 Bounces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What happened: very few alphas — about 1 in 8000 — scattered through more than 90 degrees, some straight back at 180°.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Conclusion: almost all the atom's mass and all its positive charge sit in a tiny, dense nucleus.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Reasoning: only a head-on collision with concentrated charge can reverse a fast, heavy alpha particle.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Rutherford's image: like firing a huge shell at tissue paper and watching it come back — utterly unexpected.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This single result kills spread charge: pudding predicts zero rebounds, yet rebounds were counted flash by flash.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06 — 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22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 w="2540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0" y="1965960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2514600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0" y="3063239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3611879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4160520"/>
            <a:ext cx="201168" cy="201168"/>
          </a:xfrm>
          <a:prstGeom prst="ellipse">
            <a:avLst/>
          </a:prstGeom>
          <a:solidFill>
            <a:srgbClr val="5A6C7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4173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Calibri"/>
              </a:rPr>
              <a:t>SEEN: ~1 in 8000 past 90°, some 180° back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" y="3154680"/>
            <a:ext cx="1691640" cy="0"/>
          </a:xfrm>
          <a:prstGeom prst="line">
            <a:avLst/>
          </a:prstGeom>
          <a:ln w="31750">
            <a:solidFill>
              <a:srgbClr val="E54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949440" y="3154680"/>
            <a:ext cx="1508760" cy="0"/>
          </a:xfrm>
          <a:prstGeom prst="line">
            <a:avLst/>
          </a:prstGeom>
          <a:ln w="31750">
            <a:solidFill>
              <a:srgbClr val="E54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75120" y="4709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MEANT: tiny dense nucleus holds + and mass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BBC6D6"/>
                </a:solidFill>
                <a:latin typeface="Calibri"/>
              </a:rPr>
              <a:t>Custom schematic — left column is SEEN, right column is MEANT.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Impact Parameter — Why the Same Beam Gives Three Fates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Definition: the impact parameter b is the perpendicular distance between the alpha's original path and the nucleus centre.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In plain words, b measures how off-centre the aim is — a wide miss has large b, a near hit has small b.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Large b: the alpha passes far away, feels only weak distant repulsion, and sails on nearly straight — the common fate.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Small b: the alpha dives through the strong near-nucleus field and swings through a large angle — the rare 0.14% tail.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Diagram: trace both paths from the same incoming direction; the nucleus sits at the bend centre of 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06 — IMPACT PARAMETER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23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0" y="2880360"/>
            <a:ext cx="640080" cy="64008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5661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nucleus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75120" y="1965960"/>
            <a:ext cx="201168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686800" y="1783080"/>
            <a:ext cx="2194560" cy="18288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75120" y="3108960"/>
            <a:ext cx="1965960" cy="4572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41080" y="3108960"/>
            <a:ext cx="2057400" cy="960120"/>
          </a:xfrm>
          <a:prstGeom prst="line">
            <a:avLst/>
          </a:prstGeom>
          <a:ln w="317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06840" y="1965960"/>
            <a:ext cx="0" cy="1188720"/>
          </a:xfrm>
          <a:prstGeom prst="line">
            <a:avLst/>
          </a:prstGeom>
          <a:ln w="19050">
            <a:solidFill>
              <a:srgbClr val="0B1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70848" y="24231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1A33"/>
                </a:solidFill>
                <a:latin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64592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large b → tiny bend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7947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B1A33"/>
                </a:solidFill>
                <a:latin typeface="Calibri"/>
              </a:rPr>
              <a:t>small b → large bend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C7D"/>
                </a:solidFill>
                <a:latin typeface="Calibri"/>
              </a:rPr>
              <a:t>Custom schematic — b is measured from the original path to the centre.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Head-On Collision — When b = 0 the Particle Comes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Zero impact parameter means perfectly head-on aim: the alpha charges straight at the nucleus centre.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It climbs the repulsion head-on, stops, turns around, and exits back along its entry line at 180 degrees.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This is the ultra-rare ~1-in-8000 fate — direct hits are rare because nuclei are vanishingly small targets.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One-line rule to memorize: smaller impact parameter means closer approach means larger deflection.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From this data Rutherford built a new model — Member 7 assembles it from exactly these three fates.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06 — IMPACT PARAMETER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24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0" y="2880360"/>
            <a:ext cx="640080" cy="64008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675120" y="3200400"/>
            <a:ext cx="2011680" cy="0"/>
          </a:xfrm>
          <a:prstGeom prst="line">
            <a:avLst/>
          </a:prstGeom>
          <a:ln w="31750">
            <a:solidFill>
              <a:srgbClr val="E54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858000" y="3200400"/>
            <a:ext cx="1828800" cy="0"/>
          </a:xfrm>
          <a:prstGeom prst="line">
            <a:avLst/>
          </a:prstGeom>
          <a:ln w="31750">
            <a:solidFill>
              <a:srgbClr val="E54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5484D"/>
                </a:solidFill>
                <a:latin typeface="Calibri"/>
              </a:rPr>
              <a:t>b = 0: dead centre — in, stopped, turned, 180° 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4160520"/>
            <a:ext cx="4480560" cy="731520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2519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RULE: smaller b → closer → larger deflection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C7D"/>
                </a:solidFill>
                <a:latin typeface="Calibri"/>
              </a:rPr>
              <a:t>Custom schematic — the ultra-rare ~1-in-8000 fate.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A623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Rutherford's Nuclear Model (1911) — A Dense Centre in Vast Emptiness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In 1911 Rutherford proposed: a small, dense, positively charged nucleus sits at the atom's centre.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Most of the atom's mass lives in that nucleus — the light electrons contribute almost nothing to the weight.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Electrons revolve around the nucleus in circular orbits, and the rest of the atom is empty space.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Because electrons circle like planets around the Sun, this is also called the planetary model.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Historical label: the orbit picture below explains scattering beautifully — but it is the old model, not today's quantum atom.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07 — NUCLEAR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25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49640" y="2697480"/>
            <a:ext cx="914400" cy="91440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70332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  <a:latin typeface="Calibri"/>
              </a:rPr>
              <a:t>nucleus (+, heavy)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2057400"/>
            <a:ext cx="3383280" cy="2194560"/>
          </a:xfrm>
          <a:prstGeom prst="ellipse">
            <a:avLst/>
          </a:prstGeom>
          <a:noFill/>
          <a:ln w="317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9440" y="1691640"/>
            <a:ext cx="4114800" cy="2926080"/>
          </a:xfrm>
          <a:prstGeom prst="ellipse">
            <a:avLst/>
          </a:prstGeom>
          <a:noFill/>
          <a:ln w="25400">
            <a:solidFill>
              <a:srgbClr val="14E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79" y="2423160"/>
            <a:ext cx="274320" cy="27432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0" y="3337560"/>
            <a:ext cx="274320" cy="27432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0" y="1828800"/>
            <a:ext cx="274320" cy="27432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800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BC6D6"/>
                </a:solidFill>
                <a:latin typeface="Calibri"/>
              </a:rPr>
              <a:t>HISTORICAL orbit picture — kept for scattering, replaced for stability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What Holds Electrons Up? Coulomb Attraction as Centripetal Force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Without something pulling inward, orbiting electrons would fly off in straight lines — circular motion needs a centre pull.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That pull is electrostatic attraction between the positive nucleus and each negative electron.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Just as gravity holds planets, charge holds electrons — with attraction playing gravity's role in the analogy.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Historical relation: F(Coulomb) = m·v²/r — the inward electric force supplies the required circular-motion force.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Term by term: F is the Coulomb attraction in newtons, m the electron mass, v its orbital speed, r the orbit radius.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07 — NUCLEAR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26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0" y="2788920"/>
            <a:ext cx="822960" cy="82296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657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+ nucleus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2148840"/>
            <a:ext cx="3200400" cy="2103120"/>
          </a:xfrm>
          <a:prstGeom prst="ellipse">
            <a:avLst/>
          </a:prstGeom>
          <a:noFill/>
          <a:ln w="317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0" y="2880360"/>
            <a:ext cx="329184" cy="329184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32461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e⁻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9555480" y="3044952"/>
            <a:ext cx="777240" cy="109728"/>
          </a:xfrm>
          <a:prstGeom prst="line">
            <a:avLst/>
          </a:prstGeom>
          <a:ln w="38100">
            <a:solidFill>
              <a:srgbClr val="E54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2084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B1A33"/>
                </a:solidFill>
                <a:latin typeface="Calibri"/>
              </a:rPr>
              <a:t>F(Coulomb) = m·v²/r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343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F attraction (N) • m electron mass • v speed • r radius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C7D"/>
                </a:solidFill>
                <a:latin typeface="Calibri"/>
              </a:rPr>
              <a:t>Custom schematic — red arrow is the inward pull; gravity plays this role for planets.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How Small Is the Nucleus? The Stadium-and-Seed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Source sizes: the nucleus radius is ~10⁻¹⁵ to 10⁻¹⁴ m, while the whole atom's radius is ~10⁻¹⁰ 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So the atom is roughly 10,000 to 100,000 times wider than its nucleus — emptiness dominates by four to five orders.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Source analogy: if the atom were a football stadium, the nucleus would be a tiny seed at the centre spot.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log bar (right) is honest about drawing: both sizes cannot share one linear scale, so the dot is magnified.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Memorize both powers of ten — the teacher's favourite trap is asking which belongs to nucleus and which to atom.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07 — NUCLEAR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27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LOG SCALE — each step is 10× smaller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240280"/>
            <a:ext cx="4297680" cy="502920"/>
          </a:xfrm>
          <a:prstGeom prst="rect">
            <a:avLst/>
          </a:prstGeom>
          <a:solidFill>
            <a:srgbClr val="00D4FF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7889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atom radius ≈ 10⁻¹⁰ m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0" y="3429000"/>
            <a:ext cx="457200" cy="45720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977639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nucleus ≈ 10⁻¹⁵–10⁻¹⁴ m (dot magnified)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4617720"/>
            <a:ext cx="4297680" cy="594360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6634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stadium = atom  •  seed at centre = nucleus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What the Nuclear Model Wins — And What It Still Owes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It explains straight-through flight: most alphas never approach any nucleus, so most flashes sit dead ahead.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It explains small bends: distant passes feel weak repulsion — the common 0.14% tier falls out naturally.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It explains rebounds: the nucleus packs strong field into a tiny volume, so rare direct hits bounce back.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One concentrated centre replaces pudding's smear — every observation tier now has a matching mechanism.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What it still owes: why orbiting electrons neither radiate nor spiral in, and why spectra are sharp lines — Member 9 collects.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07 — NUCLEAR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28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1417320"/>
            <a:ext cx="4480560" cy="822960"/>
          </a:xfrm>
          <a:prstGeom prst="rect">
            <a:avLst/>
          </a:prstGeom>
          <a:solidFill>
            <a:srgbClr val="E6F4EA"/>
          </a:solidFill>
          <a:ln w="19050">
            <a:solidFill>
              <a:srgbClr val="14E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490472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1A33"/>
                </a:solidFill>
                <a:latin typeface="Calibri"/>
              </a:rPr>
              <a:t>straight flight</a:t>
            </a:r>
          </a:p>
          <a:p>
            <a:r>
              <a:rPr sz="1100">
                <a:solidFill>
                  <a:srgbClr val="1A2332"/>
                </a:solidFill>
                <a:latin typeface="Calibri"/>
              </a:rPr>
              <a:t>most alphas never near a nucleus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377440"/>
            <a:ext cx="4480560" cy="822960"/>
          </a:xfrm>
          <a:prstGeom prst="rect">
            <a:avLst/>
          </a:prstGeom>
          <a:solidFill>
            <a:srgbClr val="E6F4EA"/>
          </a:solidFill>
          <a:ln w="19050">
            <a:solidFill>
              <a:srgbClr val="14E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450592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1A33"/>
                </a:solidFill>
                <a:latin typeface="Calibri"/>
              </a:rPr>
              <a:t>small bends</a:t>
            </a:r>
          </a:p>
          <a:p>
            <a:r>
              <a:rPr sz="1100">
                <a:solidFill>
                  <a:srgbClr val="1A2332"/>
                </a:solidFill>
                <a:latin typeface="Calibri"/>
              </a:rPr>
              <a:t>distant passes feel weak push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337560"/>
            <a:ext cx="4480560" cy="822960"/>
          </a:xfrm>
          <a:prstGeom prst="rect">
            <a:avLst/>
          </a:prstGeom>
          <a:solidFill>
            <a:srgbClr val="E6F4EA"/>
          </a:solidFill>
          <a:ln w="19050">
            <a:solidFill>
              <a:srgbClr val="14E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410712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1A33"/>
                </a:solidFill>
                <a:latin typeface="Calibri"/>
              </a:rPr>
              <a:t>rare rebounds</a:t>
            </a:r>
          </a:p>
          <a:p>
            <a:r>
              <a:rPr sz="1100">
                <a:solidFill>
                  <a:srgbClr val="1A2332"/>
                </a:solidFill>
                <a:latin typeface="Calibri"/>
              </a:rPr>
              <a:t>direct hits meet dense +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434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5484D"/>
                </a:solidFill>
                <a:latin typeface="Calibri"/>
              </a:rPr>
              <a:t>Still owed: silent stable orbits + sharp spectral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C7D"/>
                </a:solidFill>
                <a:latin typeface="Calibri"/>
              </a:rPr>
              <a:t>One concentrated centre explains all three tiers.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Thomson vs Rutherford — Same Electrons, Opposite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One-line contrast: Thomson imagined a uniform FILLED atom; Rutherford proved a mostly EMPTY atom with a tiny dense centre.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TABLE (right): positive charge spread through the atom versus concentrated in the nucleus — the whole difference.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Electrons embedded in the sphere versus revolving around the nucleus; no nucleus versus a dense massive one present.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Alpha scattering: Thomson predicts only tiny bends and fails, while Rutherford predicts all three tiers and succeeds.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Bridge warning: both pictures are still classical — and classical orbits carry the fatal flaw Member 9 now exposes.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08 —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29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29400" y="1463040"/>
          <a:ext cx="47548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783080"/>
                <a:gridCol w="1737360"/>
              </a:tblGrid>
              <a:tr h="676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Thomson</a:t>
                      </a:r>
                    </a:p>
                  </a:txBody>
                  <a:tcPr anchor="ctr"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Rutherford</a:t>
                      </a:r>
                    </a:p>
                  </a:txBody>
                  <a:tcPr anchor="ctr">
                    <a:solidFill>
                      <a:srgbClr val="0B1A33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332"/>
                          </a:solidFill>
                          <a:latin typeface="Calibri"/>
                        </a:rPr>
                        <a:t>Positive charge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Spread through atom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In tiny nucleus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332"/>
                          </a:solidFill>
                          <a:latin typeface="Calibri"/>
                        </a:rPr>
                        <a:t>Electrons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Embedded in sphere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Revolve in orbits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332"/>
                          </a:solidFill>
                          <a:latin typeface="Calibri"/>
                        </a:rPr>
                        <a:t>Nucleus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Dense, massive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2332"/>
                          </a:solidFill>
                          <a:latin typeface="Calibri"/>
                        </a:rPr>
                        <a:t>Alpha scattering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Fails: tiny bends only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Explains all 3 tiers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29400" y="49834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Both classical — the orbit flaw falls next.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Five Models in One View — Structure, Evidence, and What Broke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Dalton's ball: solid and indivisible — explained combining ratios until discharge tubes proved inner charge.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Thomson's pudding: electrons in uniform positive — explained neutrality until large-angle scattering broke it.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Rutherford's nucleus: dense centre with orbiting electrons — explained scattering until collapse and spectra broke it.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Bohr's orbits: quantised rings giving hydrogen lines — explained spectra until heavier atoms overflowed it.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Quantum clouds: probability orbitals as the current model — every step kept what worked and fixed what failed.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08 —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30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137160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417320"/>
                <a:gridCol w="1417320"/>
                <a:gridCol w="960120"/>
              </a:tblGrid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anchor="ctr"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Explained</a:t>
                      </a:r>
                    </a:p>
                  </a:txBody>
                  <a:tcPr anchor="ctr"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Broken by</a:t>
                      </a:r>
                    </a:p>
                  </a:txBody>
                  <a:tcPr anchor="ctr">
                    <a:solidFill>
                      <a:srgbClr val="0B1A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Dalton 1808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Solid ball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Combining ratios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Discharge charge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Thomson 1904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e⁻ in uniform +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Neutrality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Big scattering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Rutherford 1911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Nucleus + orbits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Scattering tiers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Collapse + 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Bohr 1913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Quantised rings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H line spectrum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Heavier atoms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Quantum 1926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Probability clouds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Stability + spectra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2"/>
                          </a:solidFill>
                          <a:latin typeface="Calibri"/>
                        </a:rPr>
                        <a:t>Current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Why Classical Orbits Collapse — The ~10⁻¹¹ s Death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Circular motion constantly changes direction, and changing direction is acceleration — orbiting means accelerating.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Classical electrodynamics (Maxwell) says an accelerated charge radiates electromagnetic waves and loses energy.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Losing energy shrinks the orbit, which speeds the spiral: the electron should crash into the nucleus.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source's timescale is ~10⁻¹¹ seconds — clearly labelled a CLASSICAL PREDICTION, never a measurement.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Reality check: real atoms are stable indefinitely — so the prediction refutes the classical orbit, not the atom.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09 — CLASSICAL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31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0" y="2240280"/>
            <a:ext cx="640080" cy="64008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20" y="1600200"/>
            <a:ext cx="2468880" cy="2286000"/>
          </a:xfrm>
          <a:prstGeom prst="ellipse">
            <a:avLst/>
          </a:prstGeom>
          <a:noFill/>
          <a:ln w="317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63840" y="1874519"/>
            <a:ext cx="1920240" cy="1737360"/>
          </a:xfrm>
          <a:prstGeom prst="ellipse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60" y="2148840"/>
            <a:ext cx="1371600" cy="1188720"/>
          </a:xfrm>
          <a:prstGeom prst="ellipse">
            <a:avLst/>
          </a:prstGeom>
          <a:noFill/>
          <a:ln w="317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0690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5484D"/>
                </a:solidFill>
                <a:latin typeface="Calibri"/>
              </a:rPr>
              <a:t>turning = accelerating → radiates → loses energy → spirals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617720"/>
            <a:ext cx="4480560" cy="640080"/>
          </a:xfrm>
          <a:prstGeom prst="rect">
            <a:avLst/>
          </a:prstGeom>
          <a:solidFill>
            <a:srgbClr val="E5484D"/>
          </a:solidFill>
          <a:ln w="1905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7091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collapse in ~10⁻¹¹ s — a PREDICTION, never measured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Continuous Glow Predicted — Sharp Lines Observed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 spiralling electron's circling frequency would change smoothly, so classical physics predicts a smooth rainbow continuum.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Continuous means every wavelength present — a smeared band with no gaps, the signature of unquantised motion.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Real hydrogen instead shows sharp isolated lines — the visible Balmer series in red, cyan-blue, and violet (photo, CC0).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Those line positions follow the Rydberg pattern [SUPPL: 1/λ = R(1/n₁² − 1/n₂²), R ≈ 1.097×10⁷ m⁻¹] — exact integers in, exact lines out.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 spiral can never print integers: Rutherford's model is silent where hydrogen speaks most precisely.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09 — SPECTRA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32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1737360"/>
            <a:ext cx="4480560" cy="457200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4173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5484D"/>
                </a:solidFill>
                <a:latin typeface="Calibri"/>
              </a:rPr>
              <a:t>PREDICTED: smooth continuum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5603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MEASURED: sharp Balmer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8803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Calibri"/>
              </a:rPr>
              <a:t>(photo: hydrogen discharge, Umop503, CC0)</a:t>
            </a:r>
          </a:p>
        </p:txBody>
      </p:sp>
      <p:pic>
        <p:nvPicPr>
          <p:cNvPr id="16" name="Picture 15" descr="hydrogen_emission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246120"/>
            <a:ext cx="448056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66560" y="402336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2332"/>
                </a:solidFill>
                <a:latin typeface="Calibri"/>
              </a:rPr>
              <a:t>Rydberg pattern [SUPPL]: 1/λ = R(1/n₁² − 1/n₂²), R ≈ 1.097×10⁷ m⁻¹</a:t>
            </a:r>
          </a:p>
          <a:p>
            <a:r>
              <a:rPr sz="1100" b="1">
                <a:solidFill>
                  <a:srgbClr val="E5484D"/>
                </a:solidFill>
                <a:latin typeface="Calibri"/>
              </a:rPr>
              <a:t>Integers in, exact lines out — spirals cannot print integers.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Prediction vs Measurement — How Physics Judges a Theory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Classical PREDICTIONS: atomic collapse in ~10⁻¹¹ s and a continuous spectrum — what the old theory demands.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Experimental MEASUREMENTS: atoms are stable and spectra are sharp lines — what nature actually shows.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Physics keeps measurements and discards the theory: classical laws fail at the atomic scale, however grand elsewhere.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This is not a draw — two independent failures (stability, spectra) convict the classical orbit twice over.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 replacement must quantise something — Member 10 shows Bohr's first working fix.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09 — CLASSICAL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33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508760"/>
            <a:ext cx="2331720" cy="3108960"/>
          </a:xfrm>
          <a:prstGeom prst="rect">
            <a:avLst/>
          </a:prstGeom>
          <a:solidFill>
            <a:srgbClr val="FDE8E8"/>
          </a:solidFill>
          <a:ln w="2540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5484D"/>
                </a:solidFill>
                <a:latin typeface="Calibri"/>
              </a:rPr>
              <a:t>PREDICTS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14884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A2332"/>
                </a:solidFill>
                <a:latin typeface="Calibri"/>
              </a:rPr>
              <a:t>collapse ~10⁻¹¹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6974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A2332"/>
                </a:solidFill>
                <a:latin typeface="Calibri"/>
              </a:rPr>
              <a:t>continuous spectrum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2461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theory demands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508760"/>
            <a:ext cx="2331720" cy="3108960"/>
          </a:xfrm>
          <a:prstGeom prst="rect">
            <a:avLst/>
          </a:prstGeom>
          <a:solidFill>
            <a:srgbClr val="E6F4EA"/>
          </a:solidFill>
          <a:ln w="25400">
            <a:solidFill>
              <a:srgbClr val="14E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64592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B1A33"/>
                </a:solidFill>
                <a:latin typeface="Calibri"/>
              </a:rPr>
              <a:t>MEASURES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4884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A2332"/>
                </a:solidFill>
                <a:latin typeface="Calibri"/>
              </a:rPr>
              <a:t>atoms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6974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A2332"/>
                </a:solidFill>
                <a:latin typeface="Calibri"/>
              </a:rPr>
              <a:t>sharp line spectra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2461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nature shows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006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Physics keeps measurements. Classical law fails at atomic scale.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Bohr's Fix, Idea 1 (1913) — Stationary Orbits That Do Not Radiate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In 1913 Niels Bohr repaired the collapse by decree: electrons may occupy certain stationary orbits.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Inside a stationary orbit the electron radiates no energy at all — stability is imposed as a rule, not derived.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This directly cancels the Maxwell death sentence: no radiation means no energy loss and no spiral.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price is honesty: Bohr cannot yet say WHY these orbits are silent — he postulates it and checks the payoff.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Open question left hanging: which orbits qualify? Idea 2 answers with whole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10 — BOHR &amp; QUANTUM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34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iels_boh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08760"/>
            <a:ext cx="1371600" cy="173736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8778240" y="1783080"/>
            <a:ext cx="2194560" cy="2194560"/>
          </a:xfrm>
          <a:prstGeom prst="ellipse">
            <a:avLst/>
          </a:prstGeom>
          <a:noFill/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55480" y="2560320"/>
            <a:ext cx="640080" cy="64008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78440" y="2514600"/>
            <a:ext cx="274320" cy="27432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1605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stationary ring: silent cruise, no radiation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Calibri"/>
              </a:rPr>
              <a:t>Bohr c.1922 (PD, Nobel year) — stability postulated, then tested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Bohr's Fix, Idea 2 — Only Whole-Number Orbits Are Allowed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Allowed orbits satisfy L = n·h/2π, with n = 1, 2, 3, and so on — no fractions, no in-betweens.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Term by term: L is the electron's angular momentum, n the orbit number, h Planck's constant [SUPPL: h = 6.626×10⁻³⁴ J·s].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Physically this says circling motion comes in whole steps — orbits are quantised like rungs, not a ramp.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Forbidden zones follow: an electron can sit on rung 1 or 2, but never hover halfway between them.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With silent rungs fixed, one rule remains: how does light ever get in or out? Idea 3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10 — BOHR &amp; QUANTUM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35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B1A33"/>
                </a:solidFill>
                <a:latin typeface="Calibri"/>
              </a:rPr>
              <a:t>L = n·h/2π    n = 1, 2, 3, 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331720"/>
            <a:ext cx="2834640" cy="502920"/>
          </a:xfrm>
          <a:prstGeom prst="rect">
            <a:avLst/>
          </a:prstGeom>
          <a:solidFill>
            <a:srgbClr val="EFF3F8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40487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rung n = 1 allowed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200400"/>
            <a:ext cx="2834640" cy="502920"/>
          </a:xfrm>
          <a:prstGeom prst="rect">
            <a:avLst/>
          </a:prstGeom>
          <a:solidFill>
            <a:srgbClr val="0B1A33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27355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rung n = 2 allowed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4069079"/>
            <a:ext cx="2834640" cy="502920"/>
          </a:xfrm>
          <a:prstGeom prst="rect">
            <a:avLst/>
          </a:prstGeom>
          <a:solidFill>
            <a:srgbClr val="EFF3F8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142231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rung n = 3 allowed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800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L angular momentum • h Planck constant [SUPPL] • between rungs: forbidden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Bohr's Fix, Idea 3 — Light Only in Quantum Jumps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An electron emits or absorbs light ONLY when jumping between allowed orbits — never while cruising inside one.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Each jump's photon carries exactly the level difference: ΔE = h·ν, with ν the light's frequency.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Bigger jump means bluer, more energetic light; smaller jump means redder light — colour encodes the gap.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Fixed gaps give fixed photon energies, hence fixed spectral lines — hydrogen's spectrum is explained at last.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The ladder and its arithmetic come next: numbers in, wavelengths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10 — BOHR &amp; QUANTUM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36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772400" y="1874519"/>
            <a:ext cx="0" cy="2011681"/>
          </a:xfrm>
          <a:prstGeom prst="line">
            <a:avLst/>
          </a:prstGeom>
          <a:ln w="38100">
            <a:solidFill>
              <a:srgbClr val="7C6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Arrow 12"/>
          <p:cNvSpPr/>
          <p:nvPr/>
        </p:nvSpPr>
        <p:spPr>
          <a:xfrm>
            <a:off x="7662671" y="1645920"/>
            <a:ext cx="219456" cy="274320"/>
          </a:xfrm>
          <a:prstGeom prst="rightArrow">
            <a:avLst/>
          </a:prstGeom>
          <a:solidFill>
            <a:srgbClr val="7C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3977639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7C6CF0"/>
                </a:solidFill>
                <a:latin typeface="Calibri"/>
              </a:rPr>
              <a:t>ABSORB: photon in, climb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66960" y="1874519"/>
            <a:ext cx="0" cy="2011681"/>
          </a:xfrm>
          <a:prstGeom prst="line">
            <a:avLst/>
          </a:prstGeom>
          <a:ln w="381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9857232" y="3886200"/>
            <a:ext cx="219456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2062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EMIT: fall, photon 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4709160"/>
            <a:ext cx="4480560" cy="548640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7548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ΔE = h·ν — photon carries the exact gap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Hydrogen's Energy Ladder — E(n) = −13.6/n² eV, Worked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•  Source formula, hydrogen only: E(n) = −13.6/n² eV — n = 1 gives −13.6, n = 2 gives −3.4, n = 3 gives −1.51, n = 4 gives −0.85.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•  UP arrow means absorption: a photon lifts the electron to a higher rung; DOWN arrow means emission as it falls.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•  Worked fall 2→1: −3.4 minus −13.6 releases 10.2 eV — an ultraviolet photon of the Lyman series.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•  Worked fall 3→2: −1.51 minus −3.4 releases 1.89 eV — about 656 nm red light, Balmer-α [SUPPL: hc ≈ 1240 eV·nm].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•  Scope warning from the source: Bohr fits hydrogen-like atoms only — heavier atoms need the full quantum machinery.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10 — BOHR &amp; QUANTUM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37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B1A33"/>
                </a:solidFill>
                <a:latin typeface="Calibri"/>
              </a:rPr>
              <a:t>E(n) = −13.6/n² eV  (hydrogen 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057400"/>
            <a:ext cx="2194560" cy="82296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1874519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B1A33"/>
                </a:solidFill>
                <a:latin typeface="Calibri"/>
              </a:rPr>
              <a:t>n=4  −0.85 eV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560320"/>
            <a:ext cx="2194560" cy="82296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2377439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B1A33"/>
                </a:solidFill>
                <a:latin typeface="Calibri"/>
              </a:rPr>
              <a:t>n=3  −1.51 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200400"/>
            <a:ext cx="2194560" cy="82296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301752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B1A33"/>
                </a:solidFill>
                <a:latin typeface="Calibri"/>
              </a:rPr>
              <a:t>n=2  −3.40 eV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023360"/>
            <a:ext cx="2194560" cy="82296"/>
          </a:xfrm>
          <a:prstGeom prst="rect">
            <a:avLst/>
          </a:prstGeom>
          <a:solidFill>
            <a:srgbClr val="0B1A33"/>
          </a:solidFill>
          <a:ln w="1905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384048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B1A33"/>
                </a:solidFill>
                <a:latin typeface="Calibri"/>
              </a:rPr>
              <a:t>n=1  −13.6 eV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955279" y="2194560"/>
            <a:ext cx="0" cy="1783079"/>
          </a:xfrm>
          <a:prstGeom prst="line">
            <a:avLst/>
          </a:prstGeom>
          <a:ln w="38100">
            <a:solidFill>
              <a:srgbClr val="7C6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ight Arrow 21"/>
          <p:cNvSpPr/>
          <p:nvPr/>
        </p:nvSpPr>
        <p:spPr>
          <a:xfrm>
            <a:off x="7845552" y="1965960"/>
            <a:ext cx="219456" cy="274320"/>
          </a:xfrm>
          <a:prstGeom prst="rightArrow">
            <a:avLst/>
          </a:prstGeom>
          <a:solidFill>
            <a:srgbClr val="7C6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9509760" y="2194560"/>
            <a:ext cx="0" cy="1691640"/>
          </a:xfrm>
          <a:prstGeom prst="line">
            <a:avLst/>
          </a:prstGeom>
          <a:ln w="381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ight Arrow 23"/>
          <p:cNvSpPr/>
          <p:nvPr/>
        </p:nvSpPr>
        <p:spPr>
          <a:xfrm>
            <a:off x="9400032" y="3886200"/>
            <a:ext cx="219456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526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2→1: 10.2 eV UV  •  3→2: 1.89 eV ≈ 656 nm red [SUPPL hc]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Beyond Bohr — Probability Clouds Replace Fixed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•  Heavier atoms overflow Bohr's single-electron arithmetic, so physics rebuilt the foundation as wave mechanics.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•  Heisenberg's uncertainty principle [SUPPL, 1927]: an electron's exact path and speed cannot be known together.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•  Schrödinger's wave equation [SUPPL, 1926] replaces paths with wavefunctions, where |ψ|² is the probability per region.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•  An orbital is such a region — the 1s cloud is densest at the centre (image: brighter means likelier; public domain).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•  Exam trap, say it twice: a Bohr ORBIT is a fixed ring, a quantum ORBITAL is a probable cloud — never swap the words.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1A2332"/>
                </a:solidFill>
                <a:latin typeface="Calibri"/>
              </a:rPr>
              <a:t>•  Orbitals carry quantum numbers n, l, m, s — the address system behind the periodic table you already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10 — BOHR &amp; QUANTUM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38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ydrogen_density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210312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20840" y="3657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Calibri"/>
              </a:rPr>
              <a:t>brighter = likelier (PoorLeno, PD)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600200"/>
            <a:ext cx="2103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6916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B1A33"/>
                </a:solidFill>
                <a:latin typeface="Calibri"/>
              </a:rPr>
              <a:t>ORBIT: fixed ring (Bohr)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514600"/>
            <a:ext cx="2103120" cy="777240"/>
          </a:xfrm>
          <a:prstGeom prst="rect">
            <a:avLst/>
          </a:prstGeom>
          <a:solidFill>
            <a:srgbClr val="0B1A33"/>
          </a:solidFill>
          <a:ln w="25400">
            <a:solidFill>
              <a:srgbClr val="7C6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6060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ORBITAL: probable cloud (now)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3832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|ψ|² = probability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703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numbers n, l, m, 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A623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Evolution Timeline — Dalton to Quantum in Five Breaks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1808 Dalton's ball explained ratios — broken by discharge tubes proving inner charge.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1897–1904 Thomson's electron and pudding explained neutrality — broken by 1-in-8000 rebounds.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1909–1911 Rutherford's nucleus explained scattering — broken by predicted collapse and continuum.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1913 Bohr's quantised orbits explained hydrogen's lines — limited to hydrogen-like atoms.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1926 quantum orbitals hold today: each model kept what worked, and every break came with numbers, not opinions.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PRESENTER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MEMBER 10 —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39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675120" y="2971800"/>
            <a:ext cx="4663439" cy="0"/>
          </a:xfrm>
          <a:prstGeom prst="line">
            <a:avLst/>
          </a:prstGeom>
          <a:ln w="381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766560" y="2697480"/>
            <a:ext cx="548640" cy="54864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A623"/>
                </a:solidFill>
                <a:latin typeface="Calibri"/>
              </a:rPr>
              <a:t>1808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0487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DALTON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60904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BBC6D6"/>
                </a:solidFill>
                <a:latin typeface="Calibri"/>
              </a:rPr>
              <a:t>ball</a:t>
            </a:r>
          </a:p>
        </p:txBody>
      </p:sp>
      <p:sp>
        <p:nvSpPr>
          <p:cNvPr id="17" name="Oval 16"/>
          <p:cNvSpPr/>
          <p:nvPr/>
        </p:nvSpPr>
        <p:spPr>
          <a:xfrm>
            <a:off x="7735823" y="2697480"/>
            <a:ext cx="548640" cy="54864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21488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A623"/>
                </a:solidFill>
                <a:latin typeface="Calibri"/>
              </a:rPr>
              <a:t>1897/04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240487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THOMSON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5783" y="2660904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BBC6D6"/>
                </a:solidFill>
                <a:latin typeface="Calibri"/>
              </a:rPr>
              <a:t>e⁻+pudding</a:t>
            </a:r>
          </a:p>
        </p:txBody>
      </p:sp>
      <p:sp>
        <p:nvSpPr>
          <p:cNvPr id="21" name="Oval 20"/>
          <p:cNvSpPr/>
          <p:nvPr/>
        </p:nvSpPr>
        <p:spPr>
          <a:xfrm>
            <a:off x="8705088" y="2697480"/>
            <a:ext cx="548640" cy="54864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21488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A623"/>
                </a:solidFill>
                <a:latin typeface="Calibri"/>
              </a:rPr>
              <a:t>1909/11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240487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RUTHERFORD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660904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BBC6D6"/>
                </a:solidFill>
                <a:latin typeface="Calibri"/>
              </a:rPr>
              <a:t>nucleus</a:t>
            </a:r>
          </a:p>
        </p:txBody>
      </p:sp>
      <p:sp>
        <p:nvSpPr>
          <p:cNvPr id="25" name="Oval 24"/>
          <p:cNvSpPr/>
          <p:nvPr/>
        </p:nvSpPr>
        <p:spPr>
          <a:xfrm>
            <a:off x="9674352" y="2697480"/>
            <a:ext cx="548640" cy="54864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2" y="21488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A623"/>
                </a:solidFill>
                <a:latin typeface="Calibri"/>
              </a:rPr>
              <a:t>1913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240487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BOHR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2" y="2660904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BBC6D6"/>
                </a:solidFill>
                <a:latin typeface="Calibri"/>
              </a:rPr>
              <a:t>orbits</a:t>
            </a:r>
          </a:p>
        </p:txBody>
      </p:sp>
      <p:sp>
        <p:nvSpPr>
          <p:cNvPr id="29" name="Oval 28"/>
          <p:cNvSpPr/>
          <p:nvPr/>
        </p:nvSpPr>
        <p:spPr>
          <a:xfrm>
            <a:off x="10643616" y="2697480"/>
            <a:ext cx="548640" cy="54864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23576" y="21488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5A623"/>
                </a:solidFill>
                <a:latin typeface="Calibri"/>
              </a:rPr>
              <a:t>1926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23576" y="240487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QUANTUM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23576" y="2660904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BBC6D6"/>
                </a:solidFill>
                <a:latin typeface="Calibri"/>
              </a:rPr>
              <a:t>orbitals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434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BBC6D6"/>
                </a:solidFill>
                <a:latin typeface="Calibri"/>
              </a:rPr>
              <a:t>Each break came with numbers — experiment corrects theory.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Quick Revision A — Electron, Thomson, Gold Foil, Nucleus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Electron? Thomson, 1897, cathode rays, e/m = 1.76×10¹¹ C/kg — same ratio for every gas and cathode metal.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Thomson model? Positive sphere ~10⁻¹⁰ m, embedded electrons, neutral overall, NO nucleus — pudding or watermelon.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Gold foil? 1909, +2e alphas at ~10⁷ m/s onto thin gold (Z = 79), flashes on ZnS counted in vacuum.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Three results? Most straight (empty space), ~0.14% small bends (positive charge), ~1 in 8000 back (tiny dense nucleus).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ALL MEMBERS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ALL MEMBERS — REVISION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40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6560" y="1463040"/>
            <a:ext cx="457200" cy="45720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48132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490472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A33"/>
                </a:solidFill>
                <a:latin typeface="Calibri"/>
              </a:rPr>
              <a:t>1897 + e/m?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2487168"/>
            <a:ext cx="457200" cy="45720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505456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5146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A33"/>
                </a:solidFill>
                <a:latin typeface="Calibri"/>
              </a:rPr>
              <a:t>pudding = ?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3511296"/>
            <a:ext cx="457200" cy="45720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52958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538728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A33"/>
                </a:solidFill>
                <a:latin typeface="Calibri"/>
              </a:rPr>
              <a:t>gold foil = ?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4535424"/>
            <a:ext cx="457200" cy="45720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5537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562856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A33"/>
                </a:solidFill>
                <a:latin typeface="Calibri"/>
              </a:rPr>
              <a:t>3 results?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3035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Answers are the slide-left points — one breath each.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A6C7D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1A33"/>
                </a:solidFill>
                <a:latin typeface="Calibri"/>
              </a:rPr>
              <a:t>Quick Revision B — Collapse, Spectra, Bohr, Numbers Drill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Collapse? Orbiting charge should radiate and spiral in ~10⁻¹¹ s (PREDICTION) — yet atoms are stable.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Spectra? Classical predicts continuum; hydrogen shows Balmer lines following the Rydberg pattern.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Bohr? Stationary orbits, L = n·h/2π, jumps with ΔE = hν, hydrogen levels −13.6/n² eV — orbitals replace orbits today.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1A2332"/>
                </a:solidFill>
                <a:latin typeface="Calibri"/>
              </a:rPr>
              <a:t>•  Numbers drill: atom 10⁻¹⁰ m, nucleus 10⁻¹⁵–10⁻¹⁴ m, alpha 7300× electron, proton 1836× electron, stadium holds a seed.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ALL MEMBERS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ALL MEMBERS — REVISION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41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6560" y="1463040"/>
            <a:ext cx="457200" cy="45720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48132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490472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A33"/>
                </a:solidFill>
                <a:latin typeface="Calibri"/>
              </a:rPr>
              <a:t>collapse?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2487168"/>
            <a:ext cx="457200" cy="45720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505456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5146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A33"/>
                </a:solidFill>
                <a:latin typeface="Calibri"/>
              </a:rPr>
              <a:t>spectra?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3511296"/>
            <a:ext cx="457200" cy="45720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52958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538728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A33"/>
                </a:solidFill>
                <a:latin typeface="Calibri"/>
              </a:rPr>
              <a:t>Bohr?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4535424"/>
            <a:ext cx="457200" cy="457200"/>
          </a:xfrm>
          <a:prstGeom prst="ellipse">
            <a:avLst/>
          </a:prstGeom>
          <a:solidFill>
            <a:srgbClr val="0B1A33"/>
          </a:solidFill>
          <a:ln w="25400">
            <a:solidFill>
              <a:srgbClr val="0B1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5537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562856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1A33"/>
                </a:solidFill>
                <a:latin typeface="Calibri"/>
              </a:rPr>
              <a:t>drill numbers?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3035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A6C7D"/>
                </a:solidFill>
                <a:latin typeface="Calibri"/>
              </a:rPr>
              <a:t>Answers are the slide-left points — one breath each.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A623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Teacher Cross-Questions 1–5 — Answered by the Topic Owner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Q1 [MEMBER 01]: What is an atom? The smallest particle of an element in chemical reactions — once called indivisible, now known to hold electrons, protons, neutrons.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Q2 [MEMBER 03]: Why plum pudding? Electrons embedded in a positive sphere, like plums in pudding — or seeds in watermelon pulp.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Q3 [MEMBER 02]: What are cathode rays? Streams of negative particles, electrons, flying cathode to anode in a low-pressure tube, bent by fields.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Q4 [MEMBER 04]: Why did Thomson fail? No nucleus, no large-angle scattering, no exact line spectra, no guaranteed stability.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Q5 [MEMBER 05]: What are alpha particles? Helium nuclei — two protons plus two neutrons — charge +2e, ~10⁷ m/s, from radium or polonium.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MEMBERS — SEE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Q&amp;A — TOPIC OWNERS (SEE TAGS)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42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4630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1">
                <a:solidFill>
                  <a:srgbClr val="F5A623"/>
                </a:solidFill>
                <a:latin typeface="Calibri"/>
              </a:rPr>
              <a:t>Rule: the tagged owner stands, answers in two sentences, sits.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697480"/>
            <a:ext cx="603504" cy="32918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697480"/>
            <a:ext cx="6035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M01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697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answers Q1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264408"/>
            <a:ext cx="603504" cy="32918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264408"/>
            <a:ext cx="6035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M03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26440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answers Q2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3831336"/>
            <a:ext cx="603504" cy="32918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831336"/>
            <a:ext cx="6035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M02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831336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answers Q3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4398264"/>
            <a:ext cx="603504" cy="32918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398264"/>
            <a:ext cx="6035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M04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3982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answers Q4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4965192"/>
            <a:ext cx="603504" cy="32918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965192"/>
            <a:ext cx="6035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M05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96519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answers Q5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303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BC6D6"/>
                </a:solidFill>
                <a:latin typeface="Calibri"/>
              </a:rPr>
              <a:t>Full Q + A pairs are on the slide left.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A623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Teacher Cross-Questions 6–10 — Answered by the Topic Owner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Q6 [MEMBER 06]: Why did most alphas pass straight? The atom is mostly empty space — most never came near any nucleus.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Q7 [MEMBER 06]: Why were a few greatly deflected? They passed very close to the tiny dense positive nucleus; small b means large bend, b = 0 means 180° back.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Q8 [MEMBER 07]: What is the nuclear model? A small dense positive nucleus holds most mass, electrons circle it, rest is empty space.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Q9 [MEMBER 07]: Why planetary? Electrons circle the nucleus like planets circle the Sun, with charge attraction replacing gravity.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Q10 [MEMBER 09]: Classical limits? Orbits should radiate, collapse in ~10⁻¹¹ s, and glow continuously — real atoms are stable with sharp 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MEMBERS — SEE TAGS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Q&amp;A — TOPIC OWNERS (SEE TAGS)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43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4630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1">
                <a:solidFill>
                  <a:srgbClr val="F5A623"/>
                </a:solidFill>
                <a:latin typeface="Calibri"/>
              </a:rPr>
              <a:t>Rule: the tagged owner stands, answers in two sentences, sits.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697480"/>
            <a:ext cx="603504" cy="32918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697480"/>
            <a:ext cx="6035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M06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697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answers Q6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264408"/>
            <a:ext cx="603504" cy="32918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264408"/>
            <a:ext cx="6035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M06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264408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answers Q7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3831336"/>
            <a:ext cx="603504" cy="32918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831336"/>
            <a:ext cx="6035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M07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831336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answers Q8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4398264"/>
            <a:ext cx="603504" cy="32918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398264"/>
            <a:ext cx="6035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M07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398264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answers Q9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4965192"/>
            <a:ext cx="603504" cy="32918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965192"/>
            <a:ext cx="6035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B1A33"/>
                </a:solidFill>
                <a:latin typeface="Calibri"/>
              </a:rPr>
              <a:t>M09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96519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answers Q10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303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BC6D6"/>
                </a:solidFill>
                <a:latin typeface="Calibri"/>
              </a:rPr>
              <a:t>Full Q + A pairs are on the slide left.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A623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Conclusion — From Solid Ball to Probability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Dalton (1808) gave us atoms as solid balls — broken open by electricity into electrons, protons, neutrons.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Thomson (1897/1904) gave us the electron and the first inner model — neutral but nucleus-free, broken by scattering.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Rutherford (1909–1911) gave us the nucleus and the planetary picture — vast emptiness around a dense seed.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Bohr (1913) quantised the orbits and saved hydrogen's lines; quantum theory replaced orbits with orbitals.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50">
                <a:solidFill>
                  <a:srgbClr val="FFFFFF"/>
                </a:solidFill>
                <a:latin typeface="Calibri"/>
              </a:rPr>
              <a:t>•  Respected teacher and friends, thank you for listening to our presentation. We are ready for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MEMBERS 01–10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ALL MEMBERS 01–10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44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08760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A623"/>
                </a:solidFill>
                <a:latin typeface="Calibri"/>
              </a:rPr>
              <a:t>BALL  →  PUDDING  →  NUCLEUS  →  ORBITS  →  CLOUDS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Experiment breaks theory.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Numbers decide.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You are ready for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16052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 b="1">
                <a:solidFill>
                  <a:srgbClr val="F5A623"/>
                </a:solidFill>
                <a:latin typeface="Calibri"/>
              </a:rPr>
              <a:t>“Respected teacher and friends, thank you for listening. We are ready for questions.”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778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A623"/>
                </a:solidFill>
                <a:latin typeface="Calibri"/>
              </a:rPr>
              <a:t>ATOMIC STRUCTURE  •  FROM THOMSON TO QUANTUM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87782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References, Sources and Image Credits — Trace Every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237744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Teaching source (primary): the 8-page Detailed Teach-the-Teacher Script — all dates, numbers, equations, and Q&amp;A above come from it.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Supplementary textbook context, flagged in notes: Rydberg R, Planck h, Heisenberg 1927 / Schrödinger 1926 framing, hc — verify against your course text.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Images (Wikimedia Commons, accessed 2026-10-15): Thomson pre-1915 photo (PD); Rutherford, Bain News Service via LoC (PD-US); Bohr c.1922 (PD); Geiger–Marsden 1913 diagram (PD); H spectrum, Umop503 (CC0); orbital densities, PoorLeno (PD); CRT photo, Hebels (PD, illustrative).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Diagrams labelled custom schematic were drawn natively in PowerPoint for accuracy — not to scale unless stated; orbit rings are always historical-model labelled.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Full per-asset record: image_asset_manifest.csv (filename, slide, source URL, creator, licence, attribution, caption, date). Placeholders [TBD] must be replaced before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01168"/>
            <a:ext cx="2011680" cy="4114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A33"/>
                </a:solidFill>
                <a:latin typeface="Calibri"/>
              </a:rPr>
              <a:t>ALL MEMBERS 01–10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ATOMIC STRUCTURE — THOMSON TO QUANTUM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6473952"/>
            <a:ext cx="4114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ALL MEMBERS 01–10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45 / 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212080" cy="470916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4173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–  PRIMARY: 8-page Teach-the-Teacher Script — all dates, numbers, Q&amp;A.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–  SUPPL: Rydberg R, Planck h, 1926–27 framing, hc — check textbook.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–  IMAGES: Commons PD/CC0 — Thomson / Rutherford (LoC) / Bohr / Geiger–Marsden / Umop503 / PoorLeno / Hebels.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–  DIAGRAMS: custom PPT schematics — not to scale unless stated.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–  MANIFEST: image_asset_manifest.csv (also in dist) • Accessed 2026-10-15.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