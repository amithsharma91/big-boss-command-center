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MEMBERS 01–10 — ATOMIC STRUCTURE — From Thomson's Plum Pudding Model to Modern Quantum Theory. Notes (ALL, Member 01 leads): Welcome the class. State the driving question and the four-act arc: electron, Thomson, Rutherford, quantum. Point at the orbit diagram: crisp rings are historical Bohr orbits, not modern clouds — we will correct that on Slide 19. HANDOFF: Member 01 stays on for the journey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MEMBERS 01–10  •  OPENS: MEMBER 01 — Our Learning Journey — Five Models, One Method: Experiment Corrects Theory. Notes (ALL/Member 01): Walk the five-step timeline left to right. Stress method over memory: each model fixed the previous one's failure. Tell class to listen for numbers (e/m, 1 in 8000, 10⁻¹⁰ m). HANDOFF: Member 01 continues with what 'atom' meant.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01 — What Is an Atom? From 'Atomos' to Dalton's Scientific Theory (1808). Notes (Member 01): Pronounce atomos, date Dalton 1808. Emphasise fixed-ratio compounds as evidence. Point out limit: solid ball cannot give electrons or spectra. HANDOFF: 'Staying with me — now the three particles inside.'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01 — The Three Subatomic Particles — Electron, Proton, Neutron. Notes (Member 01): Read the table aloud slowly. Stress 1836× mass ratio and Chadwick 1932 as later. HANDOFF: 'Now Member 02 shows where the electron was found.'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02 — Discovery of the Electron (1897) — The Cathode-Ray Tube Apparatus. Notes (Member 02): Trace the diagram: source → beam → screen. Explain vacuum and high voltage. HANDOFF: 'Same apparatus — now what the rays do.'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02 — Properties of Cathode Rays — Why They Must Be Negative Particles. Notes (Member 02): Demo each property as evidence, ending with universality argument. Read e/m slowly with units. HANDOFF: 'Member 03 builds Thomson's model from this electron.'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03 — Thomson's Plum Pudding Model (1904) — A Sphere of Positive Charge Studded with Electrons. Notes (Member 03): Point at pudding diagram: uniform fill vs dots. Stress no nucleus, neutrality success. HANDOFF: 'Member 04 shows why this pudding collapsed.'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04 — Why Thomson's Model Failed — Four Problems Before a Single Gold-Foil Shot. Notes (Member 04): Use bus analogy from source. List 4 failures crisply. HANDOFF: 'Member 05 shows the experiment that tested Thomson.'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05 — Rutherford's Gold-Foil Experiment (1909, Manchester) — Setup That Broke the Pudding. Notes (Member 05): Walk source → collimator → foil → screen. Give numbers +2e, 10⁷ m/s, Z=79, vacuum reason. HANDOFF: 'Member 06 gives the three results.'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06 — Three Observations — What Happened vs What It Meant (Keep Them Separate). Notes (Member 06): Read each OBS then CONCLUSION. Stress 0.14% and 1 in 8000 from source. HANDOFF: 'Same speaker — now WHY angle depends on aim.'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06 — Impact Parameter — Why Aim Decides Deflection. Notes (Member 06): Trace large/small/zero paths on diagram. Emphasise b as aiming error. HANDOFF: 'Member 07 builds the new model.'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07 — Rutherford's Nuclear Model (1911) — Tiny Dense Nucleus + Orbiting Electrons. Notes (Member 07): Point at nucleus + rings. Read equation as words: attraction supplies circular-motion force. HANDOFF: 'Staying with me — how small is small?'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07 — How Small Is the Nucleus? The Stadium-and-Seed Scale. Notes (Member 07): Walk the bar, state both radii with units. Stress log vs linear honesty. HANDOFF: 'Member 08 puts Thomson beside Rutherford.'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08 — Thomson vs Rutherford — Same Electrons, Opposite Architecture. Notes (Member 08): Read table row by row, point at two model cartoons. HANDOFF: 'Member 09 shows why classical orbits doom both.'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09 — Why Classical Orbits Collapse — The ~10⁻¹¹ s Death Sentence (a Prediction). Notes (Member 09): Stress accelerated = direction change. Label 10⁻¹¹ s as prediction. HANDOFF: 'Same speaker — light gives the second verdict.'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09 — Continuous vs Line Spectra — The Fingerprint Classical Physics Cannot Print. Notes (Member 09): Contrast rainbow band vs sharp lines on image. Name Balmer + Rydberg. HANDOFF: 'Member 10 introduces quantised orbits.'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10 — Bohr's Fix (1913) — Stationary Orbits, Quantised Angular Momentum, Quantum Jumps. Notes (Member 10): Read both equations as words. Stress 'allowed vs between'. HANDOFF: 'Same speaker — the energy ladder.'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10 — Bohr Energy Levels — The Ladder Electrons Climb and Fall (Hydrogen). Notes (Member 10): Trace one up-arrow (absorb) and one down-arrow (emit). Compute −13.6/4 = −3.4 live. HANDOFF: 'Same speaker — from orbits to orbitals.'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10 — Modern Quantum Model — From Fixed Orbits to Probability Orbitals. Notes (Member 10): Point at density plots: bright = probable. Drill orbit/orbital distinction. HANDOFF: 'Same speaker — the full timeline.'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10 — Evolution Timeline — Dalton → Thomson → Rutherford → Bohr → Quantum. Notes (Member 10): Walk timeline left to right, naming breaker experiment each step. HANDOFF: 'All members — quick revision round.'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— ALL MEMBERS — Quick Revision — Eight Questions to Lock the Story. Notes (ALL): Any member takes one Q rapid-fire. Keep answers to one breath each. HANDOFF: 'Now the teacher's cross-questions, answered by topic owners.'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MEMBERS 02 · 03 · 01 · 04 · 05 — Teacher Cross-Questions (1–5) — Answered by the Topic Owner. Notes: Each owner stands to answer their tagged Q. Keep to 2 sentences. HANDOFF: 'Five more — same rule.'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MEMBERS 06 · 06 · 07 · 07 · 09 — Teacher Cross-Questions (6–10) — Answered by the Topic Owner. Notes: Owners answer; Member 09 closes on stability+spectra. HANDOFF: 'All together for the conclusion.'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MEMBERS 01–10 — Conclusion — From Solid Ball to Probability Cloud. Notes (ALL, Member 10 leads): Recap arc slowly, land the closing quote verbatim from source. Invite questions. HANDOFF: none —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MEMBERS 01–10 — References, Sources &amp; Image Credits — Trace Every Claim and Picture. Notes (ALL): Point to manifest for full URLs/licences. State honestly: low-res historic GIF redrawn; CRT photo illustrative only. HANDOFF: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7.gif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914400"/>
            <a:ext cx="5669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ATOMIC STRUCTURE</a:t>
            </a:r>
          </a:p>
          <a:p>
            <a:r>
              <a:rPr sz="2200" b="1">
                <a:solidFill>
                  <a:srgbClr val="F5A623"/>
                </a:solidFill>
                <a:latin typeface="Calibri"/>
              </a:rPr>
              <a:t>From Thomson's Plum Pudding Model</a:t>
            </a:r>
          </a:p>
          <a:p>
            <a:r>
              <a:rPr sz="2200" b="0">
                <a:solidFill>
                  <a:srgbClr val="FFFFFF"/>
                </a:solidFill>
                <a:latin typeface="Calibri"/>
              </a:rPr>
              <a:t>to Modern Quantum Theory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977639"/>
            <a:ext cx="5669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BBC6D6"/>
                </a:solidFill>
                <a:latin typeface="Calibri"/>
              </a:rPr>
              <a:t>First-year undergraduate lecture  •  Group of 10  •  [Team Name TBD]  •  [College Name TBD]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43400"/>
            <a:ext cx="5669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00">
                <a:solidFill>
                  <a:srgbClr val="FFFFFF"/>
                </a:solidFill>
                <a:latin typeface="Calibri"/>
              </a:rPr>
              <a:t>▸  A group of 10 students teaches this story step by step: how the electron was found, how Thomson built a model, how Rutherford broke it, and why even Rutherford had to be replaced.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00">
                <a:solidFill>
                  <a:srgbClr val="FFFFFF"/>
                </a:solidFill>
                <a:latin typeface="Calibri"/>
              </a:rPr>
              <a:t>▸  Driving question for the whole hour: if atoms contain charged parts, what holds them together — and why do atoms not collapse?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00">
                <a:solidFill>
                  <a:srgbClr val="FFFFFF"/>
                </a:solidFill>
                <a:latin typeface="Calibri"/>
              </a:rPr>
              <a:t>▸  You will see real dates, numbers and equations on every slide, so you can follow and verify each claim from your seat.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00">
                <a:solidFill>
                  <a:srgbClr val="FFFFFF"/>
                </a:solidFill>
                <a:latin typeface="Calibri"/>
              </a:rPr>
              <a:t>▸  Team: Members 01–10 (names TBD — numbered placeholders). College: [College Name TBD]. Presenter order follows the number on each slide.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00">
                <a:solidFill>
                  <a:srgbClr val="FFFFFF"/>
                </a:solidFill>
                <a:latin typeface="Calibri"/>
              </a:rPr>
              <a:t>▸  How to use this deck: read each slide's speaking points aloud in your own words, point at the diagram as you explain it, then hand over to the next member.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46920" y="201168"/>
            <a:ext cx="2011680" cy="411480"/>
          </a:xfrm>
          <a:prstGeom prst="round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B1A33"/>
                </a:solidFill>
                <a:latin typeface="Calibri"/>
              </a:rPr>
              <a:t>MEMBERS 01–10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712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73952"/>
            <a:ext cx="4572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ATOMIC STRUCTURE — THOMSON TO QUANTUM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6473952"/>
            <a:ext cx="4114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ALL MEMBERS 01–10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Calibri"/>
              </a:rPr>
              <a:t>01 / 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143000"/>
            <a:ext cx="5212080" cy="4709160"/>
          </a:xfrm>
          <a:prstGeom prst="roundRect">
            <a:avLst>
              <a:gd name="adj" fmla="val 8000"/>
            </a:avLst>
          </a:prstGeom>
          <a:solidFill>
            <a:srgbClr val="142A4D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80" y="3108960"/>
            <a:ext cx="1005840" cy="1005840"/>
          </a:xfrm>
          <a:prstGeom prst="ellipse">
            <a:avLst/>
          </a:prstGeom>
          <a:solidFill>
            <a:srgbClr val="F5A623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949440" y="2377440"/>
            <a:ext cx="4114800" cy="2468880"/>
          </a:xfrm>
          <a:prstGeom prst="ellipse">
            <a:avLst/>
          </a:prstGeom>
          <a:noFill/>
          <a:ln w="317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223760" y="2011680"/>
            <a:ext cx="3566160" cy="3200400"/>
          </a:xfrm>
          <a:prstGeom prst="ellipse">
            <a:avLst/>
          </a:prstGeom>
          <a:noFill/>
          <a:ln w="25400">
            <a:solidFill>
              <a:srgbClr val="14E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72400" y="1737360"/>
            <a:ext cx="2468880" cy="3749039"/>
          </a:xfrm>
          <a:prstGeom prst="ellipse">
            <a:avLst/>
          </a:prstGeom>
          <a:noFill/>
          <a:ln w="25400">
            <a:solidFill>
              <a:srgbClr val="7C6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0" y="2743200"/>
            <a:ext cx="256032" cy="256032"/>
          </a:xfrm>
          <a:prstGeom prst="ellipse">
            <a:avLst/>
          </a:prstGeom>
          <a:solidFill>
            <a:srgbClr val="00D4FF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66960" y="3840480"/>
            <a:ext cx="256032" cy="256032"/>
          </a:xfrm>
          <a:prstGeom prst="ellipse">
            <a:avLst/>
          </a:prstGeom>
          <a:solidFill>
            <a:srgbClr val="00D4FF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052560" y="2194560"/>
            <a:ext cx="256032" cy="256032"/>
          </a:xfrm>
          <a:prstGeom prst="ellipse">
            <a:avLst/>
          </a:prstGeom>
          <a:solidFill>
            <a:srgbClr val="00D4FF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5166360"/>
            <a:ext cx="47548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BBC6D6"/>
                </a:solidFill>
                <a:latin typeface="Calibri"/>
              </a:rPr>
              <a:t>Schematic — crisp rings = historical orbits (corrected to clouds on Slide 19)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B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8778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B1A33"/>
                </a:solidFill>
                <a:latin typeface="Calibri"/>
              </a:defRPr>
            </a:pPr>
            <a:r>
              <a:t>Our Learning Journey — Five Models, One Method: Experiment Corrects Theory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05840" cy="508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5A6C7D"/>
                </a:solidFill>
                <a:latin typeface="Calibri"/>
              </a:defRPr>
            </a:pPr>
            <a:r>
              <a:t>ATOMIC STRUCTURE  •  FROM THOMSON TO QUANTUM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55778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Science advances when a new experiment breaks the old picture: Dalton's solid ball → Thomson's pudding → Rutherford's nucleus → Bohr's orbits → quantum orbitals.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Member 1 opens with Dalton and the three subatomic particles; Member 2 shows how cathode rays revealed the electron in 1897.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Members 3–4 present Thomson's 1904 model and why it failed; Members 5–7 rebuild the atom from Rutherford's 1909 gold-foil evidence.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Members 8–9 compare the models and show why classical physics predicts collapse in ~10⁻¹¹ s and a wrong continuous spectrum.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Member 10 closes the arc: Bohr's 1913 quantised orbits, then Heisenberg–Schrödinger orbitals — with revision and 10 teacher questions to finish.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46920" y="201168"/>
            <a:ext cx="2011680" cy="411480"/>
          </a:xfrm>
          <a:prstGeom prst="round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B1A33"/>
                </a:solidFill>
                <a:latin typeface="Calibri"/>
              </a:rPr>
              <a:t>MEMBERS 01–10  •  OPENS: MEMBER 01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4572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ATOMIC STRUCTURE — THOMSON TO QUANTUM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6473952"/>
            <a:ext cx="4114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ALL MEMBERS — OPENS: MEMBER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Calibri"/>
              </a:rPr>
              <a:t>02 / 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143000"/>
            <a:ext cx="52120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6766560" y="3154680"/>
            <a:ext cx="4480559" cy="0"/>
          </a:xfrm>
          <a:prstGeom prst="line">
            <a:avLst/>
          </a:prstGeom>
          <a:ln w="38100">
            <a:solidFill>
              <a:srgbClr val="0B1A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6720840" y="2880360"/>
            <a:ext cx="548640" cy="548640"/>
          </a:xfrm>
          <a:prstGeom prst="ellipse">
            <a:avLst/>
          </a:prstGeom>
          <a:solidFill>
            <a:srgbClr val="0B1A33"/>
          </a:solidFill>
          <a:ln w="254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9672" y="1645920"/>
            <a:ext cx="960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0B1A33"/>
                </a:solidFill>
                <a:latin typeface="Calibri"/>
              </a:rPr>
              <a:t>1808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9672" y="1920240"/>
            <a:ext cx="960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0B1A33"/>
                </a:solidFill>
                <a:latin typeface="Calibri"/>
              </a:rPr>
              <a:t>Dalton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9672" y="2167128"/>
            <a:ext cx="960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5A6C7D"/>
                </a:solidFill>
                <a:latin typeface="Calibri"/>
              </a:rPr>
              <a:t>solid ball</a:t>
            </a:r>
          </a:p>
        </p:txBody>
      </p:sp>
      <p:sp>
        <p:nvSpPr>
          <p:cNvPr id="17" name="Oval 16"/>
          <p:cNvSpPr/>
          <p:nvPr/>
        </p:nvSpPr>
        <p:spPr>
          <a:xfrm>
            <a:off x="7653527" y="2880360"/>
            <a:ext cx="548640" cy="548640"/>
          </a:xfrm>
          <a:prstGeom prst="ellipse">
            <a:avLst/>
          </a:prstGeom>
          <a:solidFill>
            <a:srgbClr val="F5A623"/>
          </a:solidFill>
          <a:ln w="254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52359" y="1645920"/>
            <a:ext cx="960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0B1A33"/>
                </a:solidFill>
                <a:latin typeface="Calibri"/>
              </a:rPr>
              <a:t>1897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359" y="1920240"/>
            <a:ext cx="960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0B1A33"/>
                </a:solidFill>
                <a:latin typeface="Calibri"/>
              </a:rPr>
              <a:t>Thomson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59" y="2167128"/>
            <a:ext cx="960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5A6C7D"/>
                </a:solidFill>
                <a:latin typeface="Calibri"/>
              </a:rPr>
              <a:t>electron</a:t>
            </a:r>
          </a:p>
        </p:txBody>
      </p:sp>
      <p:sp>
        <p:nvSpPr>
          <p:cNvPr id="21" name="Oval 20"/>
          <p:cNvSpPr/>
          <p:nvPr/>
        </p:nvSpPr>
        <p:spPr>
          <a:xfrm>
            <a:off x="8586216" y="2880360"/>
            <a:ext cx="548640" cy="548640"/>
          </a:xfrm>
          <a:prstGeom prst="ellipse">
            <a:avLst/>
          </a:prstGeom>
          <a:solidFill>
            <a:srgbClr val="F5A623"/>
          </a:solidFill>
          <a:ln w="254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85048" y="1645920"/>
            <a:ext cx="960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0B1A33"/>
                </a:solidFill>
                <a:latin typeface="Calibri"/>
              </a:rPr>
              <a:t>1911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5048" y="1920240"/>
            <a:ext cx="960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0B1A33"/>
                </a:solidFill>
                <a:latin typeface="Calibri"/>
              </a:rPr>
              <a:t>Rutherford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5048" y="2167128"/>
            <a:ext cx="960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5A6C7D"/>
                </a:solidFill>
                <a:latin typeface="Calibri"/>
              </a:rPr>
              <a:t>nucleus</a:t>
            </a:r>
          </a:p>
        </p:txBody>
      </p:sp>
      <p:sp>
        <p:nvSpPr>
          <p:cNvPr id="25" name="Oval 24"/>
          <p:cNvSpPr/>
          <p:nvPr/>
        </p:nvSpPr>
        <p:spPr>
          <a:xfrm>
            <a:off x="9518904" y="2880360"/>
            <a:ext cx="548640" cy="548640"/>
          </a:xfrm>
          <a:prstGeom prst="ellipse">
            <a:avLst/>
          </a:prstGeom>
          <a:solidFill>
            <a:srgbClr val="0B1A33"/>
          </a:solidFill>
          <a:ln w="254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17736" y="1645920"/>
            <a:ext cx="960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0B1A33"/>
                </a:solidFill>
                <a:latin typeface="Calibri"/>
              </a:rPr>
              <a:t>1913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17736" y="1920240"/>
            <a:ext cx="960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0B1A33"/>
                </a:solidFill>
                <a:latin typeface="Calibri"/>
              </a:rPr>
              <a:t>Bohr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7736" y="2167128"/>
            <a:ext cx="960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5A6C7D"/>
                </a:solidFill>
                <a:latin typeface="Calibri"/>
              </a:rPr>
              <a:t>orbits</a:t>
            </a:r>
          </a:p>
        </p:txBody>
      </p:sp>
      <p:sp>
        <p:nvSpPr>
          <p:cNvPr id="29" name="Oval 28"/>
          <p:cNvSpPr/>
          <p:nvPr/>
        </p:nvSpPr>
        <p:spPr>
          <a:xfrm>
            <a:off x="10451592" y="2880360"/>
            <a:ext cx="548640" cy="548640"/>
          </a:xfrm>
          <a:prstGeom prst="ellipse">
            <a:avLst/>
          </a:prstGeom>
          <a:solidFill>
            <a:srgbClr val="0B1A33"/>
          </a:solidFill>
          <a:ln w="254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50424" y="1645920"/>
            <a:ext cx="960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0B1A33"/>
                </a:solidFill>
                <a:latin typeface="Calibri"/>
              </a:rPr>
              <a:t>1926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50424" y="1920240"/>
            <a:ext cx="960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0B1A33"/>
                </a:solidFill>
                <a:latin typeface="Calibri"/>
              </a:rPr>
              <a:t>Quantum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50424" y="2167128"/>
            <a:ext cx="960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5A6C7D"/>
                </a:solidFill>
                <a:latin typeface="Calibri"/>
              </a:rPr>
              <a:t>orbitals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B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8778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B1A33"/>
                </a:solidFill>
                <a:latin typeface="Calibri"/>
              </a:defRPr>
            </a:pPr>
            <a:r>
              <a:t>What Is an Atom? From 'Atomos' to Dalton's Scientific Theory (1808)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05840" cy="508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5A6C7D"/>
                </a:solidFill>
                <a:latin typeface="Calibri"/>
              </a:defRPr>
            </a:pPr>
            <a:r>
              <a:t>ATOMIC STRUCTURE  •  FROM THOMSON TO QUANTUM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55778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The word atom comes from Greek atomos, meaning indivisible — an old philosophical idea that Dalton turned into testable chemistry in 1808.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Dalton proposed: matter is made of tiny atoms; atoms of one element are identical; atoms combine in fixed ratios to form compounds — pictured as a tiny solid ball that can never be broken.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Dalton's picture explained combining ratios chemists could weigh, so it survived nearly a century despite having no internal structure.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Later, electrolysis and electric discharge through gases showed atoms are connected to electricity — they must contain smaller charged parts, so atoms are divisible.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That forces our central question, which atomic models try to answer: how are the inner charged particles arranged inside the atom?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46920" y="201168"/>
            <a:ext cx="2011680" cy="411480"/>
          </a:xfrm>
          <a:prstGeom prst="round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B1A33"/>
                </a:solidFill>
                <a:latin typeface="Calibri"/>
              </a:rPr>
              <a:t>PRESENTER 01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4572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ATOMIC STRUCTURE — THOMSON TO QUANTUM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6473952"/>
            <a:ext cx="4114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MEMBER 01 — INTRODUCTION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Calibri"/>
              </a:rPr>
              <a:t>03 / 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143000"/>
            <a:ext cx="52120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5A6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858000" y="2057400"/>
            <a:ext cx="731520" cy="731520"/>
          </a:xfrm>
          <a:prstGeom prst="ellipse">
            <a:avLst/>
          </a:prstGeom>
          <a:solidFill>
            <a:srgbClr val="D9C7A0"/>
          </a:solidFill>
          <a:ln w="25400">
            <a:solidFill>
              <a:srgbClr val="0B1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26679" y="2057400"/>
            <a:ext cx="731520" cy="731520"/>
          </a:xfrm>
          <a:prstGeom prst="ellipse">
            <a:avLst/>
          </a:prstGeom>
          <a:solidFill>
            <a:srgbClr val="D9C7A0"/>
          </a:solidFill>
          <a:ln w="25400">
            <a:solidFill>
              <a:srgbClr val="0B1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95360" y="2057400"/>
            <a:ext cx="731520" cy="731520"/>
          </a:xfrm>
          <a:prstGeom prst="ellipse">
            <a:avLst/>
          </a:prstGeom>
          <a:solidFill>
            <a:srgbClr val="D9C7A0"/>
          </a:solidFill>
          <a:ln w="25400">
            <a:solidFill>
              <a:srgbClr val="0B1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4040" y="2057400"/>
            <a:ext cx="731520" cy="731520"/>
          </a:xfrm>
          <a:prstGeom prst="ellipse">
            <a:avLst/>
          </a:prstGeom>
          <a:solidFill>
            <a:srgbClr val="D9C7A0"/>
          </a:solidFill>
          <a:ln w="25400">
            <a:solidFill>
              <a:srgbClr val="0B1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332720" y="2057400"/>
            <a:ext cx="731520" cy="731520"/>
          </a:xfrm>
          <a:prstGeom prst="ellipse">
            <a:avLst/>
          </a:prstGeom>
          <a:solidFill>
            <a:srgbClr val="D9C7A0"/>
          </a:solidFill>
          <a:ln w="25400">
            <a:solidFill>
              <a:srgbClr val="0B1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3063240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A6C7D"/>
                </a:solidFill>
                <a:latin typeface="Calibri"/>
              </a:rPr>
              <a:t>Dalton's solid balls — identical per element, no inner parts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3886200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1A2332"/>
                </a:solidFill>
                <a:latin typeface="Calibri"/>
              </a:rPr>
              <a:t>CO  12:16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3931920"/>
            <a:ext cx="1463040" cy="292608"/>
          </a:xfrm>
          <a:prstGeom prst="rect">
            <a:avLst/>
          </a:prstGeom>
          <a:solidFill>
            <a:srgbClr val="0B1A33"/>
          </a:solidFill>
          <a:ln w="19050">
            <a:solidFill>
              <a:srgbClr val="0B1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4663440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1A2332"/>
                </a:solidFill>
                <a:latin typeface="Calibri"/>
              </a:rPr>
              <a:t>CO₂  12:32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6720" y="4709159"/>
            <a:ext cx="2926080" cy="292608"/>
          </a:xfrm>
          <a:prstGeom prst="rect">
            <a:avLst/>
          </a:prstGeom>
          <a:solidFill>
            <a:srgbClr val="0B1A33"/>
          </a:solidFill>
          <a:ln w="19050">
            <a:solidFill>
              <a:srgbClr val="0B1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0" y="534924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5A6C7D"/>
                </a:solidFill>
                <a:latin typeface="Calibri"/>
              </a:rPr>
              <a:t>Custom schematic — combining ratios you can weigh.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B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8778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B1A33"/>
                </a:solidFill>
                <a:latin typeface="Calibri"/>
              </a:defRPr>
            </a:pPr>
            <a:r>
              <a:t>The Three Subatomic Particles — Electron, Proton, Neutron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05840" cy="508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5A6C7D"/>
                </a:solidFill>
                <a:latin typeface="Calibri"/>
              </a:defRPr>
            </a:pPr>
            <a:r>
              <a:t>ATOMIC STRUCTURE  •  FROM THOMSON TO QUANTUM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55778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The electron carries −1.6 × 10⁻¹⁹ C with a tiny mass of ~9.1 × 10⁻³¹ kg — the lightest particle, first proof that atoms can be broken apart.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The proton carries the same charge but positive (+1.6 × 10⁻¹⁹ C) and is ~1836 times heavier than the electron — it anchors the atom's positive charge.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The neutron, found later by Chadwick in 1932, has no charge and a mass almost equal to the proton — it completes the trio but post-dates Thomson and Rutherford.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Together they explain neutrality: total positive charge equals total negative charge, so the whole atom is electrically neutral overall.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TABLE (right): read charge, mass and discoverer row by row — we spend the rest of the talk arranging exactly these parts.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46920" y="201168"/>
            <a:ext cx="2011680" cy="411480"/>
          </a:xfrm>
          <a:prstGeom prst="round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B1A33"/>
                </a:solidFill>
                <a:latin typeface="Calibri"/>
              </a:rPr>
              <a:t>PRESENTER 01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4572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ATOMIC STRUCTURE — THOMSON TO QUANTUM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6473952"/>
            <a:ext cx="4114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MEMBER 01 — INTRODUCTION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Calibri"/>
              </a:rPr>
              <a:t>04 / 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143000"/>
            <a:ext cx="52120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629400" y="1600200"/>
          <a:ext cx="47548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1280160"/>
                <a:gridCol w="1143000"/>
                <a:gridCol w="1097280"/>
              </a:tblGrid>
              <a:tr h="7543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Particle</a:t>
                      </a:r>
                    </a:p>
                  </a:txBody>
                  <a:tcPr>
                    <a:solidFill>
                      <a:srgbClr val="0B1A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Charge</a:t>
                      </a:r>
                    </a:p>
                  </a:txBody>
                  <a:tcPr>
                    <a:solidFill>
                      <a:srgbClr val="0B1A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Mass</a:t>
                      </a:r>
                    </a:p>
                  </a:txBody>
                  <a:tcPr>
                    <a:solidFill>
                      <a:srgbClr val="0B1A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Found</a:t>
                      </a:r>
                    </a:p>
                  </a:txBody>
                  <a:tcPr>
                    <a:solidFill>
                      <a:srgbClr val="0B1A33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2332"/>
                          </a:solidFill>
                          <a:latin typeface="Calibri"/>
                        </a:rPr>
                        <a:t>e⁻ electron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2332"/>
                          </a:solidFill>
                          <a:latin typeface="Calibri"/>
                        </a:rPr>
                        <a:t>−1.6×10⁻¹⁹ C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2332"/>
                          </a:solidFill>
                          <a:latin typeface="Calibri"/>
                        </a:rPr>
                        <a:t>9.1×10⁻³¹ kg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2332"/>
                          </a:solidFill>
                          <a:latin typeface="Calibri"/>
                        </a:rPr>
                        <a:t>Thomson 1897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2332"/>
                          </a:solidFill>
                          <a:latin typeface="Calibri"/>
                        </a:rPr>
                        <a:t>p⁺ proton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2332"/>
                          </a:solidFill>
                          <a:latin typeface="Calibri"/>
                        </a:rPr>
                        <a:t>+1.6×10⁻¹⁹ 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2332"/>
                          </a:solidFill>
                          <a:latin typeface="Calibri"/>
                        </a:rPr>
                        <a:t>~1836 × e⁻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2332"/>
                          </a:solidFill>
                          <a:latin typeface="Calibri"/>
                        </a:rPr>
                        <a:t>— (see notes)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2332"/>
                          </a:solidFill>
                          <a:latin typeface="Calibri"/>
                        </a:rPr>
                        <a:t>n⁰ neutron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23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2332"/>
                          </a:solidFill>
                          <a:latin typeface="Calibri"/>
                        </a:rPr>
                        <a:t>≈ proton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2332"/>
                          </a:solidFill>
                          <a:latin typeface="Calibri"/>
                        </a:rPr>
                        <a:t>Chadwick 1932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629400" y="484632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5A6C7D"/>
                </a:solidFill>
                <a:latin typeface="Calibri"/>
              </a:rPr>
              <a:t>Neutrality rule: total + equals total −. Proton/neuter details supplement the source's electron focus.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B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8778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B1A33"/>
                </a:solidFill>
                <a:latin typeface="Calibri"/>
              </a:defRPr>
            </a:pPr>
            <a:r>
              <a:t>Discovery of the Electron (1897) — The Cathode-Ray Tube Apparatus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05840" cy="508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5A6C7D"/>
                </a:solidFill>
                <a:latin typeface="Calibri"/>
              </a:defRPr>
            </a:pPr>
            <a:r>
              <a:t>ATOMIC STRUCTURE  •  FROM THOMSON TO QUANTUM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55778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J. J. Thomson discovered the electron in 1897 while studying cathode rays — streams from cathode to anode in a sealed glass tube at very low pressure under high voltage.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Apparatus (diagram right): evacuated glass tube, cathode (−) and anode (+) electrodes, high-voltage supply, fluorescent screen that glows where rays strike.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With no fields applied, rays travel straight from cathode to anode — the baseline path before we test what they are.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Low pressure matters: too much gas would scatter the rays off air molecules; vacuum lets the beam fly cleanly to the screen.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Portrait: J. J. Thomson (photo, public domain) — his 1897 deflection measurements, not the glow alone, proved a new particle.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46920" y="201168"/>
            <a:ext cx="2011680" cy="411480"/>
          </a:xfrm>
          <a:prstGeom prst="round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B1A33"/>
                </a:solidFill>
                <a:latin typeface="Calibri"/>
              </a:rPr>
              <a:t>PRESENTER 02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4572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ATOMIC STRUCTURE — THOMSON TO QUANTUM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6473952"/>
            <a:ext cx="4114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MEMBER 02 — ELECTRON DISCOVERY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Calibri"/>
              </a:rPr>
              <a:t>05 / 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143000"/>
            <a:ext cx="52120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66560" y="2148840"/>
            <a:ext cx="4389120" cy="1737360"/>
          </a:xfrm>
          <a:prstGeom prst="rect">
            <a:avLst/>
          </a:prstGeom>
          <a:solidFill>
            <a:srgbClr val="E8F2FA"/>
          </a:solidFill>
          <a:ln w="25400">
            <a:solidFill>
              <a:srgbClr val="0B1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903720" y="2377440"/>
            <a:ext cx="201168" cy="1280160"/>
          </a:xfrm>
          <a:prstGeom prst="rect">
            <a:avLst/>
          </a:prstGeom>
          <a:solidFill>
            <a:srgbClr val="0B1A33"/>
          </a:solidFill>
          <a:ln w="19050">
            <a:solidFill>
              <a:srgbClr val="0B1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0" y="2377440"/>
            <a:ext cx="201168" cy="1280160"/>
          </a:xfrm>
          <a:prstGeom prst="rect">
            <a:avLst/>
          </a:prstGeom>
          <a:solidFill>
            <a:srgbClr val="0B1A33"/>
          </a:solidFill>
          <a:ln w="19050">
            <a:solidFill>
              <a:srgbClr val="0B1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20840" y="3977639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B1A33"/>
                </a:solidFill>
                <a:latin typeface="Calibri"/>
              </a:rPr>
              <a:t>CATHODE 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5559" y="3977639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B1A33"/>
                </a:solidFill>
                <a:latin typeface="Calibri"/>
              </a:rPr>
              <a:t>ANODE +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23760" y="3017520"/>
            <a:ext cx="3291840" cy="0"/>
          </a:xfrm>
          <a:prstGeom prst="line">
            <a:avLst/>
          </a:prstGeom>
          <a:ln w="3810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ight Arrow 17"/>
          <p:cNvSpPr/>
          <p:nvPr/>
        </p:nvSpPr>
        <p:spPr>
          <a:xfrm>
            <a:off x="10378440" y="2862072"/>
            <a:ext cx="320040" cy="310896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652759" y="2834640"/>
            <a:ext cx="365760" cy="365760"/>
          </a:xfrm>
          <a:prstGeom prst="ellipse">
            <a:avLst/>
          </a:prstGeom>
          <a:solidFill>
            <a:srgbClr val="F5A623"/>
          </a:solidFill>
          <a:ln w="254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1463040"/>
            <a:ext cx="4480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B1A33"/>
                </a:solidFill>
                <a:latin typeface="Calibri"/>
              </a:rPr>
              <a:t>Sealed tube • very low pressure • high voltage</a:t>
            </a:r>
          </a:p>
        </p:txBody>
      </p:sp>
      <p:pic>
        <p:nvPicPr>
          <p:cNvPr id="21" name="Picture 20" descr="jj_thoms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4389120"/>
            <a:ext cx="1234440" cy="12344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183879" y="438912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5A6C7D"/>
                </a:solidFill>
                <a:latin typeface="Calibri"/>
              </a:rPr>
              <a:t>J. J. Thomson (photo, PD) — straight beam is the baseline; deflection (next slide) proves charge.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544068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5A6C7D"/>
                </a:solidFill>
                <a:latin typeface="Calibri"/>
              </a:rPr>
              <a:t>Custom schematic (not to scale) + archival portrait. Source: Commons, PD.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B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8778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B1A33"/>
                </a:solidFill>
                <a:latin typeface="Calibri"/>
              </a:defRPr>
            </a:pPr>
            <a:r>
              <a:t>Properties of Cathode Rays — Why They Must Be Negative Particles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05840" cy="508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5A6C7D"/>
                </a:solidFill>
                <a:latin typeface="Calibri"/>
              </a:defRPr>
            </a:pPr>
            <a:r>
              <a:t>ATOMIC STRUCTURE  •  FROM THOMSON TO QUANTUM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55778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Cathode rays travel in straight lines: they cast a sharp shadow of any object placed in their path — light-like straightness, but they are not light.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They carry energy and momentum: they spin a tiny paddle wheel placed in the beam and make glass or a fluorescent screen glow where they hit.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Crucial test — in an electric field they bend toward the positive plate, proving they carry negative charge; magnetic fields deflect them likewise.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Thomson balanced electric against magnetic deflection until they cancelled, then computed e/m = 1.76 × 10¹¹ C/kg — ~1800× larger than a hydrogen ion, so the particle is extremely light.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The same e/m appeared whatever gas or cathode metal he used — so electrons are a common part of every atom; later Millikan's oil-drop fixed the charge e separately. Conclusion: the atom is divisible.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46920" y="201168"/>
            <a:ext cx="2011680" cy="411480"/>
          </a:xfrm>
          <a:prstGeom prst="round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B1A33"/>
                </a:solidFill>
                <a:latin typeface="Calibri"/>
              </a:rPr>
              <a:t>PRESENTER 02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4572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ATOMIC STRUCTURE — THOMSON TO QUANTUM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6473952"/>
            <a:ext cx="4114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MEMBER 02 — ELECTRON DISCOVERY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Calibri"/>
              </a:rPr>
              <a:t>06 / 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143000"/>
            <a:ext cx="52120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63840" y="1783080"/>
            <a:ext cx="2194560" cy="256032"/>
          </a:xfrm>
          <a:prstGeom prst="rect">
            <a:avLst/>
          </a:prstGeom>
          <a:solidFill>
            <a:srgbClr val="E5484D"/>
          </a:solidFill>
          <a:ln w="19050">
            <a:solidFill>
              <a:srgbClr val="E54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863840" y="3611880"/>
            <a:ext cx="2194560" cy="256032"/>
          </a:xfrm>
          <a:prstGeom prst="rect">
            <a:avLst/>
          </a:prstGeom>
          <a:solidFill>
            <a:srgbClr val="0B1A33"/>
          </a:solidFill>
          <a:ln w="19050">
            <a:solidFill>
              <a:srgbClr val="0B1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63040"/>
            <a:ext cx="2377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E5484D"/>
                </a:solidFill>
                <a:latin typeface="Calibri"/>
              </a:rPr>
              <a:t>POSITIVE PLATE (+)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3931920"/>
            <a:ext cx="2377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0B1A33"/>
                </a:solidFill>
                <a:latin typeface="Calibri"/>
              </a:rPr>
              <a:t>NEGATIVE PLATE (−)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766560" y="2834640"/>
            <a:ext cx="1188719" cy="0"/>
          </a:xfrm>
          <a:prstGeom prst="line">
            <a:avLst/>
          </a:prstGeom>
          <a:ln w="19050">
            <a:solidFill>
              <a:srgbClr val="5A6C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7955279" y="2468880"/>
            <a:ext cx="1097281" cy="365760"/>
          </a:xfrm>
          <a:prstGeom prst="line">
            <a:avLst/>
          </a:prstGeom>
          <a:ln w="3810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9052560" y="2103120"/>
            <a:ext cx="1554480" cy="365760"/>
          </a:xfrm>
          <a:prstGeom prst="line">
            <a:avLst/>
          </a:prstGeom>
          <a:ln w="3810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ight Arrow 18"/>
          <p:cNvSpPr/>
          <p:nvPr/>
        </p:nvSpPr>
        <p:spPr>
          <a:xfrm>
            <a:off x="10607040" y="1965960"/>
            <a:ext cx="32004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20840" y="443484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B1A33"/>
                </a:solidFill>
                <a:latin typeface="Calibri"/>
              </a:rPr>
              <a:t>Bends toward + plate ⇒ negative charge.  e/m = 1.76 × 10¹¹ C/kg (≈1800× H⁺ ion) — same for all gases/metals.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544068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5A6C7D"/>
                </a:solidFill>
                <a:latin typeface="Calibri"/>
              </a:rPr>
              <a:t>Custom schematic — field direction and bend are the evidence.</a:t>
            </a:r>
          </a:p>
        </p:txBody>
      </p:sp>
      <p:pic>
        <p:nvPicPr>
          <p:cNvPr id="22" name="Picture 21" descr="cathode_ray_tub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20" y="4892040"/>
            <a:ext cx="141732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B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8778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B1A33"/>
                </a:solidFill>
                <a:latin typeface="Calibri"/>
              </a:defRPr>
            </a:pPr>
            <a:r>
              <a:t>Thomson's Plum Pudding Model (1904) — A Sphere of Positive Charge Studded with Electrons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05840" cy="508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5A6C7D"/>
                </a:solidFill>
                <a:latin typeface="Calibri"/>
              </a:defRPr>
            </a:pPr>
            <a:r>
              <a:t>ATOMIC STRUCTURE  •  FROM THOMSON TO QUANTUM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55778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Question Thomson faced: electrons are negative but atoms are neutral — where is the positive charge? His 1904 answer: spread uniformly through a sphere ~10⁻¹⁰ m in radius.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Picture (right): the 'pudding' is diffuse positive charge; embedded 'plums' are electrons — also called the watermelon model: red pulp = positive, seeds = electrons.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Key rule: total positive charge equals total negative charge, so the atom is electrically neutral overall — a success of the model.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There is NO nucleus in this model — positive charge fills the whole atom, and electrons sit or vibrate about fixed positions inside it.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Thomson even used vibrating electrons to try to explain light emission — a reasonable start that later failed on exact wavelengths.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46920" y="201168"/>
            <a:ext cx="2011680" cy="411480"/>
          </a:xfrm>
          <a:prstGeom prst="round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B1A33"/>
                </a:solidFill>
                <a:latin typeface="Calibri"/>
              </a:rPr>
              <a:t>PRESENTER 03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4572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ATOMIC STRUCTURE — THOMSON TO QUANTUM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6473952"/>
            <a:ext cx="4114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MEMBER 03 — THOMSON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Calibri"/>
              </a:rPr>
              <a:t>07 / 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143000"/>
            <a:ext cx="52120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040880" y="1691640"/>
            <a:ext cx="3931920" cy="2743200"/>
          </a:xfrm>
          <a:prstGeom prst="ellipse">
            <a:avLst/>
          </a:prstGeom>
          <a:solidFill>
            <a:srgbClr val="FDE8C4"/>
          </a:solidFill>
          <a:ln w="381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863840" y="2423160"/>
            <a:ext cx="384048" cy="384048"/>
          </a:xfrm>
          <a:prstGeom prst="ellipse">
            <a:avLst/>
          </a:prstGeom>
          <a:solidFill>
            <a:srgbClr val="0B1A33"/>
          </a:solidFill>
          <a:ln w="25400">
            <a:solidFill>
              <a:srgbClr val="0B1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778240" y="2148840"/>
            <a:ext cx="384048" cy="384048"/>
          </a:xfrm>
          <a:prstGeom prst="ellipse">
            <a:avLst/>
          </a:prstGeom>
          <a:solidFill>
            <a:srgbClr val="0B1A33"/>
          </a:solidFill>
          <a:ln w="25400">
            <a:solidFill>
              <a:srgbClr val="0B1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92640" y="2514600"/>
            <a:ext cx="384048" cy="384048"/>
          </a:xfrm>
          <a:prstGeom prst="ellipse">
            <a:avLst/>
          </a:prstGeom>
          <a:solidFill>
            <a:srgbClr val="0B1A33"/>
          </a:solidFill>
          <a:ln w="25400">
            <a:solidFill>
              <a:srgbClr val="0B1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21040" y="3063240"/>
            <a:ext cx="384048" cy="384048"/>
          </a:xfrm>
          <a:prstGeom prst="ellipse">
            <a:avLst/>
          </a:prstGeom>
          <a:solidFill>
            <a:srgbClr val="0B1A33"/>
          </a:solidFill>
          <a:ln w="25400">
            <a:solidFill>
              <a:srgbClr val="0B1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235440" y="3246120"/>
            <a:ext cx="384048" cy="384048"/>
          </a:xfrm>
          <a:prstGeom prst="ellipse">
            <a:avLst/>
          </a:prstGeom>
          <a:solidFill>
            <a:srgbClr val="0B1A33"/>
          </a:solidFill>
          <a:ln w="25400">
            <a:solidFill>
              <a:srgbClr val="0B1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8400" y="3154680"/>
            <a:ext cx="384048" cy="384048"/>
          </a:xfrm>
          <a:prstGeom prst="ellipse">
            <a:avLst/>
          </a:prstGeom>
          <a:solidFill>
            <a:srgbClr val="0B1A33"/>
          </a:solidFill>
          <a:ln w="25400">
            <a:solidFill>
              <a:srgbClr val="0B1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778240" y="3794760"/>
            <a:ext cx="384048" cy="384048"/>
          </a:xfrm>
          <a:prstGeom prst="ellipse">
            <a:avLst/>
          </a:prstGeom>
          <a:solidFill>
            <a:srgbClr val="0B1A33"/>
          </a:solidFill>
          <a:ln w="25400">
            <a:solidFill>
              <a:srgbClr val="0B1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601200" y="3886200"/>
            <a:ext cx="384048" cy="384048"/>
          </a:xfrm>
          <a:prstGeom prst="ellipse">
            <a:avLst/>
          </a:prstGeom>
          <a:solidFill>
            <a:srgbClr val="0B1A33"/>
          </a:solidFill>
          <a:ln w="25400">
            <a:solidFill>
              <a:srgbClr val="0B1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0" y="4663440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B1A33"/>
                </a:solidFill>
                <a:latin typeface="Calibri"/>
              </a:rPr>
              <a:t>Pudding = uniform + charge  •  Plums = electrons  •  R ≈ 10⁻¹⁰ m  •  NO nucleus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544068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5A6C7D"/>
                </a:solidFill>
                <a:latin typeface="Calibri"/>
              </a:rPr>
              <a:t>Custom schematic — watermelon twin: pulp = +, seeds = electrons.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B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8778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B1A33"/>
                </a:solidFill>
                <a:latin typeface="Calibri"/>
              </a:defRPr>
            </a:pPr>
            <a:r>
              <a:t>Why Thomson's Model Failed — Four Problems Before a Single Gold-Foil Shot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05840" cy="508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5A6C7D"/>
                </a:solidFill>
                <a:latin typeface="Calibri"/>
              </a:defRPr>
            </a:pPr>
            <a:r>
              <a:t>ATOMIC STRUCTURE  •  FROM THOMSON TO QUANTUM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55778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Large-angle scattering impossible: spread-out positive charge gives only a weak internal field, predicting tiny deflections — yet experiments later showed violent rebounds.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Electrons cannot rescue it: an alpha particle is ~7300× heavier than an electron — like a bus hitting ping-pong balls, the bus will not bounce back.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No nucleus, no concentration: the model assumes positive charge fills the atom, leaving no dense centre that could throw back a fast heavy particle.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Wrong light and fragile stability: vibrating electrons could not give sharp line spectra at exact wavelengths, and static charges cannot balance stably by electrostatics alone.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Verdict: the model explained neutrality and removable electrons, but failed scattering, nucleus, line spectra and stability — so Rutherford tested it directly.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46920" y="201168"/>
            <a:ext cx="2011680" cy="411480"/>
          </a:xfrm>
          <a:prstGeom prst="round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B1A33"/>
                </a:solidFill>
                <a:latin typeface="Calibri"/>
              </a:rPr>
              <a:t>PRESENTER 04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4572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ATOMIC STRUCTURE — THOMSON TO QUANTUM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6473952"/>
            <a:ext cx="4114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MEMBER 04 — THOMSON LIMITS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Calibri"/>
              </a:rPr>
              <a:t>08 / 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143000"/>
            <a:ext cx="52120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E54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15087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5484D"/>
                </a:solidFill>
                <a:latin typeface="Calibri"/>
              </a:rPr>
              <a:t>THOMSON PREDICTS: only tiny nudges</a:t>
            </a:r>
          </a:p>
        </p:txBody>
      </p:sp>
      <p:sp>
        <p:nvSpPr>
          <p:cNvPr id="13" name="Oval 12"/>
          <p:cNvSpPr/>
          <p:nvPr/>
        </p:nvSpPr>
        <p:spPr>
          <a:xfrm>
            <a:off x="7680960" y="2606040"/>
            <a:ext cx="2651760" cy="2011680"/>
          </a:xfrm>
          <a:prstGeom prst="ellipse">
            <a:avLst/>
          </a:prstGeom>
          <a:solidFill>
            <a:srgbClr val="FDE8C4"/>
          </a:solidFill>
          <a:ln w="254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V="1">
            <a:off x="6675120" y="3520440"/>
            <a:ext cx="4663439" cy="91440"/>
          </a:xfrm>
          <a:prstGeom prst="line">
            <a:avLst/>
          </a:prstGeom>
          <a:ln w="3175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6858000" y="4800600"/>
            <a:ext cx="1463040" cy="457200"/>
          </a:xfrm>
          <a:prstGeom prst="rect">
            <a:avLst/>
          </a:prstGeom>
          <a:solidFill>
            <a:srgbClr val="0B1A33"/>
          </a:solidFill>
          <a:ln w="19050">
            <a:solidFill>
              <a:srgbClr val="0B1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0" y="4800600"/>
            <a:ext cx="1463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BUS (alpha)</a:t>
            </a:r>
          </a:p>
        </p:txBody>
      </p:sp>
      <p:sp>
        <p:nvSpPr>
          <p:cNvPr id="17" name="Oval 16"/>
          <p:cNvSpPr/>
          <p:nvPr/>
        </p:nvSpPr>
        <p:spPr>
          <a:xfrm>
            <a:off x="8778240" y="4892040"/>
            <a:ext cx="292608" cy="29260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1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326880" y="4892040"/>
            <a:ext cx="292608" cy="29260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1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875519" y="4892040"/>
            <a:ext cx="292608" cy="29260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1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20840" y="53035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5A6C7D"/>
                </a:solidFill>
                <a:latin typeface="Calibri"/>
              </a:rPr>
              <a:t>alpha ≈ 7300× electron — ping-pong balls can't stop a bus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8778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Rutherford's Gold-Foil Experiment (1909, Manchester) — Setup That Broke the Pudding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05840" cy="508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A623"/>
                </a:solidFill>
                <a:latin typeface="Calibri"/>
              </a:defRPr>
            </a:pPr>
            <a:r>
              <a:t>ATOMIC STRUCTURE  •  FROM THOMSON TO QUANTUM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55778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FFFFFF"/>
                </a:solidFill>
                <a:latin typeface="Calibri"/>
              </a:rPr>
              <a:t>▸  Aim (Rutherford, Geiger &amp; Marsden, ~1909, Manchester): fire fast heavy particles at atoms and watch deflections — a direct test of Thomson's spread-charge prediction.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FFFFFF"/>
                </a:solidFill>
                <a:latin typeface="Calibri"/>
              </a:rPr>
              <a:t>▸  Alpha source: radioactive radium/polonium emitting helium nuclei — charge +2e, speed ~10⁷ m/s — housed in a lead block with a narrow hole that makes a thin beam (lead absorbs the rest).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FFFFFF"/>
                </a:solidFill>
                <a:latin typeface="Calibri"/>
              </a:rPr>
              <a:t>▸  Target: very thin gold foil, only a few hundred atoms thick — gold chosen because it hammers extremely thin and its heavy nucleus (Z = +79) gives strong repulsion.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FFFFFF"/>
                </a:solidFill>
                <a:latin typeface="Calibri"/>
              </a:rPr>
              <a:t>▸  Detector: zinc-sulphide screen around the foil flashes (scintillation) wherever an alpha hits; a microscope counts flashes angle by angle — whole apparatus in vacuum.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FFFFFF"/>
                </a:solidFill>
                <a:latin typeface="Calibri"/>
              </a:rPr>
              <a:t>▸  Thomson predicted: almost all alphas through with only small deflections. What happened surprised everyone — next slide. [Historic Geiger–Marsden diagram inset.]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46920" y="201168"/>
            <a:ext cx="2011680" cy="411480"/>
          </a:xfrm>
          <a:prstGeom prst="round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B1A33"/>
                </a:solidFill>
                <a:latin typeface="Calibri"/>
              </a:rPr>
              <a:t>PRESENTER 05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712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4572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ATOMIC STRUCTURE — THOMSON TO QUANTUM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6473952"/>
            <a:ext cx="4114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MEMBER 05 — RUTHERFORD SETUP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Calibri"/>
              </a:rPr>
              <a:t>09 / 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143000"/>
            <a:ext cx="5212080" cy="4709160"/>
          </a:xfrm>
          <a:prstGeom prst="roundRect">
            <a:avLst>
              <a:gd name="adj" fmla="val 8000"/>
            </a:avLst>
          </a:prstGeom>
          <a:solidFill>
            <a:srgbClr val="142A4D"/>
          </a:solidFill>
          <a:ln w="254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66560" y="2240280"/>
            <a:ext cx="822960" cy="1828800"/>
          </a:xfrm>
          <a:prstGeom prst="rect">
            <a:avLst/>
          </a:prstGeom>
          <a:solidFill>
            <a:srgbClr val="5A6C7D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7589520" y="3154680"/>
            <a:ext cx="1188720" cy="0"/>
          </a:xfrm>
          <a:prstGeom prst="line">
            <a:avLst/>
          </a:prstGeom>
          <a:ln w="38100">
            <a:solidFill>
              <a:srgbClr val="F5A6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778240" y="1965960"/>
            <a:ext cx="73152" cy="2468880"/>
          </a:xfrm>
          <a:prstGeom prst="rect">
            <a:avLst/>
          </a:prstGeom>
          <a:solidFill>
            <a:srgbClr val="F5A623"/>
          </a:solidFill>
          <a:ln w="1905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452628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5A623"/>
                </a:solidFill>
                <a:latin typeface="Calibri"/>
              </a:rPr>
              <a:t>Au foil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869680" y="3154680"/>
            <a:ext cx="1737360" cy="0"/>
          </a:xfrm>
          <a:prstGeom prst="line">
            <a:avLst/>
          </a:prstGeom>
          <a:ln w="3175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8823960" y="2240280"/>
            <a:ext cx="1417320" cy="868680"/>
          </a:xfrm>
          <a:prstGeom prst="line">
            <a:avLst/>
          </a:prstGeom>
          <a:ln w="2540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8138160" y="3200400"/>
            <a:ext cx="685800" cy="777239"/>
          </a:xfrm>
          <a:prstGeom prst="line">
            <a:avLst/>
          </a:prstGeom>
          <a:ln w="31750">
            <a:solidFill>
              <a:srgbClr val="E548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37960" y="4160520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BBC6D6"/>
                </a:solidFill>
                <a:latin typeface="Calibri"/>
              </a:rPr>
              <a:t>Pb collimator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1783080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BBC6D6"/>
                </a:solidFill>
                <a:latin typeface="Calibri"/>
              </a:rPr>
              <a:t>ZnS screen flash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6960" y="4160520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BBC6D6"/>
                </a:solidFill>
                <a:latin typeface="Calibri"/>
              </a:rPr>
              <a:t>vacuum</a:t>
            </a:r>
          </a:p>
        </p:txBody>
      </p:sp>
      <p:pic>
        <p:nvPicPr>
          <p:cNvPr id="22" name="Picture 21" descr="ernest_rutherfo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371600"/>
            <a:ext cx="960120" cy="9601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675120" y="534924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BBC6D6"/>
                </a:solidFill>
                <a:latin typeface="Calibri"/>
              </a:rPr>
              <a:t>Custom top-view schematic + Rutherford portrait (PD). Historic Geiger–Marsden fig. redrawn.</a:t>
            </a:r>
          </a:p>
        </p:txBody>
      </p:sp>
      <p:pic>
        <p:nvPicPr>
          <p:cNvPr id="24" name="Picture 23" descr="geiger_marsden_apparatus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4120" y="484632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8778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Three Observations — What Happened vs What It Meant (Keep Them Separate)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05840" cy="508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A623"/>
                </a:solidFill>
                <a:latin typeface="Calibri"/>
              </a:defRPr>
            </a:pPr>
            <a:r>
              <a:t>ATOMIC STRUCTURE  •  FROM THOMSON TO QUANTUM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55778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FFFFFF"/>
                </a:solidFill>
                <a:latin typeface="Calibri"/>
              </a:rPr>
              <a:t>▸  OBS. 1 — Most alphas passed straight through with zero deflection. CONCLUSION: the atom is mostly empty space — the beam usually meets nothing.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FFFFFF"/>
                </a:solidFill>
                <a:latin typeface="Calibri"/>
              </a:rPr>
              <a:t>▸  OBS. 2 — Some alphas deflected by small angles (~0.14% by more than 1°). CONCLUSION: concentrated positive charge exists inside and repels the +2e alphas.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FFFFFF"/>
                </a:solidFill>
                <a:latin typeface="Calibri"/>
              </a:rPr>
              <a:t>▸  OBS. 3 — Very few, ~1 in 8000, scattered by &gt;90°, some straight back at 180°. CONCLUSION: positive charge + almost all mass sit in a tiny dense nucleus — only a head-on hit can reverse a fast heavy alpha.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FFFFFF"/>
                </a:solidFill>
                <a:latin typeface="Calibri"/>
              </a:rPr>
              <a:t>▸  Rutherford's image: like firing a huge shell at tissue paper and watching it come back — the most surprising result, impossible for spread charge.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FFFFFF"/>
                </a:solidFill>
                <a:latin typeface="Calibri"/>
              </a:rPr>
              <a:t>▸  Discipline: left column is what was SEEN (counts, angles); right column is what was INFERRED — never mix them when the teacher probes.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46920" y="201168"/>
            <a:ext cx="2011680" cy="411480"/>
          </a:xfrm>
          <a:prstGeom prst="round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B1A33"/>
                </a:solidFill>
                <a:latin typeface="Calibri"/>
              </a:rPr>
              <a:t>PRESENTER 06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712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4572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ATOMIC STRUCTURE — THOMSON TO QUANTUM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6473952"/>
            <a:ext cx="4114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MEMBER 06 — OBSERVATIONS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Calibri"/>
              </a:rPr>
              <a:t>10 / 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143000"/>
            <a:ext cx="5212080" cy="4709160"/>
          </a:xfrm>
          <a:prstGeom prst="roundRect">
            <a:avLst>
              <a:gd name="adj" fmla="val 8000"/>
            </a:avLst>
          </a:prstGeom>
          <a:solidFill>
            <a:srgbClr val="142A4D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12480" y="1600200"/>
            <a:ext cx="201168" cy="201168"/>
          </a:xfrm>
          <a:prstGeom prst="ellipse">
            <a:avLst/>
          </a:prstGeom>
          <a:solidFill>
            <a:srgbClr val="5A6C7D"/>
          </a:solidFill>
          <a:ln w="25400">
            <a:solidFill>
              <a:srgbClr val="5A6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80" y="2167128"/>
            <a:ext cx="201168" cy="201168"/>
          </a:xfrm>
          <a:prstGeom prst="ellipse">
            <a:avLst/>
          </a:prstGeom>
          <a:solidFill>
            <a:srgbClr val="5A6C7D"/>
          </a:solidFill>
          <a:ln w="25400">
            <a:solidFill>
              <a:srgbClr val="5A6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412480" y="2734056"/>
            <a:ext cx="201168" cy="201168"/>
          </a:xfrm>
          <a:prstGeom prst="ellipse">
            <a:avLst/>
          </a:prstGeom>
          <a:solidFill>
            <a:srgbClr val="5A6C7D"/>
          </a:solidFill>
          <a:ln w="25400">
            <a:solidFill>
              <a:srgbClr val="5A6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12480" y="3300984"/>
            <a:ext cx="201168" cy="201168"/>
          </a:xfrm>
          <a:prstGeom prst="ellipse">
            <a:avLst/>
          </a:prstGeom>
          <a:solidFill>
            <a:srgbClr val="5A6C7D"/>
          </a:solidFill>
          <a:ln w="25400">
            <a:solidFill>
              <a:srgbClr val="5A6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12480" y="3867912"/>
            <a:ext cx="201168" cy="201168"/>
          </a:xfrm>
          <a:prstGeom prst="ellipse">
            <a:avLst/>
          </a:prstGeom>
          <a:solidFill>
            <a:srgbClr val="5A6C7D"/>
          </a:solidFill>
          <a:ln w="25400">
            <a:solidFill>
              <a:srgbClr val="5A6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480" y="4434840"/>
            <a:ext cx="201168" cy="201168"/>
          </a:xfrm>
          <a:prstGeom prst="ellipse">
            <a:avLst/>
          </a:prstGeom>
          <a:solidFill>
            <a:srgbClr val="5A6C7D"/>
          </a:solidFill>
          <a:ln w="25400">
            <a:solidFill>
              <a:srgbClr val="5A6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141732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5A623"/>
                </a:solidFill>
                <a:latin typeface="Calibri"/>
              </a:rPr>
              <a:t>MOST straight  •  ~0.14% small bend  •  ~1 in 8000 rebound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766560" y="2423160"/>
            <a:ext cx="4206240" cy="0"/>
          </a:xfrm>
          <a:prstGeom prst="line">
            <a:avLst/>
          </a:prstGeom>
          <a:ln w="3175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766560" y="3520440"/>
            <a:ext cx="1737360" cy="0"/>
          </a:xfrm>
          <a:prstGeom prst="line">
            <a:avLst/>
          </a:prstGeom>
          <a:ln w="3175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8503920" y="2971800"/>
            <a:ext cx="2103120" cy="548640"/>
          </a:xfrm>
          <a:prstGeom prst="line">
            <a:avLst/>
          </a:prstGeom>
          <a:ln w="3175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766560" y="4617720"/>
            <a:ext cx="1691640" cy="0"/>
          </a:xfrm>
          <a:prstGeom prst="line">
            <a:avLst/>
          </a:prstGeom>
          <a:ln w="31750">
            <a:solidFill>
              <a:srgbClr val="E548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6949440" y="4617720"/>
            <a:ext cx="1508760" cy="0"/>
          </a:xfrm>
          <a:prstGeom prst="line">
            <a:avLst/>
          </a:prstGeom>
          <a:ln w="31750">
            <a:solidFill>
              <a:srgbClr val="E548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ight Arrow 23"/>
          <p:cNvSpPr/>
          <p:nvPr/>
        </p:nvSpPr>
        <p:spPr>
          <a:xfrm>
            <a:off x="10927080" y="2313432"/>
            <a:ext cx="274320" cy="219456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66960" y="210312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Calibri"/>
              </a:rPr>
              <a:t>through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0" y="320040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Calibri"/>
              </a:rPr>
              <a:t>bent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60" y="484632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Calibri"/>
              </a:rPr>
              <a:t>back 180°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53949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BBC6D6"/>
                </a:solidFill>
                <a:latin typeface="Calibri"/>
              </a:rPr>
              <a:t>Custom schematic — left = observation; meaning is on the slide left.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B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8778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B1A33"/>
                </a:solidFill>
                <a:latin typeface="Calibri"/>
              </a:defRPr>
            </a:pPr>
            <a:r>
              <a:t>Impact Parameter — Why Aim Decides Deflection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05840" cy="508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5A6C7D"/>
                </a:solidFill>
                <a:latin typeface="Calibri"/>
              </a:defRPr>
            </a:pPr>
            <a:r>
              <a:t>ATOMIC STRUCTURE  •  FROM THOMSON TO QUANTUM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55778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Definition: impact parameter b = perpendicular distance between the alpha's original straight path and the nucleus centre — how 'off-centre' the aim is.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Large b (wide miss): alpha feels only weak distant repulsion and sails on with a tiny deflection — the common case, hence mostly straight-through.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Small b (close pass): alpha dives through the strong near-nucleus field and swings through a large angle — the rare ~0.14% tail.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Zero b (head-on, b = 0): alpha stops, turns and bounces back at 180° — the ultra-rare ~1 in 8000 events that killed Thomson's model.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Rule to memorize: smaller impact parameter → closer approach → larger deflection; draw the three paths with the nucleus as the bending centre.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46920" y="201168"/>
            <a:ext cx="2011680" cy="411480"/>
          </a:xfrm>
          <a:prstGeom prst="round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B1A33"/>
                </a:solidFill>
                <a:latin typeface="Calibri"/>
              </a:rPr>
              <a:t>PRESENTER 06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4572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ATOMIC STRUCTURE — THOMSON TO QUANTUM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6473952"/>
            <a:ext cx="4114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MEMBER 06 — IMPACT PARAMETER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Calibri"/>
              </a:rPr>
              <a:t>11 / 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143000"/>
            <a:ext cx="52120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0" y="2880360"/>
            <a:ext cx="640080" cy="640080"/>
          </a:xfrm>
          <a:prstGeom prst="ellipse">
            <a:avLst/>
          </a:prstGeom>
          <a:solidFill>
            <a:srgbClr val="F5A623"/>
          </a:solidFill>
          <a:ln w="25400">
            <a:solidFill>
              <a:srgbClr val="0B1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36118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0B1A33"/>
                </a:solidFill>
                <a:latin typeface="Calibri"/>
              </a:rPr>
              <a:t>nucleus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675120" y="1965960"/>
            <a:ext cx="2011680" cy="0"/>
          </a:xfrm>
          <a:prstGeom prst="line">
            <a:avLst/>
          </a:prstGeom>
          <a:ln w="2540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8686800" y="1783080"/>
            <a:ext cx="2194560" cy="182880"/>
          </a:xfrm>
          <a:prstGeom prst="line">
            <a:avLst/>
          </a:prstGeom>
          <a:ln w="2540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6675120" y="3108960"/>
            <a:ext cx="1965960" cy="45720"/>
          </a:xfrm>
          <a:prstGeom prst="line">
            <a:avLst/>
          </a:prstGeom>
          <a:ln w="3175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641080" y="3108960"/>
            <a:ext cx="2057400" cy="960120"/>
          </a:xfrm>
          <a:prstGeom prst="line">
            <a:avLst/>
          </a:prstGeom>
          <a:ln w="3175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6675120" y="4160520"/>
            <a:ext cx="2011680" cy="182880"/>
          </a:xfrm>
          <a:prstGeom prst="line">
            <a:avLst/>
          </a:prstGeom>
          <a:ln w="31750">
            <a:solidFill>
              <a:srgbClr val="E548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858000" y="4160520"/>
            <a:ext cx="1828800" cy="0"/>
          </a:xfrm>
          <a:prstGeom prst="line">
            <a:avLst/>
          </a:prstGeom>
          <a:ln w="31750">
            <a:solidFill>
              <a:srgbClr val="E548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418320" y="1554480"/>
            <a:ext cx="1920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A6C7D"/>
                </a:solidFill>
                <a:latin typeface="Calibri"/>
              </a:rPr>
              <a:t>large b → tiny bend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3657600"/>
            <a:ext cx="1920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B1A33"/>
                </a:solidFill>
                <a:latin typeface="Calibri"/>
              </a:rPr>
              <a:t>small b → large bend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0" y="4572000"/>
            <a:ext cx="1920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E5484D"/>
                </a:solidFill>
                <a:latin typeface="Calibri"/>
              </a:rPr>
              <a:t>b = 0 → 180° back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006840" y="1965960"/>
            <a:ext cx="0" cy="1188720"/>
          </a:xfrm>
          <a:prstGeom prst="line">
            <a:avLst/>
          </a:prstGeom>
          <a:ln w="19050">
            <a:solidFill>
              <a:srgbClr val="0B1A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098280" y="242316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 b="1">
                <a:solidFill>
                  <a:srgbClr val="0B1A33"/>
                </a:solidFill>
                <a:latin typeface="Calibri"/>
              </a:rPr>
              <a:t>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544068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5A6C7D"/>
                </a:solidFill>
                <a:latin typeface="Calibri"/>
              </a:rPr>
              <a:t>Custom schematic — b measured from original path to nucleus centre.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8778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Rutherford's Nuclear Model (1911) — Tiny Dense Nucleus + Orbiting Electrons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05840" cy="508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A623"/>
                </a:solidFill>
                <a:latin typeface="Calibri"/>
              </a:defRPr>
            </a:pPr>
            <a:r>
              <a:t>ATOMIC STRUCTURE  •  FROM THOMSON TO QUANTUM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55778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FFFFFF"/>
                </a:solidFill>
                <a:latin typeface="Calibri"/>
              </a:rPr>
              <a:t>▸  Core claim (1911): a small, dense, positively charged nucleus sits at the centre holding most of the atom's mass; electrons revolve around it in circular orbits.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FFFFFF"/>
                </a:solidFill>
                <a:latin typeface="Calibri"/>
              </a:rPr>
              <a:t>▸  Mostly empty space: the nucleus is ~10⁴–10⁵× smaller than the atom, so most alphas never approach one — straight-through explained at once.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FFFFFF"/>
                </a:solidFill>
                <a:latin typeface="Calibri"/>
              </a:rPr>
              <a:t>▸  Also called the planetary model: electrons orbit like planets, with electrostatic attraction playing the role gravity plays for planets.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FFFFFF"/>
                </a:solidFill>
                <a:latin typeface="Calibri"/>
              </a:rPr>
              <a:t>▸  Force picture (historical): Coulomb attraction provides centripetal force —  F(Coulomb) = m·v²/r  — nucleus pulls in, circular motion needs inward force.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FFFFFF"/>
                </a:solidFill>
                <a:latin typeface="Calibri"/>
              </a:rPr>
              <a:t>▸  Honest label: this orbit picture is HISTORICAL — it explains scattering beautifully but keeps classical orbits that later fail on stability (Member 9).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46920" y="201168"/>
            <a:ext cx="2011680" cy="411480"/>
          </a:xfrm>
          <a:prstGeom prst="round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B1A33"/>
                </a:solidFill>
                <a:latin typeface="Calibri"/>
              </a:rPr>
              <a:t>PRESENTER 07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712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4572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ATOMIC STRUCTURE — THOMSON TO QUANTUM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6473952"/>
            <a:ext cx="4114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MEMBER 07 — NUCLEAR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Calibri"/>
              </a:rPr>
              <a:t>12 / 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143000"/>
            <a:ext cx="5212080" cy="4709160"/>
          </a:xfrm>
          <a:prstGeom prst="roundRect">
            <a:avLst>
              <a:gd name="adj" fmla="val 8000"/>
            </a:avLst>
          </a:prstGeom>
          <a:solidFill>
            <a:srgbClr val="142A4D"/>
          </a:solidFill>
          <a:ln w="254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49640" y="2971800"/>
            <a:ext cx="914400" cy="914400"/>
          </a:xfrm>
          <a:prstGeom prst="ellipse">
            <a:avLst/>
          </a:prstGeom>
          <a:solidFill>
            <a:srgbClr val="F5A623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3977639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5A623"/>
                </a:solidFill>
                <a:latin typeface="Calibri"/>
              </a:rPr>
              <a:t>nucleus (+, heavy)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0" y="2240280"/>
            <a:ext cx="3383280" cy="2377440"/>
          </a:xfrm>
          <a:prstGeom prst="ellipse">
            <a:avLst/>
          </a:prstGeom>
          <a:noFill/>
          <a:ln w="317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949440" y="1874519"/>
            <a:ext cx="4114800" cy="3108960"/>
          </a:xfrm>
          <a:prstGeom prst="ellipse">
            <a:avLst/>
          </a:prstGeom>
          <a:noFill/>
          <a:ln w="25400">
            <a:solidFill>
              <a:srgbClr val="14E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498079" y="2606040"/>
            <a:ext cx="274320" cy="274320"/>
          </a:xfrm>
          <a:prstGeom prst="ellipse">
            <a:avLst/>
          </a:prstGeom>
          <a:solidFill>
            <a:srgbClr val="00D4FF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241280" y="3703320"/>
            <a:ext cx="274320" cy="274320"/>
          </a:xfrm>
          <a:prstGeom prst="ellipse">
            <a:avLst/>
          </a:prstGeom>
          <a:solidFill>
            <a:srgbClr val="00D4FF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778240" y="2011680"/>
            <a:ext cx="274320" cy="274320"/>
          </a:xfrm>
          <a:prstGeom prst="ellipse">
            <a:avLst/>
          </a:prstGeom>
          <a:solidFill>
            <a:srgbClr val="00D4FF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20840" y="470916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F(Coulomb) = m·v² / r   — attraction supplies circular motion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53949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BBC6D6"/>
                </a:solidFill>
                <a:latin typeface="Calibri"/>
              </a:rPr>
              <a:t>Historical orbit picture — kept for scattering, replaced for stability.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B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8778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B1A33"/>
                </a:solidFill>
                <a:latin typeface="Calibri"/>
              </a:defRPr>
            </a:pPr>
            <a:r>
              <a:t>How Small Is the Nucleus? The Stadium-and-Seed Scale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05840" cy="508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5A6C7D"/>
                </a:solidFill>
                <a:latin typeface="Calibri"/>
              </a:defRPr>
            </a:pPr>
            <a:r>
              <a:t>ATOMIC STRUCTURE  •  FROM THOMSON TO QUANTUM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55778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Source sizes: nucleus radius ~10⁻¹⁵ to 10⁻¹⁴ m; whole-atom radius ~10⁻¹⁰ m — the atom is ~10,000 to 100,000× wider than its nucleus.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Analogy from the script: if the atom were a football stadium, the nucleus would be a tiny seed at the centre — everything else is empty space with light electrons.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Bar (right, log scale): dot for nucleus vs long bar for atom — you cannot draw both true-to-scale on one linear diagram, so we use a magnifier inset.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Why scattering looks so empty: nuclei are rare tiny targets; only a direct hit samples the strong near-field — hence 1 in 8000 large rebounds.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Keep these two numbers (10⁻¹⁰ m vs 10⁻¹⁵–10⁻¹⁴ m) — the teacher will ask them, and Bohr/quantum keep the same emptiness.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46920" y="201168"/>
            <a:ext cx="2011680" cy="411480"/>
          </a:xfrm>
          <a:prstGeom prst="round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B1A33"/>
                </a:solidFill>
                <a:latin typeface="Calibri"/>
              </a:rPr>
              <a:t>PRESENTER 07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4572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ATOMIC STRUCTURE — THOMSON TO QUANTUM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6473952"/>
            <a:ext cx="4114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MEMBER 07 — ATOMIC SCALE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Calibri"/>
              </a:rPr>
              <a:t>13 / 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143000"/>
            <a:ext cx="52120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150876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B1A33"/>
                </a:solidFill>
                <a:latin typeface="Calibri"/>
              </a:rPr>
              <a:t>LOG SCALE — each step is 10× smaller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2423160"/>
            <a:ext cx="4297680" cy="502920"/>
          </a:xfrm>
          <a:prstGeom prst="rect">
            <a:avLst/>
          </a:prstGeom>
          <a:solidFill>
            <a:srgbClr val="00D4FF"/>
          </a:solidFill>
          <a:ln w="25400">
            <a:solidFill>
              <a:srgbClr val="0B1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2971800"/>
            <a:ext cx="4297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0B1A33"/>
                </a:solidFill>
                <a:latin typeface="Calibri"/>
              </a:rPr>
              <a:t>atom radius ≈ 10⁻¹⁰ m</a:t>
            </a:r>
          </a:p>
        </p:txBody>
      </p:sp>
      <p:sp>
        <p:nvSpPr>
          <p:cNvPr id="15" name="Oval 14"/>
          <p:cNvSpPr/>
          <p:nvPr/>
        </p:nvSpPr>
        <p:spPr>
          <a:xfrm>
            <a:off x="8778240" y="3794760"/>
            <a:ext cx="457200" cy="457200"/>
          </a:xfrm>
          <a:prstGeom prst="ellipse">
            <a:avLst/>
          </a:prstGeom>
          <a:solidFill>
            <a:srgbClr val="F5A623"/>
          </a:solidFill>
          <a:ln w="25400">
            <a:solidFill>
              <a:srgbClr val="0B1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20" y="4343400"/>
            <a:ext cx="2834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0B1A33"/>
                </a:solidFill>
                <a:latin typeface="Calibri"/>
              </a:rPr>
              <a:t>nucleus ≈ 10⁻¹⁵–10⁻¹⁴ m  (magnified dot)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0" y="4800600"/>
            <a:ext cx="4297680" cy="594360"/>
          </a:xfrm>
          <a:prstGeom prst="rect">
            <a:avLst/>
          </a:prstGeom>
          <a:solidFill>
            <a:srgbClr val="0B1A33"/>
          </a:solidFill>
          <a:ln w="19050">
            <a:solidFill>
              <a:srgbClr val="0B1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4846320"/>
            <a:ext cx="4297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🏟  stadium = atom  •  seed at centre = nucleus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B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8778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B1A33"/>
                </a:solidFill>
                <a:latin typeface="Calibri"/>
              </a:defRPr>
            </a:pPr>
            <a:r>
              <a:t>Thomson vs Rutherford — Same Electrons, Opposite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05840" cy="508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5A6C7D"/>
                </a:solidFill>
                <a:latin typeface="Calibri"/>
              </a:defRPr>
            </a:pPr>
            <a:r>
              <a:t>ATOMIC STRUCTURE  •  FROM THOMSON TO QUANTUM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55778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One-line contrast: Thomson imagined a uniform FILLED atom; Rutherford proved a mostly EMPTY atom with a tiny dense centre — positive-charge placement is the whole difference.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TABLE (right): Positive charge — spread through atom vs concentrated in nucleus; Electrons — embedded vs revolving; Nucleus — absent vs present.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Row 4 of table: Alpha scattering — Thomson failed to explain it vs Rutherford explained it (strong near-field only near nucleus).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Credit both: Thomson proved electrons live inside atoms; Rutherford discovered the nucleus — each step used new experimental evidence to correct the last.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Bridge: both are still CLASSICAL models — and classical orbits carry the fatal flaw Member 9 now exposes.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46920" y="201168"/>
            <a:ext cx="2011680" cy="411480"/>
          </a:xfrm>
          <a:prstGeom prst="round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B1A33"/>
                </a:solidFill>
                <a:latin typeface="Calibri"/>
              </a:rPr>
              <a:t>PRESENTER 08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4572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ATOMIC STRUCTURE — THOMSON TO QUANTUM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6473952"/>
            <a:ext cx="4114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MEMBER 08 — COMPARISON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Calibri"/>
              </a:rPr>
              <a:t>14 / 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143000"/>
            <a:ext cx="52120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629400" y="1508760"/>
          <a:ext cx="47548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4960"/>
                <a:gridCol w="1584960"/>
                <a:gridCol w="1584960"/>
              </a:tblGrid>
              <a:tr h="6583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>
                    <a:solidFill>
                      <a:srgbClr val="0B1A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Thomson</a:t>
                      </a:r>
                    </a:p>
                  </a:txBody>
                  <a:tcPr>
                    <a:solidFill>
                      <a:srgbClr val="0B1A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Rutherford</a:t>
                      </a:r>
                    </a:p>
                  </a:txBody>
                  <a:tcPr>
                    <a:solidFill>
                      <a:srgbClr val="0B1A3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2332"/>
                          </a:solidFill>
                          <a:latin typeface="Calibri"/>
                        </a:rPr>
                        <a:t>Positive charge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332"/>
                          </a:solidFill>
                          <a:latin typeface="Calibri"/>
                        </a:rPr>
                        <a:t>Spread through atom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332"/>
                          </a:solidFill>
                          <a:latin typeface="Calibri"/>
                        </a:rPr>
                        <a:t>In tiny nucleus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2332"/>
                          </a:solidFill>
                          <a:latin typeface="Calibri"/>
                        </a:rPr>
                        <a:t>Electrons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332"/>
                          </a:solidFill>
                          <a:latin typeface="Calibri"/>
                        </a:rPr>
                        <a:t>Embedded in sphere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332"/>
                          </a:solidFill>
                          <a:latin typeface="Calibri"/>
                        </a:rPr>
                        <a:t>Revolve in orbits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2332"/>
                          </a:solidFill>
                          <a:latin typeface="Calibri"/>
                        </a:rPr>
                        <a:t>Nucleus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332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332"/>
                          </a:solidFill>
                          <a:latin typeface="Calibri"/>
                        </a:rPr>
                        <a:t>Dense, massive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2332"/>
                          </a:solidFill>
                          <a:latin typeface="Calibri"/>
                        </a:rPr>
                        <a:t>Alpha scattering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332"/>
                          </a:solidFill>
                          <a:latin typeface="Calibri"/>
                        </a:rPr>
                        <a:t>Fails (tiny bends)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332"/>
                          </a:solidFill>
                          <a:latin typeface="Calibri"/>
                        </a:rPr>
                        <a:t>Explains (1/8000 back)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629400" y="493776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>
                <a:solidFill>
                  <a:srgbClr val="5A6C7D"/>
                </a:solidFill>
                <a:latin typeface="Calibri"/>
              </a:rPr>
              <a:t>Both classical — next slide kills classical orbits.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B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8778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B1A33"/>
                </a:solidFill>
                <a:latin typeface="Calibri"/>
              </a:defRPr>
            </a:pPr>
            <a:r>
              <a:t>Why Classical Orbits Collapse — The ~10⁻¹¹ s Death Sentence (a Prediction)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05840" cy="508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5A6C7D"/>
                </a:solidFill>
                <a:latin typeface="Calibri"/>
              </a:defRPr>
            </a:pPr>
            <a:r>
              <a:t>ATOMIC STRUCTURE  •  FROM THOMSON TO QUANTUM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55778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Classical rule (Maxwell): any accelerated charge radiates electromagnetic waves and loses energy — circular motion IS acceleration because direction keeps changing.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Apply to Rutherford's electron: it should radiate continuously, lose energy, spiral inward with shrinking radius — and crash into the nucleus.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Timescale from the source: collapse in only ~10⁻¹¹ s — labelled clearly as a CLASSICAL PREDICTION, not a measurement; real atoms are stable, so the prediction refutes the theory.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Diagram (right): healthy circle → decaying spiral → crash, with wavy radiation arrows bleeding energy at every turn.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Upshot: stability alone kills the classical orbit — and the spectrum mismatch finishes it on the next slide.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46920" y="201168"/>
            <a:ext cx="2011680" cy="411480"/>
          </a:xfrm>
          <a:prstGeom prst="round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B1A33"/>
                </a:solidFill>
                <a:latin typeface="Calibri"/>
              </a:rPr>
              <a:t>PRESENTER 09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4572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ATOMIC STRUCTURE — THOMSON TO QUANTUM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6473952"/>
            <a:ext cx="4114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MEMBER 09 — CLASSICAL LIMITS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Calibri"/>
              </a:rPr>
              <a:t>15 / 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143000"/>
            <a:ext cx="52120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E54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03920" y="2788920"/>
            <a:ext cx="640080" cy="640080"/>
          </a:xfrm>
          <a:prstGeom prst="ellipse">
            <a:avLst/>
          </a:prstGeom>
          <a:solidFill>
            <a:srgbClr val="F5A623"/>
          </a:solidFill>
          <a:ln w="25400">
            <a:solidFill>
              <a:srgbClr val="0B1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589520" y="1965960"/>
            <a:ext cx="2468880" cy="2286000"/>
          </a:xfrm>
          <a:prstGeom prst="ellipse">
            <a:avLst/>
          </a:prstGeom>
          <a:noFill/>
          <a:ln w="317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863840" y="2240280"/>
            <a:ext cx="1920240" cy="1737360"/>
          </a:xfrm>
          <a:prstGeom prst="ellipse">
            <a:avLst/>
          </a:prstGeom>
          <a:noFill/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38160" y="2514600"/>
            <a:ext cx="1371600" cy="1188720"/>
          </a:xfrm>
          <a:prstGeom prst="ellipse">
            <a:avLst/>
          </a:prstGeom>
          <a:noFill/>
          <a:ln w="31750">
            <a:solidFill>
              <a:srgbClr val="E54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0" y="4434840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E5484D"/>
                </a:solidFill>
                <a:latin typeface="Calibri"/>
              </a:rPr>
              <a:t>∿∿ radiates ∿∿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4434840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E5484D"/>
                </a:solidFill>
                <a:latin typeface="Calibri"/>
              </a:rPr>
              <a:t>∿∿ radiates ∿∿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0" y="4434840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E5484D"/>
                </a:solidFill>
                <a:latin typeface="Calibri"/>
              </a:rPr>
              <a:t>∿∿ radiates ∿∿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493776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E5484D"/>
                </a:solidFill>
                <a:latin typeface="Calibri"/>
              </a:rPr>
              <a:t>loses energy → spirals in → ~10⁻¹¹ s collapse (PREDICTION)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B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8778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B1A33"/>
                </a:solidFill>
                <a:latin typeface="Calibri"/>
              </a:defRPr>
            </a:pPr>
            <a:r>
              <a:t>Continuous vs Line Spectra — The Fingerprint Classical Physics Cannot Print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05840" cy="508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5A6C7D"/>
                </a:solidFill>
                <a:latin typeface="Calibri"/>
              </a:defRPr>
            </a:pPr>
            <a:r>
              <a:t>ATOMIC STRUCTURE  •  FROM THOMSON TO QUANTUM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55778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Classical expectation: a spiralling electron's frequency changes continuously, so it should emit ALL wavelengths — a smooth rainbow continuum.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Reality: hydrogen and other atoms emit only SHARP lines at specific wavelengths — e.g. hydrogen's visible Balmer series (red, cyan-blue, violet lines on the photo right).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Those lines follow the Rydberg formula (supplementary: 1/λ = R(1/n₁² − 1/n₂²), R ≈ 1.097×10⁷ m⁻¹) — exact integer pattern Rutherford's spirals cannot give.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So two independent failures: atoms do NOT collapse (stable) and do NOT glow continuously (line spectra) — classical physics fails at atomic scale.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A new theory must quantise something — Member 10 shows Bohr's first fix. [Spectrum photo: Umop503, CC0.]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46920" y="201168"/>
            <a:ext cx="2011680" cy="411480"/>
          </a:xfrm>
          <a:prstGeom prst="round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B1A33"/>
                </a:solidFill>
                <a:latin typeface="Calibri"/>
              </a:rPr>
              <a:t>PRESENTER 09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4572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ATOMIC STRUCTURE — THOMSON TO QUANTUM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6473952"/>
            <a:ext cx="4114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MEMBER 09 — SPECTRA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Calibri"/>
              </a:rPr>
              <a:t>16 / 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143000"/>
            <a:ext cx="52120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7C6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66560" y="1783080"/>
            <a:ext cx="4480560" cy="640080"/>
          </a:xfrm>
          <a:prstGeom prst="rect">
            <a:avLst/>
          </a:prstGeom>
          <a:solidFill>
            <a:srgbClr val="0B1A33"/>
          </a:solidFill>
          <a:ln w="19050">
            <a:solidFill>
              <a:srgbClr val="0B1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0" y="1463040"/>
            <a:ext cx="4480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E5484D"/>
                </a:solidFill>
                <a:latin typeface="Calibri"/>
              </a:rPr>
              <a:t>CLASSICAL PREDICTION: smooth continuum (all λ)</a:t>
            </a:r>
          </a:p>
        </p:txBody>
      </p:sp>
      <p:pic>
        <p:nvPicPr>
          <p:cNvPr id="14" name="Picture 13" descr="hydrogen_emission_spectr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3063240"/>
            <a:ext cx="4480560" cy="8229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766560" y="2743200"/>
            <a:ext cx="4480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B1A33"/>
                </a:solidFill>
                <a:latin typeface="Calibri"/>
              </a:rPr>
              <a:t>REALITY: sharp Balmer lines (only some λ)  — photo: Umop503, CC0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4160520"/>
            <a:ext cx="4480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A2332"/>
                </a:solidFill>
                <a:latin typeface="Calibri"/>
              </a:rPr>
              <a:t>Rydberg pattern (suppl.): 1/λ = R(1/n₁² − 1/n₂²), R ≈ 1.097×10⁷ m⁻¹ — integers in, lines out.</a:t>
            </a:r>
          </a:p>
          <a:p>
            <a:r>
              <a:rPr sz="1100" b="1">
                <a:solidFill>
                  <a:srgbClr val="E5484D"/>
                </a:solidFill>
                <a:latin typeface="Calibri"/>
              </a:rPr>
              <a:t>Rutherford spirals cannot give this exact integer pattern.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B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8778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B1A33"/>
                </a:solidFill>
                <a:latin typeface="Calibri"/>
              </a:defRPr>
            </a:pPr>
            <a:r>
              <a:t>Bohr's Fix (1913) — Stationary Orbits, Quantised Angular Momentum, Quantum Jumps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05840" cy="508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5A6C7D"/>
                </a:solidFill>
                <a:latin typeface="Calibri"/>
              </a:defRPr>
            </a:pPr>
            <a:r>
              <a:t>ATOMIC STRUCTURE  •  FROM THOMSON TO QUANTUM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55778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Postulate 1 — Stationary orbits: electrons may circle only in certain allowed orbits and radiate NO energy while in them — stability imposed by rule.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Postulate 2 — Quantised angular momentum: only orbits with  L = n·h/2π,  n = 1, 2, 3… are allowed — orbits are quantised in whole steps, nothing between.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Postulate 3 — Quantum jumps: light is emitted/absorbed ONLY when an electron jumps between orbits, carrying  ΔE = h·ν  — the energy difference, not a spiral glow.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Payoff: jumps between fixed levels give fixed photon energies → sharp lines — hydrogen's spectrum explained for the first time.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Portrait: Niels Bohr c.1922 (public domain, Nobel year) — his model works for hydrogen-like atoms; multi-electron atoms need the full quantum model next.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46920" y="201168"/>
            <a:ext cx="2011680" cy="411480"/>
          </a:xfrm>
          <a:prstGeom prst="round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B1A33"/>
                </a:solidFill>
                <a:latin typeface="Calibri"/>
              </a:rPr>
              <a:t>PRESENTER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4572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ATOMIC STRUCTURE — THOMSON TO QUANTUM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6473952"/>
            <a:ext cx="4114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MEMBER 10 — BOHR &amp; QUANTUM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Calibri"/>
              </a:rPr>
              <a:t>17 / 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143000"/>
            <a:ext cx="52120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7C6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niels_boh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508760"/>
            <a:ext cx="1371600" cy="173736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8321040" y="1554480"/>
            <a:ext cx="2926080" cy="868680"/>
          </a:xfrm>
          <a:prstGeom prst="rect">
            <a:avLst/>
          </a:prstGeom>
          <a:solidFill>
            <a:srgbClr val="EFF3F8"/>
          </a:solidFill>
          <a:ln w="25400">
            <a:solidFill>
              <a:srgbClr val="7C6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0" y="1627632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B1A33"/>
                </a:solidFill>
                <a:latin typeface="Calibri"/>
              </a:rPr>
              <a:t>1  STATIONARY ORBITS</a:t>
            </a:r>
          </a:p>
          <a:p>
            <a:r>
              <a:rPr sz="1100">
                <a:solidFill>
                  <a:srgbClr val="5A6C7D"/>
                </a:solidFill>
                <a:latin typeface="Calibri"/>
              </a:rPr>
              <a:t>no radiation inside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21040" y="2606039"/>
            <a:ext cx="2926080" cy="868680"/>
          </a:xfrm>
          <a:prstGeom prst="rect">
            <a:avLst/>
          </a:prstGeom>
          <a:solidFill>
            <a:srgbClr val="0B1A33"/>
          </a:solidFill>
          <a:ln w="25400">
            <a:solidFill>
              <a:srgbClr val="7C6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2679191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Calibri"/>
              </a:rPr>
              <a:t>2  L = n·h/2π</a:t>
            </a:r>
          </a:p>
          <a:p>
            <a:r>
              <a:rPr sz="1100">
                <a:solidFill>
                  <a:srgbClr val="BBC6D6"/>
                </a:solidFill>
                <a:latin typeface="Calibri"/>
              </a:rPr>
              <a:t>n = 1,2,3… only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21040" y="3657600"/>
            <a:ext cx="2926080" cy="868680"/>
          </a:xfrm>
          <a:prstGeom prst="rect">
            <a:avLst/>
          </a:prstGeom>
          <a:solidFill>
            <a:srgbClr val="EFF3F8"/>
          </a:solidFill>
          <a:ln w="25400">
            <a:solidFill>
              <a:srgbClr val="7C6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0" y="3730752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B1A33"/>
                </a:solidFill>
                <a:latin typeface="Calibri"/>
              </a:rPr>
              <a:t>3  ΔE = h·ν</a:t>
            </a:r>
          </a:p>
          <a:p>
            <a:r>
              <a:rPr sz="1100">
                <a:solidFill>
                  <a:srgbClr val="5A6C7D"/>
                </a:solidFill>
                <a:latin typeface="Calibri"/>
              </a:rPr>
              <a:t>jumps only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489204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i="1">
                <a:solidFill>
                  <a:srgbClr val="5A6C7D"/>
                </a:solidFill>
                <a:latin typeface="Calibri"/>
              </a:rPr>
              <a:t>Bohr c.1922 (PD, Nobel year) — hydrogen lines explained; heavier atoms need quantum.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B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8778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B1A33"/>
                </a:solidFill>
                <a:latin typeface="Calibri"/>
              </a:defRPr>
            </a:pPr>
            <a:r>
              <a:t>Bohr Energy Levels — The Ladder Electrons Climb and Fall (Hydrogen)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05840" cy="508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5A6C7D"/>
                </a:solidFill>
                <a:latin typeface="Calibri"/>
              </a:defRPr>
            </a:pPr>
            <a:r>
              <a:t>ATOMIC STRUCTURE  •  FROM THOMSON TO QUANTUM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55778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Hydrogen ladder (source formula):  E(n) = −13.6/n² eV  — n = 1 lowest (−13.6 eV), n = 2 (−3.4 eV), n = 3 (−1.51 eV), n = 4 (−0.85 eV), … up to 0 (free).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Diagram (right): horizontal rungs n = 1–4 with gaps shrinking upward — longer UP arrow = absorption (photon in, electron climbs); longer DOWN arrow = emission (photon out).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Photon rule on every arrow:  ΔE = h·ν  — big jump = bluer, more energetic light; small jump = redder light — hence discrete Balmer lines.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Worked check: 2→1 fall releases ~10.2 eV (ultraviolet Lyman); Balmer falls to n = 2 give visible lines — integers in, wavelengths out.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Scope warning (source): Bohr fits hydrogen-like atoms only — heavier atoms need the probability model on the next slide.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46920" y="201168"/>
            <a:ext cx="2011680" cy="411480"/>
          </a:xfrm>
          <a:prstGeom prst="round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B1A33"/>
                </a:solidFill>
                <a:latin typeface="Calibri"/>
              </a:rPr>
              <a:t>PRESENTER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4572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ATOMIC STRUCTURE — THOMSON TO QUANTUM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6473952"/>
            <a:ext cx="4114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MEMBER 10 — BOHR &amp; QUANTUM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Calibri"/>
              </a:rPr>
              <a:t>18 / 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143000"/>
            <a:ext cx="52120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7C6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1417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0B1A33"/>
                </a:solidFill>
                <a:latin typeface="Calibri"/>
              </a:rPr>
              <a:t>E(n) = −13.6 / n²  eV   (hydrogen only)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63840" y="2194560"/>
            <a:ext cx="2286000" cy="82296"/>
          </a:xfrm>
          <a:prstGeom prst="rect">
            <a:avLst/>
          </a:prstGeom>
          <a:solidFill>
            <a:srgbClr val="0B1A33"/>
          </a:solidFill>
          <a:ln w="19050">
            <a:solidFill>
              <a:srgbClr val="0B1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87000" y="2029967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B1A33"/>
                </a:solidFill>
                <a:latin typeface="Calibri"/>
              </a:rPr>
              <a:t>n=4  −0.85 eV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0" y="2743200"/>
            <a:ext cx="2286000" cy="82296"/>
          </a:xfrm>
          <a:prstGeom prst="rect">
            <a:avLst/>
          </a:prstGeom>
          <a:solidFill>
            <a:srgbClr val="0B1A33"/>
          </a:solidFill>
          <a:ln w="19050">
            <a:solidFill>
              <a:srgbClr val="0B1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0" y="2578608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B1A33"/>
                </a:solidFill>
                <a:latin typeface="Calibri"/>
              </a:rPr>
              <a:t>n=3  −1.51 eV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0" y="3474720"/>
            <a:ext cx="2286000" cy="82296"/>
          </a:xfrm>
          <a:prstGeom prst="rect">
            <a:avLst/>
          </a:prstGeom>
          <a:solidFill>
            <a:srgbClr val="0B1A33"/>
          </a:solidFill>
          <a:ln w="19050">
            <a:solidFill>
              <a:srgbClr val="0B1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87000" y="3310127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B1A33"/>
                </a:solidFill>
                <a:latin typeface="Calibri"/>
              </a:rPr>
              <a:t>n=2  −3.40 eV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63840" y="4389120"/>
            <a:ext cx="2286000" cy="82296"/>
          </a:xfrm>
          <a:prstGeom prst="rect">
            <a:avLst/>
          </a:prstGeom>
          <a:solidFill>
            <a:srgbClr val="0B1A33"/>
          </a:solidFill>
          <a:ln w="19050">
            <a:solidFill>
              <a:srgbClr val="0B1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0" y="4224528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B1A33"/>
                </a:solidFill>
                <a:latin typeface="Calibri"/>
              </a:rPr>
              <a:t>n=1  −13.6 eV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8138160" y="2331720"/>
            <a:ext cx="0" cy="2011680"/>
          </a:xfrm>
          <a:prstGeom prst="line">
            <a:avLst/>
          </a:prstGeom>
          <a:ln w="38100">
            <a:solidFill>
              <a:srgbClr val="7C6C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ight Arrow 21"/>
          <p:cNvSpPr/>
          <p:nvPr/>
        </p:nvSpPr>
        <p:spPr>
          <a:xfrm>
            <a:off x="8028431" y="2103120"/>
            <a:ext cx="219456" cy="274320"/>
          </a:xfrm>
          <a:prstGeom prst="rightArrow">
            <a:avLst/>
          </a:prstGeom>
          <a:solidFill>
            <a:srgbClr val="7C6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9784080" y="2331720"/>
            <a:ext cx="0" cy="1920240"/>
          </a:xfrm>
          <a:prstGeom prst="line">
            <a:avLst/>
          </a:prstGeom>
          <a:ln w="38100">
            <a:solidFill>
              <a:srgbClr val="F5A6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ight Arrow 23"/>
          <p:cNvSpPr/>
          <p:nvPr/>
        </p:nvSpPr>
        <p:spPr>
          <a:xfrm>
            <a:off x="9674352" y="4251960"/>
            <a:ext cx="219456" cy="274320"/>
          </a:xfrm>
          <a:prstGeom prst="rightArrow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52360" y="315468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7C6CF0"/>
                </a:solidFill>
                <a:latin typeface="Calibri"/>
              </a:rPr>
              <a:t>ABSORB 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315468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5A623"/>
                </a:solidFill>
                <a:latin typeface="Calibri"/>
              </a:rPr>
              <a:t>EMIT 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493776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B1A33"/>
                </a:solidFill>
                <a:latin typeface="Calibri"/>
              </a:rPr>
              <a:t>Every arrow obeys ΔE = h·ν — big jump = bluer light.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B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8778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B1A33"/>
                </a:solidFill>
                <a:latin typeface="Calibri"/>
              </a:defRPr>
            </a:pPr>
            <a:r>
              <a:t>Modern Quantum Model — From Fixed Orbits to Probability Orbitals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05840" cy="508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5A6C7D"/>
                </a:solidFill>
                <a:latin typeface="Calibri"/>
              </a:defRPr>
            </a:pPr>
            <a:r>
              <a:t>ATOMIC STRUCTURE  •  FROM THOMSON TO QUANTUM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55778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Heisenberg (1927, supplementary context): we cannot know an electron's exact path and speed together — exact classical trajectories are unknowable in principle.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Schrödinger's wave equation (1926) replaces paths with wavefunctions: |ψ|² gives the PROBABILITY of finding the electron in each region of space.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An orbital is that region — e.g. spherical 1s cloud densest at centre (image right: brighter = likelier; PoorLeno, public domain) — described by quantum numbers n, l, m, s.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ORBIT vs ORBITAL (exam trap): Bohr orbit = fixed circular path with exact radius; quantum orbital = fuzzy probability cloud with no exact path — never swap the words.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1A2332"/>
                </a:solidFill>
                <a:latin typeface="Calibri"/>
              </a:rPr>
              <a:t>▸  Result: stability and spectra emerge naturally from allowed wave patterns — the atom stays mostly empty, now with electrons as clouds, not planets.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46920" y="201168"/>
            <a:ext cx="2011680" cy="411480"/>
          </a:xfrm>
          <a:prstGeom prst="round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B1A33"/>
                </a:solidFill>
                <a:latin typeface="Calibri"/>
              </a:rPr>
              <a:t>PRESENTER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4572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ATOMIC STRUCTURE — THOMSON TO QUANTUM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6473952"/>
            <a:ext cx="4114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MEMBER 10 — BOHR &amp; QUANTUM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Calibri"/>
              </a:rPr>
              <a:t>19 / 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143000"/>
            <a:ext cx="52120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7C6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hydrogen_density_p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508760"/>
            <a:ext cx="2377440" cy="237744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766560" y="4069080"/>
            <a:ext cx="4480560" cy="548640"/>
          </a:xfrm>
          <a:prstGeom prst="rect">
            <a:avLst/>
          </a:prstGeom>
          <a:solidFill>
            <a:srgbClr val="FFFFFF"/>
          </a:solidFill>
          <a:ln w="25400">
            <a:solidFill>
              <a:srgbClr val="7C6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0" y="41148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B1A33"/>
                </a:solidFill>
                <a:latin typeface="Calibri"/>
              </a:rPr>
              <a:t>ORBIT (Bohr)  —  fixed ring, exact 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0" y="4754880"/>
            <a:ext cx="4480560" cy="548640"/>
          </a:xfrm>
          <a:prstGeom prst="rect">
            <a:avLst/>
          </a:prstGeom>
          <a:solidFill>
            <a:srgbClr val="0B1A33"/>
          </a:solidFill>
          <a:ln w="25400">
            <a:solidFill>
              <a:srgbClr val="7C6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0" y="48006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Calibri"/>
              </a:rPr>
              <a:t>ORBITAL (quantum)  —  cloud, probable region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53949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5A6C7D"/>
                </a:solidFill>
                <a:latin typeface="Calibri"/>
              </a:rPr>
              <a:t>Density plots: brighter = likelier (PoorLeno, PD). n,l,m,s label each cloud.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8778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Evolution Timeline — Dalton → Thomson → Rutherford → Bohr → Quantum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05840" cy="508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A623"/>
                </a:solidFill>
                <a:latin typeface="Calibri"/>
              </a:defRPr>
            </a:pPr>
            <a:r>
              <a:t>ATOMIC STRUCTURE  •  FROM THOMSON TO QUANTUM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55778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FFFFFF"/>
                </a:solidFill>
                <a:latin typeface="Calibri"/>
              </a:rPr>
              <a:t>▸  1808 Dalton: solid indivisible ball — explains combining ratios, no inner parts; broken by cathode-ray electricity evidence.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FFFFFF"/>
                </a:solidFill>
                <a:latin typeface="Calibri"/>
              </a:rPr>
              <a:t>▸  1897–1904 Thomson: electron found (e/m = 1.76×10¹¹ C/kg) → plum-pudding sphere ~10⁻¹⁰ m, neutral but nucleus-free; broken by large-angle scattering.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FFFFFF"/>
                </a:solidFill>
                <a:latin typeface="Calibri"/>
              </a:rPr>
              <a:t>▸  1909–1911 Rutherford/Geiger/Marsden: 1 in 8000 rebound → tiny dense nucleus (10⁻¹⁵–10⁻¹⁴ m), planetary orbits; broken by collapse + line spectra.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FFFFFF"/>
                </a:solidFill>
                <a:latin typeface="Calibri"/>
              </a:rPr>
              <a:t>▸  1913 Bohr: quantised orbits L = n·h/2π, jumps ΔE = hν, En = −13.6/n² eV — fixes hydrogen lines; limited to hydrogen-like atoms.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FFFFFF"/>
                </a:solidFill>
                <a:latin typeface="Calibri"/>
              </a:rPr>
              <a:t>▸  1926–present Quantum: Heisenberg + Schrödinger → probability orbitals (n, l, m, s) — current teaching model; each step kept what worked and fixed what failed.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46920" y="201168"/>
            <a:ext cx="2011680" cy="411480"/>
          </a:xfrm>
          <a:prstGeom prst="round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B1A33"/>
                </a:solidFill>
                <a:latin typeface="Calibri"/>
              </a:rPr>
              <a:t>PRESENTER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712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4572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ATOMIC STRUCTURE — THOMSON TO QUANTUM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6473952"/>
            <a:ext cx="4114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MEMBER 10 — SYNTHESIS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Calibri"/>
              </a:rPr>
              <a:t>20 / 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143000"/>
            <a:ext cx="5212080" cy="4709160"/>
          </a:xfrm>
          <a:prstGeom prst="roundRect">
            <a:avLst>
              <a:gd name="adj" fmla="val 8000"/>
            </a:avLst>
          </a:prstGeom>
          <a:solidFill>
            <a:srgbClr val="142A4D"/>
          </a:solidFill>
          <a:ln w="254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6675120" y="3246120"/>
            <a:ext cx="4663439" cy="0"/>
          </a:xfrm>
          <a:prstGeom prst="line">
            <a:avLst/>
          </a:prstGeom>
          <a:ln w="38100">
            <a:solidFill>
              <a:srgbClr val="F5A6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6766560" y="2971800"/>
            <a:ext cx="548640" cy="548640"/>
          </a:xfrm>
          <a:prstGeom prst="ellipse">
            <a:avLst/>
          </a:prstGeom>
          <a:solidFill>
            <a:srgbClr val="F5A623"/>
          </a:solidFill>
          <a:ln w="254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3774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5A623"/>
                </a:solidFill>
                <a:latin typeface="Calibri"/>
              </a:rPr>
              <a:t>1808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6243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DALTON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88036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BBC6D6"/>
                </a:solidFill>
                <a:latin typeface="Calibri"/>
              </a:rPr>
              <a:t>ball</a:t>
            </a:r>
          </a:p>
        </p:txBody>
      </p:sp>
      <p:sp>
        <p:nvSpPr>
          <p:cNvPr id="17" name="Oval 16"/>
          <p:cNvSpPr/>
          <p:nvPr/>
        </p:nvSpPr>
        <p:spPr>
          <a:xfrm>
            <a:off x="7735823" y="2971800"/>
            <a:ext cx="548640" cy="548640"/>
          </a:xfrm>
          <a:prstGeom prst="ellipse">
            <a:avLst/>
          </a:prstGeom>
          <a:solidFill>
            <a:srgbClr val="F5A623"/>
          </a:solidFill>
          <a:ln w="254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15783" y="23774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5A623"/>
                </a:solidFill>
                <a:latin typeface="Calibri"/>
              </a:rPr>
              <a:t>1897/04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15783" y="26243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THOMSON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15783" y="288036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BBC6D6"/>
                </a:solidFill>
                <a:latin typeface="Calibri"/>
              </a:rPr>
              <a:t>e⁻+pudding</a:t>
            </a:r>
          </a:p>
        </p:txBody>
      </p:sp>
      <p:sp>
        <p:nvSpPr>
          <p:cNvPr id="21" name="Oval 20"/>
          <p:cNvSpPr/>
          <p:nvPr/>
        </p:nvSpPr>
        <p:spPr>
          <a:xfrm>
            <a:off x="8705088" y="2971800"/>
            <a:ext cx="548640" cy="548640"/>
          </a:xfrm>
          <a:prstGeom prst="ellipse">
            <a:avLst/>
          </a:prstGeom>
          <a:solidFill>
            <a:srgbClr val="F5A623"/>
          </a:solidFill>
          <a:ln w="254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85048" y="23774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5A623"/>
                </a:solidFill>
                <a:latin typeface="Calibri"/>
              </a:rPr>
              <a:t>1909/11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5048" y="26243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RUTHERFORD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5048" y="288036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BBC6D6"/>
                </a:solidFill>
                <a:latin typeface="Calibri"/>
              </a:rPr>
              <a:t>nucleus</a:t>
            </a:r>
          </a:p>
        </p:txBody>
      </p:sp>
      <p:sp>
        <p:nvSpPr>
          <p:cNvPr id="25" name="Oval 24"/>
          <p:cNvSpPr/>
          <p:nvPr/>
        </p:nvSpPr>
        <p:spPr>
          <a:xfrm>
            <a:off x="9674352" y="2971800"/>
            <a:ext cx="548640" cy="548640"/>
          </a:xfrm>
          <a:prstGeom prst="ellipse">
            <a:avLst/>
          </a:prstGeom>
          <a:solidFill>
            <a:srgbClr val="F5A623"/>
          </a:solidFill>
          <a:ln w="254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54312" y="23774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5A623"/>
                </a:solidFill>
                <a:latin typeface="Calibri"/>
              </a:rPr>
              <a:t>1913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54312" y="26243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BOHR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54312" y="288036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BBC6D6"/>
                </a:solidFill>
                <a:latin typeface="Calibri"/>
              </a:rPr>
              <a:t>orbits</a:t>
            </a:r>
          </a:p>
        </p:txBody>
      </p:sp>
      <p:sp>
        <p:nvSpPr>
          <p:cNvPr id="29" name="Oval 28"/>
          <p:cNvSpPr/>
          <p:nvPr/>
        </p:nvSpPr>
        <p:spPr>
          <a:xfrm>
            <a:off x="10643616" y="2971800"/>
            <a:ext cx="548640" cy="548640"/>
          </a:xfrm>
          <a:prstGeom prst="ellipse">
            <a:avLst/>
          </a:prstGeom>
          <a:solidFill>
            <a:srgbClr val="F5A623"/>
          </a:solidFill>
          <a:ln w="254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23576" y="23774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5A623"/>
                </a:solidFill>
                <a:latin typeface="Calibri"/>
              </a:rPr>
              <a:t>1926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23576" y="26243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QUANTUM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23576" y="288036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BBC6D6"/>
                </a:solidFill>
                <a:latin typeface="Calibri"/>
              </a:rPr>
              <a:t>orbitals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4434840"/>
            <a:ext cx="4663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>
                <a:solidFill>
                  <a:srgbClr val="BBC6D6"/>
                </a:solidFill>
                <a:latin typeface="Calibri"/>
              </a:rPr>
              <a:t>Each arrow was fired by an experiment — numbers decided, not opinions.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B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8778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B1A33"/>
                </a:solidFill>
                <a:latin typeface="Calibri"/>
              </a:defRPr>
            </a:pPr>
            <a:r>
              <a:t>Quick Revision — Eight Questions to Lock the Story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05840" cy="508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5A6C7D"/>
                </a:solidFill>
                <a:latin typeface="Calibri"/>
              </a:defRPr>
            </a:pPr>
            <a:r>
              <a:t>ATOMIC STRUCTURE  •  FROM THOMSON TO QUANTUM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57607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00">
                <a:solidFill>
                  <a:srgbClr val="1A2332"/>
                </a:solidFill>
                <a:latin typeface="Calibri"/>
              </a:rPr>
              <a:t>▸  Q1: Who found the electron, when? — Thomson, 1897, via cathode rays with e/m = 1.76×10¹¹ C/kg, same for all gases/metals.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00">
                <a:solidFill>
                  <a:srgbClr val="1A2332"/>
                </a:solidFill>
                <a:latin typeface="Calibri"/>
              </a:rPr>
              <a:t>▸  Q2: What IS Thomson's model? — Positive sphere ~10⁻¹⁰ m with embedded electrons, neutral, NO nucleus (pudding/watermelon).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00">
                <a:solidFill>
                  <a:srgbClr val="1A2332"/>
                </a:solidFill>
                <a:latin typeface="Calibri"/>
              </a:rPr>
              <a:t>▸  Q3: What was Rutherford's experiment? — 1909 gold-foil alpha scattering: +2e alphas at ~10⁷ m/s onto thin gold (Z=79), ZnS flashes in vacuum.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00">
                <a:solidFill>
                  <a:srgbClr val="1A2332"/>
                </a:solidFill>
                <a:latin typeface="Calibri"/>
              </a:rPr>
              <a:t>▸  Q4: Three results? — Most straight (empty space); ~0.14% small angles (positive charge); ~1 in 8000 &gt;90°/back (tiny dense nucleus).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00">
                <a:solidFill>
                  <a:srgbClr val="1A2332"/>
                </a:solidFill>
                <a:latin typeface="Calibri"/>
              </a:rPr>
              <a:t>▸  Q5: Rutherford's model + scale? — Dense central nucleus + orbiting electrons, mostly empty; nucleus 10⁻¹⁵–10⁻¹⁴ m vs atom 10⁻¹⁰ m (stadium:seed).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00">
                <a:solidFill>
                  <a:srgbClr val="1A2332"/>
                </a:solidFill>
                <a:latin typeface="Calibri"/>
              </a:rPr>
              <a:t>▸  Q6: Why do classical models fail? — Orbiting charge should radiate, spiral in ~10⁻¹¹ s (prediction) and give continuous spectra — real atoms are stable with line spectra.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00">
                <a:solidFill>
                  <a:srgbClr val="1A2332"/>
                </a:solidFill>
                <a:latin typeface="Calibri"/>
              </a:rPr>
              <a:t>▸  Q7: Bohr's fix? — Allowed orbits only (L = n·h/2π), jumps carry ΔE = hν, hydrogen levels En = −13.6/n² eV.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00">
                <a:solidFill>
                  <a:srgbClr val="1A2332"/>
                </a:solidFill>
                <a:latin typeface="Calibri"/>
              </a:rPr>
              <a:t>▸  Q8: Quantum in one line? — No exact paths; orbitals are probability regions (n, l, m, s) — orbit ≠ orbital.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46920" y="201168"/>
            <a:ext cx="2011680" cy="411480"/>
          </a:xfrm>
          <a:prstGeom prst="round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B1A33"/>
                </a:solidFill>
                <a:latin typeface="Calibri"/>
              </a:rPr>
              <a:t>PRESENTER — ALL MEMBERS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4572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ATOMIC STRUCTURE — THOMSON TO QUANTUM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6473952"/>
            <a:ext cx="4114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ALL MEMBERS — REVISION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Calibri"/>
              </a:rPr>
              <a:t>21 / 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143000"/>
            <a:ext cx="52120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675120" y="1463040"/>
            <a:ext cx="411480" cy="411480"/>
          </a:xfrm>
          <a:prstGeom prst="ellipse">
            <a:avLst/>
          </a:prstGeom>
          <a:solidFill>
            <a:srgbClr val="0B1A33"/>
          </a:solidFill>
          <a:ln w="25400">
            <a:solidFill>
              <a:srgbClr val="0B1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481328"/>
            <a:ext cx="411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8040" y="14173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B1A33"/>
                </a:solidFill>
                <a:latin typeface="Calibri"/>
              </a:rPr>
              <a:t>Thomson 1897?</a:t>
            </a:r>
          </a:p>
        </p:txBody>
      </p:sp>
      <p:sp>
        <p:nvSpPr>
          <p:cNvPr id="15" name="Oval 14"/>
          <p:cNvSpPr/>
          <p:nvPr/>
        </p:nvSpPr>
        <p:spPr>
          <a:xfrm>
            <a:off x="9144000" y="1463040"/>
            <a:ext cx="411480" cy="411480"/>
          </a:xfrm>
          <a:prstGeom prst="ellipse">
            <a:avLst/>
          </a:prstGeom>
          <a:solidFill>
            <a:srgbClr val="0B1A33"/>
          </a:solidFill>
          <a:ln w="25400">
            <a:solidFill>
              <a:srgbClr val="0B1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481328"/>
            <a:ext cx="411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46920" y="14173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B1A33"/>
                </a:solidFill>
                <a:latin typeface="Calibri"/>
              </a:rPr>
              <a:t>Pudding = ?</a:t>
            </a:r>
          </a:p>
        </p:txBody>
      </p:sp>
      <p:sp>
        <p:nvSpPr>
          <p:cNvPr id="18" name="Oval 17"/>
          <p:cNvSpPr/>
          <p:nvPr/>
        </p:nvSpPr>
        <p:spPr>
          <a:xfrm>
            <a:off x="6675120" y="2542032"/>
            <a:ext cx="411480" cy="411480"/>
          </a:xfrm>
          <a:prstGeom prst="ellipse">
            <a:avLst/>
          </a:prstGeom>
          <a:solidFill>
            <a:srgbClr val="0B1A33"/>
          </a:solidFill>
          <a:ln w="25400">
            <a:solidFill>
              <a:srgbClr val="0B1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2560320"/>
            <a:ext cx="411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2496312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B1A33"/>
                </a:solidFill>
                <a:latin typeface="Calibri"/>
              </a:rPr>
              <a:t>Gold-foil = ?</a:t>
            </a:r>
          </a:p>
        </p:txBody>
      </p:sp>
      <p:sp>
        <p:nvSpPr>
          <p:cNvPr id="21" name="Oval 20"/>
          <p:cNvSpPr/>
          <p:nvPr/>
        </p:nvSpPr>
        <p:spPr>
          <a:xfrm>
            <a:off x="9144000" y="2542032"/>
            <a:ext cx="411480" cy="411480"/>
          </a:xfrm>
          <a:prstGeom prst="ellipse">
            <a:avLst/>
          </a:prstGeom>
          <a:solidFill>
            <a:srgbClr val="0B1A33"/>
          </a:solidFill>
          <a:ln w="25400">
            <a:solidFill>
              <a:srgbClr val="0B1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0" y="2560320"/>
            <a:ext cx="411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496312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B1A33"/>
                </a:solidFill>
                <a:latin typeface="Calibri"/>
              </a:rPr>
              <a:t>3 results?</a:t>
            </a:r>
          </a:p>
        </p:txBody>
      </p:sp>
      <p:sp>
        <p:nvSpPr>
          <p:cNvPr id="24" name="Oval 23"/>
          <p:cNvSpPr/>
          <p:nvPr/>
        </p:nvSpPr>
        <p:spPr>
          <a:xfrm>
            <a:off x="6675120" y="3621024"/>
            <a:ext cx="411480" cy="411480"/>
          </a:xfrm>
          <a:prstGeom prst="ellipse">
            <a:avLst/>
          </a:prstGeom>
          <a:solidFill>
            <a:srgbClr val="0B1A33"/>
          </a:solidFill>
          <a:ln w="25400">
            <a:solidFill>
              <a:srgbClr val="0B1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0" y="3639312"/>
            <a:ext cx="411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8040" y="3575304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B1A33"/>
                </a:solidFill>
                <a:latin typeface="Calibri"/>
              </a:rPr>
              <a:t>Nucleus + scale?</a:t>
            </a:r>
          </a:p>
        </p:txBody>
      </p:sp>
      <p:sp>
        <p:nvSpPr>
          <p:cNvPr id="27" name="Oval 26"/>
          <p:cNvSpPr/>
          <p:nvPr/>
        </p:nvSpPr>
        <p:spPr>
          <a:xfrm>
            <a:off x="9144000" y="3621024"/>
            <a:ext cx="411480" cy="411480"/>
          </a:xfrm>
          <a:prstGeom prst="ellipse">
            <a:avLst/>
          </a:prstGeom>
          <a:solidFill>
            <a:srgbClr val="0B1A33"/>
          </a:solidFill>
          <a:ln w="25400">
            <a:solidFill>
              <a:srgbClr val="0B1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3639312"/>
            <a:ext cx="411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46920" y="3575304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B1A33"/>
                </a:solidFill>
                <a:latin typeface="Calibri"/>
              </a:rPr>
              <a:t>Classical fails?</a:t>
            </a:r>
          </a:p>
        </p:txBody>
      </p:sp>
      <p:sp>
        <p:nvSpPr>
          <p:cNvPr id="30" name="Oval 29"/>
          <p:cNvSpPr/>
          <p:nvPr/>
        </p:nvSpPr>
        <p:spPr>
          <a:xfrm>
            <a:off x="6675120" y="4700016"/>
            <a:ext cx="411480" cy="411480"/>
          </a:xfrm>
          <a:prstGeom prst="ellipse">
            <a:avLst/>
          </a:prstGeom>
          <a:solidFill>
            <a:srgbClr val="0B1A33"/>
          </a:solidFill>
          <a:ln w="25400">
            <a:solidFill>
              <a:srgbClr val="0B1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75120" y="4718304"/>
            <a:ext cx="411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78040" y="4654296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B1A33"/>
                </a:solidFill>
                <a:latin typeface="Calibri"/>
              </a:rPr>
              <a:t>Bohr fix?</a:t>
            </a:r>
          </a:p>
        </p:txBody>
      </p:sp>
      <p:sp>
        <p:nvSpPr>
          <p:cNvPr id="33" name="Oval 32"/>
          <p:cNvSpPr/>
          <p:nvPr/>
        </p:nvSpPr>
        <p:spPr>
          <a:xfrm>
            <a:off x="9144000" y="4700016"/>
            <a:ext cx="411480" cy="411480"/>
          </a:xfrm>
          <a:prstGeom prst="ellipse">
            <a:avLst/>
          </a:prstGeom>
          <a:solidFill>
            <a:srgbClr val="0B1A33"/>
          </a:solidFill>
          <a:ln w="25400">
            <a:solidFill>
              <a:srgbClr val="0B1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0" y="4718304"/>
            <a:ext cx="411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46920" y="4654296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B1A33"/>
                </a:solidFill>
                <a:latin typeface="Calibri"/>
              </a:rPr>
              <a:t>Orbit≠orbital?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0" y="5303520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5A6C7D"/>
                </a:solidFill>
                <a:latin typeface="Calibri"/>
              </a:rPr>
              <a:t>Answers are the slide-left points — say one breath each.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8778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Teacher Cross-Questions (1–5) — Answered by the Topic Owner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05840" cy="508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A623"/>
                </a:solidFill>
                <a:latin typeface="Calibri"/>
              </a:defRPr>
            </a:pPr>
            <a:r>
              <a:t>ATOMIC STRUCTURE  •  FROM THOMSON TO QUANTUM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55778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>
                <a:solidFill>
                  <a:srgbClr val="FFFFFF"/>
                </a:solidFill>
                <a:latin typeface="Calibri"/>
              </a:rPr>
              <a:t>▸  Q1 [MEMBER 01]: What is an atom? — Smallest particle of an element taking part in chemical reactions; once thought indivisible, now known to hold electrons, protons, neutrons.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>
                <a:solidFill>
                  <a:srgbClr val="FFFFFF"/>
                </a:solidFill>
                <a:latin typeface="Calibri"/>
              </a:rPr>
              <a:t>▸  Q2 [MEMBER 03]: Why 'plum pudding'? — Electrons embedded in a positive sphere like plums in pudding — or seeds in watermelon pulp (red pulp = +, seeds = e⁻).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>
                <a:solidFill>
                  <a:srgbClr val="FFFFFF"/>
                </a:solidFill>
                <a:latin typeface="Calibri"/>
              </a:rPr>
              <a:t>▸  Q3 [MEMBER 02]: What are cathode rays? — Streams of negative particles (electrons) flying cathode→anode in a low-pressure tube; deflected by electric/magnetic fields.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>
                <a:solidFill>
                  <a:srgbClr val="FFFFFF"/>
                </a:solidFill>
                <a:latin typeface="Calibri"/>
              </a:rPr>
              <a:t>▸  Q4 [MEMBER 04]: Why did Thomson's model fail? — No nucleus, cannot give large-angle scattering, cannot give exact line spectra or stable balance.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>
                <a:solidFill>
                  <a:srgbClr val="FFFFFF"/>
                </a:solidFill>
                <a:latin typeface="Calibri"/>
              </a:rPr>
              <a:t>▸  Q5 [MEMBER 05]: What are alpha particles? — Helium nuclei (2p + 2n), charge +2e, from radium/polonium at ~10⁷ m/s — heavy fast probes of the atom.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46920" y="201168"/>
            <a:ext cx="2011680" cy="411480"/>
          </a:xfrm>
          <a:prstGeom prst="round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B1A33"/>
                </a:solidFill>
                <a:latin typeface="Calibri"/>
              </a:rPr>
              <a:t>MEMBERS 02 · 03 · 01 · 04 · 05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712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4572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ATOMIC STRUCTURE — THOMSON TO QUANTUM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6473952"/>
            <a:ext cx="4114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Q&amp;A — TOPIC OWNERS (SEE TAGS)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Calibri"/>
              </a:rPr>
              <a:t>22 / 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143000"/>
            <a:ext cx="5212080" cy="4709160"/>
          </a:xfrm>
          <a:prstGeom prst="roundRect">
            <a:avLst>
              <a:gd name="adj" fmla="val 8000"/>
            </a:avLst>
          </a:prstGeom>
          <a:solidFill>
            <a:srgbClr val="142A4D"/>
          </a:solidFill>
          <a:ln w="254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146304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1">
                <a:solidFill>
                  <a:srgbClr val="F5A623"/>
                </a:solidFill>
                <a:latin typeface="Calibri"/>
              </a:rPr>
              <a:t>Rule: the tagged owner stands and answers — 2 sentences, then sits.</a:t>
            </a:r>
          </a:p>
          <a:p>
            <a:r>
              <a:rPr sz="1100">
                <a:solidFill>
                  <a:srgbClr val="FFFFFF"/>
                </a:solidFill>
                <a:latin typeface="Calibri"/>
              </a:rPr>
              <a:t>Full Q + A pairs are on the slide left — point at the tag as you answer.</a:t>
            </a:r>
          </a:p>
        </p:txBody>
      </p:sp>
      <p:sp>
        <p:nvSpPr>
          <p:cNvPr id="13" name="Oval 12"/>
          <p:cNvSpPr/>
          <p:nvPr/>
        </p:nvSpPr>
        <p:spPr>
          <a:xfrm>
            <a:off x="6766560" y="3154680"/>
            <a:ext cx="566928" cy="310896"/>
          </a:xfrm>
          <a:prstGeom prst="ellipse">
            <a:avLst/>
          </a:prstGeom>
          <a:solidFill>
            <a:srgbClr val="F5A623"/>
          </a:solidFill>
          <a:ln w="254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3154680"/>
            <a:ext cx="56692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0B1A33"/>
                </a:solidFill>
                <a:latin typeface="Calibri"/>
              </a:rPr>
              <a:t>M01</a:t>
            </a:r>
          </a:p>
        </p:txBody>
      </p:sp>
      <p:sp>
        <p:nvSpPr>
          <p:cNvPr id="15" name="Oval 14"/>
          <p:cNvSpPr/>
          <p:nvPr/>
        </p:nvSpPr>
        <p:spPr>
          <a:xfrm>
            <a:off x="6766560" y="3657600"/>
            <a:ext cx="566928" cy="310896"/>
          </a:xfrm>
          <a:prstGeom prst="ellipse">
            <a:avLst/>
          </a:prstGeom>
          <a:solidFill>
            <a:srgbClr val="F5A623"/>
          </a:solidFill>
          <a:ln w="254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0" y="3657600"/>
            <a:ext cx="56692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0B1A33"/>
                </a:solidFill>
                <a:latin typeface="Calibri"/>
              </a:rPr>
              <a:t>M03</a:t>
            </a:r>
          </a:p>
        </p:txBody>
      </p:sp>
      <p:sp>
        <p:nvSpPr>
          <p:cNvPr id="17" name="Oval 16"/>
          <p:cNvSpPr/>
          <p:nvPr/>
        </p:nvSpPr>
        <p:spPr>
          <a:xfrm>
            <a:off x="6766560" y="4160520"/>
            <a:ext cx="566928" cy="310896"/>
          </a:xfrm>
          <a:prstGeom prst="ellipse">
            <a:avLst/>
          </a:prstGeom>
          <a:solidFill>
            <a:srgbClr val="F5A623"/>
          </a:solidFill>
          <a:ln w="254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0" y="4160520"/>
            <a:ext cx="56692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0B1A33"/>
                </a:solidFill>
                <a:latin typeface="Calibri"/>
              </a:rPr>
              <a:t>M02</a:t>
            </a:r>
          </a:p>
        </p:txBody>
      </p:sp>
      <p:sp>
        <p:nvSpPr>
          <p:cNvPr id="19" name="Oval 18"/>
          <p:cNvSpPr/>
          <p:nvPr/>
        </p:nvSpPr>
        <p:spPr>
          <a:xfrm>
            <a:off x="6766560" y="4663440"/>
            <a:ext cx="566928" cy="310896"/>
          </a:xfrm>
          <a:prstGeom prst="ellipse">
            <a:avLst/>
          </a:prstGeom>
          <a:solidFill>
            <a:srgbClr val="F5A623"/>
          </a:solidFill>
          <a:ln w="254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4663440"/>
            <a:ext cx="56692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0B1A33"/>
                </a:solidFill>
                <a:latin typeface="Calibri"/>
              </a:rPr>
              <a:t>M04</a:t>
            </a:r>
          </a:p>
        </p:txBody>
      </p:sp>
      <p:sp>
        <p:nvSpPr>
          <p:cNvPr id="21" name="Oval 20"/>
          <p:cNvSpPr/>
          <p:nvPr/>
        </p:nvSpPr>
        <p:spPr>
          <a:xfrm>
            <a:off x="6766560" y="5166360"/>
            <a:ext cx="566928" cy="310896"/>
          </a:xfrm>
          <a:prstGeom prst="ellipse">
            <a:avLst/>
          </a:prstGeom>
          <a:solidFill>
            <a:srgbClr val="F5A623"/>
          </a:solidFill>
          <a:ln w="254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0" y="5166360"/>
            <a:ext cx="56692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0B1A33"/>
                </a:solidFill>
                <a:latin typeface="Calibri"/>
              </a:rPr>
              <a:t>M05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8778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Teacher Cross-Questions (6–10) — Answered by the Topic Owner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05840" cy="508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A623"/>
                </a:solidFill>
                <a:latin typeface="Calibri"/>
              </a:defRPr>
            </a:pPr>
            <a:r>
              <a:t>ATOMIC STRUCTURE  •  FROM THOMSON TO QUANTUM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55778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>
                <a:solidFill>
                  <a:srgbClr val="FFFFFF"/>
                </a:solidFill>
                <a:latin typeface="Calibri"/>
              </a:rPr>
              <a:t>▸  Q6 [MEMBER 06]: Why did most alphas pass straight? — The atom is mostly empty space; most alphas never came near any nucleus (large impact parameter).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>
                <a:solidFill>
                  <a:srgbClr val="FFFFFF"/>
                </a:solidFill>
                <a:latin typeface="Calibri"/>
              </a:rPr>
              <a:t>▸  Q7 [MEMBER 06]: Why were a few greatly deflected? — They passed very close to the tiny dense + nucleus and were violently repelled; small b → large angle, b = 0 → 180° back.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>
                <a:solidFill>
                  <a:srgbClr val="FFFFFF"/>
                </a:solidFill>
                <a:latin typeface="Calibri"/>
              </a:rPr>
              <a:t>▸  Q8 [MEMBER 07]: What is Rutherford's nuclear model? — Small dense positive nucleus holds most mass; electrons revolve around it; rest is empty space.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>
                <a:solidFill>
                  <a:srgbClr val="FFFFFF"/>
                </a:solidFill>
                <a:latin typeface="Calibri"/>
              </a:rPr>
              <a:t>▸  Q9 [MEMBER 07]: Why 'planetary'? — Electrons circle the nucleus like planets circle the Sun, with electrostatic attraction replacing gravity (F = mv²/r).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>
                <a:solidFill>
                  <a:srgbClr val="FFFFFF"/>
                </a:solidFill>
                <a:latin typeface="Calibri"/>
              </a:rPr>
              <a:t>▸  Q10 [MEMBER 09]: Main limit of classical models? — They predict collapse by radiation (~10⁻¹¹ s) and a continuous spectrum — real atoms are stable with sharp line spectra.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46920" y="201168"/>
            <a:ext cx="2011680" cy="411480"/>
          </a:xfrm>
          <a:prstGeom prst="round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B1A33"/>
                </a:solidFill>
                <a:latin typeface="Calibri"/>
              </a:rPr>
              <a:t>MEMBERS 06 · 06 · 07 · 07 · 09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712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4572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ATOMIC STRUCTURE — THOMSON TO QUANTUM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6473952"/>
            <a:ext cx="4114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Q&amp;A — TOPIC OWNERS (SEE TAGS)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Calibri"/>
              </a:rPr>
              <a:t>23 / 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143000"/>
            <a:ext cx="5212080" cy="4709160"/>
          </a:xfrm>
          <a:prstGeom prst="roundRect">
            <a:avLst>
              <a:gd name="adj" fmla="val 8000"/>
            </a:avLst>
          </a:prstGeom>
          <a:solidFill>
            <a:srgbClr val="142A4D"/>
          </a:solidFill>
          <a:ln w="254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146304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1">
                <a:solidFill>
                  <a:srgbClr val="F5A623"/>
                </a:solidFill>
                <a:latin typeface="Calibri"/>
              </a:rPr>
              <a:t>Rule: the tagged owner stands and answers — 2 sentences, then sits.</a:t>
            </a:r>
          </a:p>
          <a:p>
            <a:r>
              <a:rPr sz="1100">
                <a:solidFill>
                  <a:srgbClr val="FFFFFF"/>
                </a:solidFill>
                <a:latin typeface="Calibri"/>
              </a:rPr>
              <a:t>Full Q + A pairs are on the slide left — point at the tag as you answer.</a:t>
            </a:r>
          </a:p>
        </p:txBody>
      </p:sp>
      <p:sp>
        <p:nvSpPr>
          <p:cNvPr id="13" name="Oval 12"/>
          <p:cNvSpPr/>
          <p:nvPr/>
        </p:nvSpPr>
        <p:spPr>
          <a:xfrm>
            <a:off x="6766560" y="3154680"/>
            <a:ext cx="566928" cy="310896"/>
          </a:xfrm>
          <a:prstGeom prst="ellipse">
            <a:avLst/>
          </a:prstGeom>
          <a:solidFill>
            <a:srgbClr val="F5A623"/>
          </a:solidFill>
          <a:ln w="254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3154680"/>
            <a:ext cx="56692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0B1A33"/>
                </a:solidFill>
                <a:latin typeface="Calibri"/>
              </a:rPr>
              <a:t>M06</a:t>
            </a:r>
          </a:p>
        </p:txBody>
      </p:sp>
      <p:sp>
        <p:nvSpPr>
          <p:cNvPr id="15" name="Oval 14"/>
          <p:cNvSpPr/>
          <p:nvPr/>
        </p:nvSpPr>
        <p:spPr>
          <a:xfrm>
            <a:off x="6766560" y="3657600"/>
            <a:ext cx="566928" cy="310896"/>
          </a:xfrm>
          <a:prstGeom prst="ellipse">
            <a:avLst/>
          </a:prstGeom>
          <a:solidFill>
            <a:srgbClr val="F5A623"/>
          </a:solidFill>
          <a:ln w="254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0" y="3657600"/>
            <a:ext cx="56692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0B1A33"/>
                </a:solidFill>
                <a:latin typeface="Calibri"/>
              </a:rPr>
              <a:t>M06</a:t>
            </a:r>
          </a:p>
        </p:txBody>
      </p:sp>
      <p:sp>
        <p:nvSpPr>
          <p:cNvPr id="17" name="Oval 16"/>
          <p:cNvSpPr/>
          <p:nvPr/>
        </p:nvSpPr>
        <p:spPr>
          <a:xfrm>
            <a:off x="6766560" y="4160520"/>
            <a:ext cx="566928" cy="310896"/>
          </a:xfrm>
          <a:prstGeom prst="ellipse">
            <a:avLst/>
          </a:prstGeom>
          <a:solidFill>
            <a:srgbClr val="F5A623"/>
          </a:solidFill>
          <a:ln w="254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0" y="4160520"/>
            <a:ext cx="56692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0B1A33"/>
                </a:solidFill>
                <a:latin typeface="Calibri"/>
              </a:rPr>
              <a:t>M07</a:t>
            </a:r>
          </a:p>
        </p:txBody>
      </p:sp>
      <p:sp>
        <p:nvSpPr>
          <p:cNvPr id="19" name="Oval 18"/>
          <p:cNvSpPr/>
          <p:nvPr/>
        </p:nvSpPr>
        <p:spPr>
          <a:xfrm>
            <a:off x="6766560" y="4663440"/>
            <a:ext cx="566928" cy="310896"/>
          </a:xfrm>
          <a:prstGeom prst="ellipse">
            <a:avLst/>
          </a:prstGeom>
          <a:solidFill>
            <a:srgbClr val="F5A623"/>
          </a:solidFill>
          <a:ln w="254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4663440"/>
            <a:ext cx="56692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0B1A33"/>
                </a:solidFill>
                <a:latin typeface="Calibri"/>
              </a:rPr>
              <a:t>M07</a:t>
            </a:r>
          </a:p>
        </p:txBody>
      </p:sp>
      <p:sp>
        <p:nvSpPr>
          <p:cNvPr id="21" name="Oval 20"/>
          <p:cNvSpPr/>
          <p:nvPr/>
        </p:nvSpPr>
        <p:spPr>
          <a:xfrm>
            <a:off x="6766560" y="5166360"/>
            <a:ext cx="566928" cy="310896"/>
          </a:xfrm>
          <a:prstGeom prst="ellipse">
            <a:avLst/>
          </a:prstGeom>
          <a:solidFill>
            <a:srgbClr val="F5A623"/>
          </a:solidFill>
          <a:ln w="254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0" y="5166360"/>
            <a:ext cx="56692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0B1A33"/>
                </a:solidFill>
                <a:latin typeface="Calibri"/>
              </a:rPr>
              <a:t>M09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8778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Conclusion — From Solid Ball to Probability Cloud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05840" cy="508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A623"/>
                </a:solidFill>
                <a:latin typeface="Calibri"/>
              </a:defRPr>
            </a:pPr>
            <a:r>
              <a:t>ATOMIC STRUCTURE  •  FROM THOMSON TO QUANTUM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55778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FFFFFF"/>
                </a:solidFill>
                <a:latin typeface="Calibri"/>
              </a:rPr>
              <a:t>▸  Dalton (1808) gave us atoms; Thomson (1897/1904) gave us the electron and the first inner model — neutral but nucleus-free and soon broken.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FFFFFF"/>
                </a:solidFill>
                <a:latin typeface="Calibri"/>
              </a:rPr>
              <a:t>▸  Rutherford (1909–1911) gave us the nucleus and the planetary picture — tiny dense centre (10⁻¹⁵–10⁻¹⁴ m) in vast emptiness (10⁻¹⁰ m) — broken in turn by stability and spectra.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FFFFFF"/>
                </a:solidFill>
                <a:latin typeface="Calibri"/>
              </a:rPr>
              <a:t>▸  Bohr (1913) quantised the orbits (L = n·h/2π, ΔE = hν, En = −13.6/n² eV) and saved hydrogen's lines; quantum theory (Heisenberg–Schrödinger) replaced orbits with orbitals.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FFFFFF"/>
                </a:solidFill>
                <a:latin typeface="Calibri"/>
              </a:rPr>
              <a:t>▸  Method to remember: experiment breaks theory, numbers decide — e/m, 1 in 8000, 10⁻¹⁰ m, 10⁻¹¹ s, −13.6 eV are the fingerprints of each break.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>
                <a:solidFill>
                  <a:srgbClr val="FFFFFF"/>
                </a:solidFill>
                <a:latin typeface="Calibri"/>
              </a:rPr>
              <a:t>▸  “Respected teacher and friends, thank you for listening to our presentation. We are ready for questions.”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46920" y="201168"/>
            <a:ext cx="2011680" cy="411480"/>
          </a:xfrm>
          <a:prstGeom prst="round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B1A33"/>
                </a:solidFill>
                <a:latin typeface="Calibri"/>
              </a:rPr>
              <a:t>MEMBERS 01–10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712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4572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ATOMIC STRUCTURE — THOMSON TO QUANTUM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6473952"/>
            <a:ext cx="4114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ALL MEMBERS 01–10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Calibri"/>
              </a:rPr>
              <a:t>24 / 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143000"/>
            <a:ext cx="5212080" cy="4709160"/>
          </a:xfrm>
          <a:prstGeom prst="roundRect">
            <a:avLst>
              <a:gd name="adj" fmla="val 8000"/>
            </a:avLst>
          </a:prstGeom>
          <a:solidFill>
            <a:srgbClr val="142A4D"/>
          </a:solidFill>
          <a:ln w="254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0" y="1508760"/>
            <a:ext cx="44805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5A623"/>
                </a:solidFill>
                <a:latin typeface="Calibri"/>
              </a:rPr>
              <a:t>SOLID BALL  →  PUDDING  →  NUCLEUS  →  ORBITS  →  CLOUDS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Calibri"/>
              </a:rPr>
              <a:t>Experiment breaks theory.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Calibri"/>
              </a:rPr>
              <a:t>Numbers decide.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Calibri"/>
              </a:rPr>
              <a:t>You are ready for questions.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4526280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 b="1">
                <a:solidFill>
                  <a:srgbClr val="F5A623"/>
                </a:solidFill>
                <a:latin typeface="Calibri"/>
              </a:rPr>
              <a:t>“Respected teacher and friends, thank you for listening. We are ready for questions.”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8778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References, Sources &amp; Image Credits — Trace Every Claim and Picture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05840" cy="508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A623"/>
                </a:solidFill>
                <a:latin typeface="Calibri"/>
              </a:defRPr>
            </a:pPr>
            <a:r>
              <a:t>ATOMIC STRUCTURE  •  FROM THOMSON TO QUANTUM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55778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00">
                <a:solidFill>
                  <a:srgbClr val="FFFFFF"/>
                </a:solidFill>
                <a:latin typeface="Calibri"/>
              </a:rPr>
              <a:t>▸  Teaching source (primary): 'Atomic Structure — Detailed Teach-the-Teacher Script' (8 pp., 10-member script) — all dates, numbers, equations and 10 Q&amp;A above come from it.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00">
                <a:solidFill>
                  <a:srgbClr val="FFFFFF"/>
                </a:solidFill>
                <a:latin typeface="Calibri"/>
              </a:rPr>
              <a:t>▸  Supplementary science (standard values, flagged in notes): Balmer/Rydberg context, Bohr constants, Heisenberg 1927 / Schrödinger 1926 framing — verify against your course textbook.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00">
                <a:solidFill>
                  <a:srgbClr val="FFFFFF"/>
                </a:solidFill>
                <a:latin typeface="Calibri"/>
              </a:rPr>
              <a:t>▸  Historic images (Wikimedia Commons, accessed 2026-10-15): J.J. Thomson pre-1915 photo (PD-old); Rutherford — Bain News Service via LoC LCCN 2014716719, rest. Bammesk (PD-US); Bohr c.1922 AB Lagrelius &amp; Westphal (PD); Geiger–Marsden 1913 apparatus diagram (PD, low-res — redrawn on slides); H spectrum — Umop503 (CC0); orbital densities — PoorLeno (PD); CRT photo — P. Hebels (PD, illustrative).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00">
                <a:solidFill>
                  <a:srgbClr val="FFFFFF"/>
                </a:solidFill>
                <a:latin typeface="Calibri"/>
              </a:rPr>
              <a:t>▸  Diagrams labelled 'custom schematic' were drawn natively in PowerPoint for accuracy (CRT, pudding, gold-foil paths, impact parameter, nucleus, scale, spiral, Bohr ladder, timelines) — not to scale unless stated.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00">
                <a:solidFill>
                  <a:srgbClr val="FFFFFF"/>
                </a:solidFill>
                <a:latin typeface="Calibri"/>
              </a:rPr>
              <a:t>▸  Full per-asset record: work/image_asset_manifest.csv (filename, slide, source URL, creator, licence, attribution, caption, date). Placeholders: team/college names are [TBD] — replace before delivery.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46920" y="201168"/>
            <a:ext cx="2011680" cy="411480"/>
          </a:xfrm>
          <a:prstGeom prst="round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/>
            </a:pPr>
            <a:r>
              <a:rPr sz="1200" b="1">
                <a:solidFill>
                  <a:srgbClr val="0B1A33"/>
                </a:solidFill>
                <a:latin typeface="Calibri"/>
              </a:rPr>
              <a:t>ALL MEMBERS 01–10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712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4572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ATOMIC STRUCTURE — THOMSON TO QUANTUM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6473952"/>
            <a:ext cx="4114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ALL MEMBERS 01–10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Calibri"/>
              </a:rPr>
              <a:t>25 / 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143000"/>
            <a:ext cx="5212080" cy="4709160"/>
          </a:xfrm>
          <a:prstGeom prst="roundRect">
            <a:avLst>
              <a:gd name="adj" fmla="val 8000"/>
            </a:avLst>
          </a:prstGeom>
          <a:solidFill>
            <a:srgbClr val="142A4D"/>
          </a:solidFill>
          <a:ln w="25400">
            <a:solidFill>
              <a:srgbClr val="5A6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1417320"/>
            <a:ext cx="4572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FFFFFF"/>
                </a:solidFill>
                <a:latin typeface="Calibri"/>
              </a:rPr>
              <a:t>▸  PRIMARY: Teach-the-Teacher Script (8 pp.) — all dates/numbers/Q&amp;A.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FFFFFF"/>
                </a:solidFill>
                <a:latin typeface="Calibri"/>
              </a:rPr>
              <a:t>▸  SUPPL: Rydberg R, Bohr constants, 1926–27 quantum framing — check textbook.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FFFFFF"/>
                </a:solidFill>
                <a:latin typeface="Calibri"/>
              </a:rPr>
              <a:t>▸  IMAGES: Commons PD/CC0 (see manifest) — Thomson / Rutherford (LoC) / Bohr / Geiger–Marsden / Umop503 / PoorLeno / Hebels.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FFFFFF"/>
                </a:solidFill>
                <a:latin typeface="Calibri"/>
              </a:rPr>
              <a:t>▸  DIAGRAMS: custom PPT schematics — not to scale unless stated.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FFFFFF"/>
                </a:solidFill>
                <a:latin typeface="Calibri"/>
              </a:rPr>
              <a:t>▸  MANIFEST: work/image_asset_manifest.csv • Accessed 2026-10-15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