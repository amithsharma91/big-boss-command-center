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Atomic Structure — Detailed Teach-the-Teacher Script</a:t>
            </a:r>
          </a:p>
          <a:p>
            <a:r>
              <a:t>10-member group script. Say it in your own words, but make sure every point is covered.</a:t>
            </a:r>
          </a:p>
          <a:p>
            <a:r>
              <a:t>Each member ends with a handoff line so the flow never breaks.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(All Members Together)</a:t>
            </a:r>
          </a:p>
          <a:p>
            <a:r>
              <a:t>Respected teacher and friends, today our group will teach Atomic Structure. We will explain the Thomson model, the Rutherford model, and the limitations of classical models. We will go step by step: how the electron was discovered, how Thomson used it to build a model, how Rutherford's experiment broke that model, and finally why even Rutherford's model had to be replaced.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 Introduction to Atomic Structure</a:t>
            </a:r>
          </a:p>
          <a:p>
            <a:r>
              <a:t>Let me begin. Our flow today is: introduction to atomic structure, discovery of the electron, Thomson's plum pudding model and its limitations, Rutherford's gold foil experiment and its observations, Rutherford's nuclear model, a comparison of the two models, limitations of classical models, and finally the conclusion with modern atomic theory.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 Introduction to Atomic Structure</a:t>
            </a:r>
          </a:p>
          <a:p>
            <a:r>
              <a:t>Now the basics. The word atom comes from the Greek word atomos, which means indivisible. The idea is very old, but in 1808 John Dalton turned it into a scientific theory. He proposed that matter is made of tiny particles called atoms, that atoms of one element are identical, and that atoms combine in fixed ratios to form compounds. In Dalton's picture, the atom was like a tiny solid ball that can never be broken.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 Introduction to Atomic Structure</a:t>
            </a:r>
          </a:p>
          <a:p>
            <a:r>
              <a:t>But later experiments, such as electrolysis and electric discharge through gases, showed that atoms are connected to electricity, which means they must have smaller parts inside. So atoms are divisible. We now know that an atom contains three subatomic particles. The electron has a negative charge of 1.6 × 10⁻¹⁹ coulomb and a tiny mass of about 9.1 × 10⁻³¹ kg. The proton has the same amount of charge but positive, and it is about 1836 times heavier than the electron. The neutron, discovered later by Chadwick in 1932, has no charge and a mass almost equal to the proton.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 Introduction to Atomic Structure</a:t>
            </a:r>
          </a:p>
          <a:p>
            <a:r>
              <a:t>Once we know these particles exist, the big question is: how are they arranged inside the atom? Atomic models are scientists' attempts to answer exactly this question. The first step was the discovery of the electron, which my fellow member will explain.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 Discovery of Electron</a:t>
            </a:r>
          </a:p>
          <a:p>
            <a:r>
              <a:t>The electron was discovered by J.J. Thomson in 1897 while studying cathode rays. Let me explain the apparatus first. A cathode ray tube is a sealed glass tube containing a gas at very low pressure. When a high voltage is applied across two electrodes, the cathode and the anode, rays travel from the cathode to the anode. We call them cathode rays.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 Discovery of Electron</a:t>
            </a:r>
          </a:p>
          <a:p>
            <a:r>
              <a:t>These rays have interesting properties. They travel in straight lines, they cast the shadow of any object placed in their path, they make a small paddle wheel rotate, and they make the glass or a fluorescent screen glow. Most importantly, they are deflected by electric and magnetic fields. In an electric field they bend towards the positive plate, which proves that cathode rays are negatively charged.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 Discovery of Electron</a:t>
            </a:r>
          </a:p>
          <a:p>
            <a:r>
              <a:t>Thomson then adjusted the electric and magnetic fields so that their deflections cancelled each other. Using this, he measured the charge-to-mass ratio, e/m = 1.76 × 10¹¹ C/kg. This value is about 1800 times larger than the value for a hydrogen ion, which means the particle is extremely light. And the ratio stayed the same whatever gas or cathode material he used. So these particles are a common part of every atom. These particles were named electrons.</a:t>
            </a:r>
          </a:p>
          <a:p>
            <a:r>
              <a:t>The conclusion is simple: the atom is divisible. Later, Millikan's oil drop experiment measured the charge of the electron separately. Now my fellow member will explain the model Thomson built using this discovery.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 Thomson Plum Pudding Model</a:t>
            </a:r>
          </a:p>
          <a:p>
            <a:r>
              <a:t>Once Thomson knew that electrons exist inside atoms, he had to answer: if electrons are negative and the atom is neutral, where is the positive charge? In 1904 he proposed his model.</a:t>
            </a:r>
          </a:p>
          <a:p>
            <a:r>
              <a:t>According to Thomson, the atom is a sphere of positive charge, with a radius of about 10⁻¹⁰ metre. The electrons are embedded inside this sphere. That is why it is called the plum pudding model: the pudding is the positive charge and the plums are the electrons. It is also called the watermelon model, where the red pulp is the positive charge and the seeds are the electrons.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 Thomson Plum Pudding Model</a:t>
            </a:r>
          </a:p>
          <a:p>
            <a:r>
              <a:t>The key idea is that the total positive charge equals the total negative charge, so the atom is electrically neutral. The positive charge is spread uniformly throughout the atom, and there is no nucleus in this model. Thomson also said electrons can vibrate about their positions, and he used this to try to explain how atoms emit light.</a:t>
            </a:r>
          </a:p>
          <a:p>
            <a:r>
              <a:t>The model could explain neutrality and the fact that electrons can be removed from atoms. But it soon ran into serious trouble, which my fellow member will now explain.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 — Limitations of Thomson Model</a:t>
            </a:r>
          </a:p>
          <a:p>
            <a:r>
              <a:t>Thomson's model failed for several reasons.</a:t>
            </a:r>
          </a:p>
          <a:p>
            <a:r>
              <a:t>First, it could not explain large-angle alpha scattering. If positive charge is spread over the whole atom, the electric field inside is weak, so an alpha particle should only be pushed slightly. Also, an alpha particle is about 7300 times heavier than an electron, so electrons cannot deflect it either. It is like a bus hitting ping-pong balls: the bus will not bounce back. The model predicted only tiny deflections, but experiments showed otherwise.</a:t>
            </a:r>
          </a:p>
          <a:p>
            <a:r>
              <a:t>Second, it did not introduce a nucleus. It assumed that positive charge is spread throughout the atom.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 — Limitations of Thomson Model</a:t>
            </a:r>
          </a:p>
          <a:p>
            <a:r>
              <a:t>Third, it could not properly explain line spectra. Real atoms emit light only at particular wavelengths, but Thomson's vibrating electrons could not give these exact lines.</a:t>
            </a:r>
          </a:p>
          <a:p>
            <a:r>
              <a:t>Fourth, it could not fully explain atomic stability. A set of charges sitting still cannot stay in stable balance using electrostatic forces alone.</a:t>
            </a:r>
          </a:p>
          <a:p>
            <a:r>
              <a:t>Finally, the model failed to match Rutherford's experiment. So Rutherford proposed a new model. Let us see how he tested Thomson's idea.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5 — Rutherford Gold Foil Experiment (Setup)</a:t>
            </a:r>
          </a:p>
          <a:p>
            <a:r>
              <a:t>This experiment was performed by Rutherford, Geiger, and Marsden around 1909 at Manchester. The aim was to test Thomson's model by firing fast particles at atoms and watching how they get deflected.</a:t>
            </a:r>
          </a:p>
          <a:p>
            <a:r>
              <a:t>Now the setup. The alpha source was a radioactive material like radium or polonium. Alpha particles are helium nuclei, carrying a charge of +2e and moving at very high speed, about 10⁷ metre per second. The source was placed inside a lead block with a narrow hole, which produced a thin, narrow beam of alpha particles, because lead absorbs the rest.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5 — Rutherford Gold Foil Experiment (Setup)</a:t>
            </a:r>
          </a:p>
          <a:p>
            <a:r>
              <a:t>The beam was aimed at a very thin gold foil, only a few hundred atoms thick. Gold was chosen because it is highly malleable and can be hammered into extremely thin sheets, and its nucleus has a large charge of +79. Around the foil was a zinc sulphide screen. When an alpha particle hits it, it produces a tiny flash of light called a scintillation. A microscope was used to observe and count these scintillations at different angles. The whole apparatus was kept in a vacuum so that alpha particles would not scatter off air molecules.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5 — Rutherford Gold Foil Experiment (Setup)</a:t>
            </a:r>
          </a:p>
          <a:p>
            <a:r>
              <a:t>Expected result: according to Thomson's model, almost all alpha particles should go through with only small deflections. But the actual results were very surprising, as my fellow member will explain.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6 — Observations of Rutherford Experiment</a:t>
            </a:r>
          </a:p>
          <a:p>
            <a:r>
              <a:t>There were three main observations, and each gave a conclusion.</a:t>
            </a:r>
          </a:p>
          <a:p>
            <a:r>
              <a:t>Observation 1: Most alpha particles passed straight through the foil without any deflection. Conclusion: the atom is mostly empty space.</a:t>
            </a:r>
          </a:p>
          <a:p>
            <a:r>
              <a:t>Observation 2: Some alpha particles were deflected by small angles. Conclusion: positive charge exists inside the atom, and it repelled the positively charged alpha particles. About 0.14% of particles were deflected by more than 1 degree.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6 — Observations of Rutherford Experiment</a:t>
            </a:r>
          </a:p>
          <a:p>
            <a:r>
              <a:t>Observation 3: Very few alpha particles, about 1 in 8000, were deflected through large angles of more than 90 degrees, and some even bounced straight back. Conclusion: the positive charge and almost all the mass are concentrated in a tiny, dense nucleus. Only a head-on collision with such a concentrated charge could throw back a fast, heavy alpha particle. Rutherford later said it was like firing a huge shell at a piece of tissue paper and seeing it come back. This was the most surprising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6 — Observations of Rutherford Experiment</a:t>
            </a:r>
          </a:p>
          <a:p>
            <a:r>
              <a:t>The amount of deflection depends on the impact parameter, which is the perpendicular distance between the alpha particle's original path and the centre of the nucleus. A small impact parameter means a close approach and a large deflection, and a head-on approach, with impact parameter zero, makes the particle bounce back at 180 degrees. A large impact parameter means a small deflection.</a:t>
            </a:r>
          </a:p>
          <a:p>
            <a:r>
              <a:t>From this data, Rutherford built a new model, which my fellow member will explain.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7 — Rutherford Nuclear Model</a:t>
            </a:r>
          </a:p>
          <a:p>
            <a:r>
              <a:t>Based on these observations Rutherford proposed the nuclear model in 1911.</a:t>
            </a:r>
          </a:p>
          <a:p>
            <a:r>
              <a:t>According to it, the atom has a small, dense, positively charged nucleus at the centre. Most of the atom's mass is present in the nucleus. The electrons revolve around the nucleus in circular orbits, and most of the atom is empty space. Because electrons orbit the nucleus like planets orbit the sun, it is also called the planetary model.</a:t>
            </a:r>
          </a:p>
          <a:p>
            <a:r>
              <a:t>What keeps electrons in orbit? Just as gravity keeps planets in orbit, the electrostatic force of attraction between the positive nucleus and the negative electron provides the centripetal force. We can write this as: the Coulomb force equals mv²/r.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7 — Rutherford Nuclear Model</a:t>
            </a:r>
          </a:p>
          <a:p>
            <a:r>
              <a:t>The sizes are important. The nucleus radius is about 10⁻¹⁵ to 10⁻¹⁴ metre, while the atom radius is about 10⁻¹⁰ metre. That means the atom is about 10,000 to 100,000 times larger than its nucleus. If the atom were as big as a football stadium, the nucleus would be like a tiny seed at the centre.</a:t>
            </a:r>
          </a:p>
          <a:p>
            <a:r>
              <a:t>This model explains alpha scattering perfectly: the nucleus has a strong electric field close to it, so a nearby alpha particle gets strongly repelled, while most alpha particles never come close to any nucleus and go straight. Now my fellow member will compare Thomson's and Rutherford's models.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8 — Thomson vs Rutherford</a:t>
            </a:r>
          </a:p>
          <a:p>
            <a:r>
              <a:t>Let us compare both models. The main difference is the position of the positive charge.</a:t>
            </a:r>
          </a:p>
          <a:p>
            <a:r>
              <a:t> / Thomson model / Rutherford model | Positive charge / Spread throughout the atom / Concentrated in the nucleus | Electrons / Embedded in the positive sphere / Revolve around the nucleus | Nucleus / No nucleus / Nucleus present | Alpha scattering / Failed to explain it / Successfully explained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8 — Thomson vs Rutherford</a:t>
            </a:r>
          </a:p>
          <a:p>
            <a:r>
              <a:t>So Thomson imagined a uniform, filled atom, while Rutherford showed that the atom is mostly empty with a tiny dense centre. Thomson's contribution was proving that electrons exist inside atoms. Rutherford's contribution was discovering the nucleus. Each model improved on the previous one using experimental evidence.</a:t>
            </a:r>
          </a:p>
          <a:p>
            <a:r>
              <a:t>But there is one thing common to both: they were classical models, based on classical physics. And classical models also had serious limitations, which my fellow member will explain.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9 — Limitations of Classical Models</a:t>
            </a:r>
          </a:p>
          <a:p>
            <a:r>
              <a:t>Rutherford's model was a big step, but it also failed, because of classical physics.</a:t>
            </a:r>
          </a:p>
          <a:p>
            <a:r>
              <a:t>In a circular orbit, the electron is constantly changing direction, so it is accelerated. Classical physics, specifically Maxwell's electromagnetic theory, says that an accelerated charge radiates energy in the form of electromagnetic waves. So the electron should lose energy continuously. As it loses energy, its orbit should shrink, and it should spiral into the nucleus. Calculations show this would take only about 10⁻¹¹ second. So the atom should collapse. But in reality, atoms are stable.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9 — Limitations of Classical Models</a:t>
            </a:r>
          </a:p>
          <a:p>
            <a:r>
              <a:t>The second problem is the spectrum. Since the electron would spiral inward, its frequency would change continuously, so the classical model predicts a continuous spectrum, with all wavelengths. But real atoms, like hydrogen, show a line spectrum, only specific wavelengths such as the Balmer series in the visible region. These lines follow the Rydberg formula, which Rutherford's model could not explain.</a:t>
            </a:r>
          </a:p>
          <a:p>
            <a:r>
              <a:t>Therefore, classical physics fails at the atomic scale, and a new theory was needed. Let us see how it was solved.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10 — Conclusion and Modern Atomic Theory</a:t>
            </a:r>
          </a:p>
          <a:p>
            <a:r>
              <a:t>To conclude: Thomson discovered the electron and proposed the plum pudding model. Rutherford discovered the nucleus and proposed the planetary model. But classical models failed to explain stability and spectra.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10 — Conclusion and Modern Atomic Theory</a:t>
            </a:r>
          </a:p>
          <a:p>
            <a:r>
              <a:t>In 1913, Niels Bohr fixed this with three ideas. First, electrons move only in certain stationary orbits and do not radiate energy while in them. Second, only orbits where the angular momentum is a whole-number multiple of h/2π are allowed, which means orbits are quantised. Third, an electron emits or absorbs light only when it jumps between orbits, and the energy is hν, the difference between the two energy levels. This explained the hydrogen line spectrum. For hydrogen, the energy levels are −13.6/n² electron volts.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10 — Conclusion and Modern Atomic Theory</a:t>
            </a:r>
          </a:p>
          <a:p>
            <a:r>
              <a:t>But Bohr's model worked only for hydrogen-like atoms. So the modern quantum model was developed, based on Heisenberg's uncertainty principle and Schrödinger's wave equation. It says we cannot know the exact path of an electron, only the probability of finding it in a region of space. Such a region is called an orbital, described by quantum numbers.</a:t>
            </a:r>
          </a:p>
          <a:p>
            <a:r>
              <a:t>The timeline is: Dalton → Thomson → Rutherford → Bohr → Quantum Model. Atomic theory developed through experiments and the correction of old models.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Revision (Any Member)</a:t>
            </a:r>
          </a:p>
          <a:p>
            <a:r>
              <a:t>Quick revision. The electron was discovered by J.J. Thomson in 1897. The Thomson model is the plum pudding model and has no nucleus. Rutherford's experiment is the gold foil, or alpha scattering, experiment. Rutherford discovered the nucleus, and his model is the planetary model. Classical models failed to explain stability and line spectra. Bohr introduced quantised orbits, and the modern model uses orbitals.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(All Members Together)</a:t>
            </a:r>
          </a:p>
          <a:p>
            <a:r>
              <a:t>Respected teacher and friends, thank you for listening to our presentation. We are ready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Suggestion: let the member who presented that topic answer, instead of leaving all ten to Member 10.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1. What is an atom? (Member 1) The smallest particle of an element that can take part in chemical reactions. It was once thought indivisible, but it contains electrons, protons, and neutrons.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2. Why is the Thomson model called the plum pudding model? (Member 3) Because electrons are embedded in a positive sphere, like plums in a pudding or seeds in a watermelon.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3. What are cathode rays? (Member 2) Streams of negatively charged particles, called electrons, that travel from cathode to anode in a low-pressure gas tube. They are deflected by electric and magnetic fields.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4. Why did the Thomson model fail? (Member 4) It could not explain large-angle scattering of alpha particles, had no nucleus, and could not explain line spectra or stability.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5. What are alpha particles? (Member 5) Helium nuclei, two protons and two neutrons, with charge +2e. They are emitted by radioactive elements like radium and polonium.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6. Why did most alpha particles pass straight? (Member 6) Because the atom is mostly empty space, and most particles never came near a nucleus.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7. Why were some alpha particles deflected greatly? (Member 6) Because they came very close to the tiny, dense, positively charged nucleus and were strongly repelled. A small impact parameter gives a large deflection.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8. What is the Rutherford nuclear model? (Member 7) The atom has a small, dense, positive nucleus containing most of the mass, with electrons revolving around it. Most of the atom is empty space.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9. Why is the Rutherford model called the planetary model? (Member 7) Because electrons revolve around the nucleus like planets around the sun, with electrostatic force playing the role of gravity.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Cross Questions — Detailed Answers</a:t>
            </a:r>
          </a:p>
          <a:p>
            <a:r>
              <a:t>10. What is the main limitation of classical models? (Member 9) They cannot explain atomic stability, since an orbiting electron should radiate energy and spiral into the nucleus, and they cannot explain line spectra, since they predict a continuous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640080" y="822960"/>
            <a:ext cx="10881360" cy="2743200"/>
          </a:xfrm>
          <a:prstGeom prst="rect">
            <a:avLst/>
          </a:prstGeom>
          <a:noFill/>
        </p:spPr>
        <p:txBody>
          <a:bodyPr wrap="square">
            <a:spAutoFit/>
          </a:bodyPr>
          <a:lstStyle/>
          <a:p>
            <a:pPr algn="ctr"/>
            <a:r>
              <a:rPr sz="3800" b="1">
                <a:solidFill>
                  <a:srgbClr val="0B1A33"/>
                </a:solidFill>
                <a:latin typeface="Calibri"/>
              </a:rPr>
              <a:t>Atomic Structure — Detailed Teach-the-Teacher Script</a:t>
            </a:r>
          </a:p>
        </p:txBody>
      </p:sp>
      <p:sp>
        <p:nvSpPr>
          <p:cNvPr id="3" name="TextBox 2"/>
          <p:cNvSpPr txBox="1"/>
          <p:nvPr/>
        </p:nvSpPr>
        <p:spPr>
          <a:xfrm>
            <a:off x="1097280" y="3840480"/>
            <a:ext cx="9966960" cy="4937760"/>
          </a:xfrm>
          <a:prstGeom prst="rect">
            <a:avLst/>
          </a:prstGeom>
          <a:noFill/>
        </p:spPr>
        <p:txBody>
          <a:bodyPr wrap="square">
            <a:spAutoFit/>
          </a:bodyPr>
          <a:lstStyle/>
          <a:p>
            <a:pPr algn="ctr">
              <a:spcBef>
                <a:spcPts val="0"/>
              </a:spcBef>
              <a:spcAft>
                <a:spcPts val="1200"/>
              </a:spcAft>
            </a:pPr>
            <a:r>
              <a:rPr sz="2000">
                <a:solidFill>
                  <a:srgbClr val="1A2332"/>
                </a:solidFill>
                <a:latin typeface="Calibri"/>
              </a:rPr>
              <a:t>10-member group script. Say it in your own words, but make sure every point is covered.</a:t>
            </a:r>
          </a:p>
          <a:p>
            <a:pPr algn="ctr">
              <a:spcBef>
                <a:spcPts val="0"/>
              </a:spcBef>
              <a:spcAft>
                <a:spcPts val="1200"/>
              </a:spcAft>
            </a:pPr>
            <a:r>
              <a:rPr sz="2000">
                <a:solidFill>
                  <a:srgbClr val="1A2332"/>
                </a:solidFill>
                <a:latin typeface="Calibri"/>
              </a:rPr>
              <a:t>Each member ends with a handoff line so the flow never breaks.</a:t>
            </a:r>
          </a:p>
        </p:txBody>
      </p:sp>
      <p:sp>
        <p:nvSpPr>
          <p:cNvPr id="4" name="Rounded Rectangle 3"/>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ALL MEMBERS</a:t>
            </a:r>
          </a:p>
        </p:txBody>
      </p:sp>
      <p:sp>
        <p:nvSpPr>
          <p:cNvPr id="5" name="Rectangle 4"/>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01 / 41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Opening (All Members Together)</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Respected teacher and friends, today our group will teach </a:t>
            </a:r>
            <a:r>
              <a:rPr b="1" sz="2000">
                <a:solidFill>
                  <a:srgbClr val="1A2332"/>
                </a:solidFill>
                <a:latin typeface="Calibri"/>
              </a:rPr>
              <a:t>Atomic Structure</a:t>
            </a:r>
            <a:r>
              <a:rPr sz="2000">
                <a:solidFill>
                  <a:srgbClr val="1A2332"/>
                </a:solidFill>
                <a:latin typeface="Calibri"/>
              </a:rPr>
              <a:t>. We will explain the Thomson model, the Rutherford model, and the limitations of classical models. We will go step by step: how the electron was discovered, how Thomson used it to build a model, how Rutherford's experiment broke that model, and finally why even Rutherford's model had to be replaced.</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ALL MEMBERS</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02 / 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1 — Introduction to Atomic Structure</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Let me begin. Our flow today is: introduction to atomic structure, discovery of the electron, Thomson's plum pudding model and its limitations, Rutherford's gold foil experiment and its observations, Rutherford's nuclear model, a comparison of the two models, limitations of classical models, and finally the conclusion with modern atomic theory.</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01</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03 /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1 — Introduction to Atomic Structure</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Now the basics. The word </a:t>
            </a:r>
            <a:r>
              <a:rPr i="1" sz="2000">
                <a:solidFill>
                  <a:srgbClr val="1A2332"/>
                </a:solidFill>
                <a:latin typeface="Calibri"/>
              </a:rPr>
              <a:t>atom</a:t>
            </a:r>
            <a:r>
              <a:rPr sz="2000">
                <a:solidFill>
                  <a:srgbClr val="1A2332"/>
                </a:solidFill>
                <a:latin typeface="Calibri"/>
              </a:rPr>
              <a:t> comes from the Greek word </a:t>
            </a:r>
            <a:r>
              <a:rPr i="1" sz="2000">
                <a:solidFill>
                  <a:srgbClr val="1A2332"/>
                </a:solidFill>
                <a:latin typeface="Calibri"/>
              </a:rPr>
              <a:t>atomos</a:t>
            </a:r>
            <a:r>
              <a:rPr sz="2000">
                <a:solidFill>
                  <a:srgbClr val="1A2332"/>
                </a:solidFill>
                <a:latin typeface="Calibri"/>
              </a:rPr>
              <a:t>, which means </a:t>
            </a:r>
            <a:r>
              <a:rPr b="1" sz="2000">
                <a:solidFill>
                  <a:srgbClr val="1A2332"/>
                </a:solidFill>
                <a:latin typeface="Calibri"/>
              </a:rPr>
              <a:t>indivisible</a:t>
            </a:r>
            <a:r>
              <a:rPr sz="2000">
                <a:solidFill>
                  <a:srgbClr val="1A2332"/>
                </a:solidFill>
                <a:latin typeface="Calibri"/>
              </a:rPr>
              <a:t>. The idea is very old, but in 1808 John Dalton turned it into a scientific theory. He proposed that matter is made of tiny particles called atoms, that atoms of one element are identical, and that atoms combine in fixed ratios to form compounds. In Dalton's picture, the atom was like a tiny solid ball that can never be broken.</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01</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04 / 41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1 — Introduction to Atomic Structure</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But later experiments, such as electrolysis and electric discharge through gases, showed that atoms are connected to electricity, which means they must have smaller parts inside. So atoms are </a:t>
            </a:r>
            <a:r>
              <a:rPr b="1" sz="2000">
                <a:solidFill>
                  <a:srgbClr val="1A2332"/>
                </a:solidFill>
                <a:latin typeface="Calibri"/>
              </a:rPr>
              <a:t>divisible</a:t>
            </a:r>
            <a:r>
              <a:rPr sz="2000">
                <a:solidFill>
                  <a:srgbClr val="1A2332"/>
                </a:solidFill>
                <a:latin typeface="Calibri"/>
              </a:rPr>
              <a:t>. We now know that an atom contains three subatomic particles. The </a:t>
            </a:r>
            <a:r>
              <a:rPr b="1" sz="2000">
                <a:solidFill>
                  <a:srgbClr val="1A2332"/>
                </a:solidFill>
                <a:latin typeface="Calibri"/>
              </a:rPr>
              <a:t>electron</a:t>
            </a:r>
            <a:r>
              <a:rPr sz="2000">
                <a:solidFill>
                  <a:srgbClr val="1A2332"/>
                </a:solidFill>
                <a:latin typeface="Calibri"/>
              </a:rPr>
              <a:t> has a negative charge of 1.6 × 10⁻¹⁹ coulomb and a tiny mass of about 9.1 × 10⁻³¹ kg. The </a:t>
            </a:r>
            <a:r>
              <a:rPr b="1" sz="2000">
                <a:solidFill>
                  <a:srgbClr val="1A2332"/>
                </a:solidFill>
                <a:latin typeface="Calibri"/>
              </a:rPr>
              <a:t>proton</a:t>
            </a:r>
            <a:r>
              <a:rPr sz="2000">
                <a:solidFill>
                  <a:srgbClr val="1A2332"/>
                </a:solidFill>
                <a:latin typeface="Calibri"/>
              </a:rPr>
              <a:t> has the same amount of charge but positive, and it is about 1836 times heavier than the electron. The </a:t>
            </a:r>
            <a:r>
              <a:rPr b="1" sz="2000">
                <a:solidFill>
                  <a:srgbClr val="1A2332"/>
                </a:solidFill>
                <a:latin typeface="Calibri"/>
              </a:rPr>
              <a:t>neutron</a:t>
            </a:r>
            <a:r>
              <a:rPr sz="2000">
                <a:solidFill>
                  <a:srgbClr val="1A2332"/>
                </a:solidFill>
                <a:latin typeface="Calibri"/>
              </a:rPr>
              <a:t>, discovered later by Chadwick in 1932, has no charge and a mass almost equal to the proton.</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01</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05 / 41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1 — Introduction to Atomic Structure</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Once we know these particles exist, the big question is: how are they arranged inside the atom? Atomic models are scientists' attempts to answer exactly this question. The first step was the discovery of the electron, which my fellow member will explain.</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01</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06 / 41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2 — Discovery of Electron</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667512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The electron was discovered by J.J. Thomson in </a:t>
            </a:r>
            <a:r>
              <a:rPr b="1" sz="2000">
                <a:solidFill>
                  <a:srgbClr val="1A2332"/>
                </a:solidFill>
                <a:latin typeface="Calibri"/>
              </a:rPr>
              <a:t>1897</a:t>
            </a:r>
            <a:r>
              <a:rPr sz="2000">
                <a:solidFill>
                  <a:srgbClr val="1A2332"/>
                </a:solidFill>
                <a:latin typeface="Calibri"/>
              </a:rPr>
              <a:t> while studying </a:t>
            </a:r>
            <a:r>
              <a:rPr b="1" sz="2000">
                <a:solidFill>
                  <a:srgbClr val="1A2332"/>
                </a:solidFill>
                <a:latin typeface="Calibri"/>
              </a:rPr>
              <a:t>cathode rays</a:t>
            </a:r>
            <a:r>
              <a:rPr sz="2000">
                <a:solidFill>
                  <a:srgbClr val="1A2332"/>
                </a:solidFill>
                <a:latin typeface="Calibri"/>
              </a:rPr>
              <a:t>. Let me explain the apparatus first. A cathode ray tube is a sealed glass tube containing a gas at </a:t>
            </a:r>
            <a:r>
              <a:rPr b="1" sz="2000">
                <a:solidFill>
                  <a:srgbClr val="1A2332"/>
                </a:solidFill>
                <a:latin typeface="Calibri"/>
              </a:rPr>
              <a:t>very low pressure</a:t>
            </a:r>
            <a:r>
              <a:rPr sz="2000">
                <a:solidFill>
                  <a:srgbClr val="1A2332"/>
                </a:solidFill>
                <a:latin typeface="Calibri"/>
              </a:rPr>
              <a:t>. When a high voltage is applied across two electrodes, the cathode and the anode, rays travel from the </a:t>
            </a:r>
            <a:r>
              <a:rPr b="1" sz="2000">
                <a:solidFill>
                  <a:srgbClr val="1A2332"/>
                </a:solidFill>
                <a:latin typeface="Calibri"/>
              </a:rPr>
              <a:t>cathode to the anode</a:t>
            </a:r>
            <a:r>
              <a:rPr sz="2000">
                <a:solidFill>
                  <a:srgbClr val="1A2332"/>
                </a:solidFill>
                <a:latin typeface="Calibri"/>
              </a:rPr>
              <a:t>. We call them cathode rays.</a:t>
            </a:r>
          </a:p>
        </p:txBody>
      </p:sp>
      <p:sp>
        <p:nvSpPr>
          <p:cNvPr id="5" name="Rounded Rectangle 4"/>
          <p:cNvSpPr/>
          <p:nvPr/>
        </p:nvSpPr>
        <p:spPr>
          <a:xfrm>
            <a:off x="7498079" y="1234440"/>
            <a:ext cx="4114800" cy="4846320"/>
          </a:xfrm>
          <a:prstGeom prst="roundRect">
            <a:avLst>
              <a:gd name="adj" fmla="val 8000"/>
            </a:avLst>
          </a:prstGeom>
          <a:solidFill>
            <a:srgbClr val="FFFFFF"/>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2514600"/>
            <a:ext cx="3566160" cy="1463040"/>
          </a:xfrm>
          <a:prstGeom prst="rect">
            <a:avLst/>
          </a:prstGeom>
          <a:solidFill>
            <a:srgbClr val="E8F2FA"/>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909559" y="2697480"/>
            <a:ext cx="201168" cy="1097280"/>
          </a:xfrm>
          <a:prstGeom prst="rect">
            <a:avLst/>
          </a:prstGeom>
          <a:solidFill>
            <a:srgbClr val="0B1A33"/>
          </a:solidFill>
          <a:ln w="1905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091672" y="2697480"/>
            <a:ext cx="201168" cy="1097280"/>
          </a:xfrm>
          <a:prstGeom prst="rect">
            <a:avLst/>
          </a:prstGeom>
          <a:solidFill>
            <a:srgbClr val="0B1A33"/>
          </a:solidFill>
          <a:ln w="1905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8229600" y="3246120"/>
            <a:ext cx="2834640" cy="0"/>
          </a:xfrm>
          <a:prstGeom prst="line">
            <a:avLst/>
          </a:prstGeom>
          <a:ln w="38100">
            <a:solidFill>
              <a:srgbClr val="00D4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680959" y="4069080"/>
            <a:ext cx="1097280" cy="457200"/>
          </a:xfrm>
          <a:prstGeom prst="rect">
            <a:avLst/>
          </a:prstGeom>
          <a:noFill/>
        </p:spPr>
        <p:txBody>
          <a:bodyPr wrap="none">
            <a:spAutoFit/>
          </a:bodyPr>
          <a:lstStyle/>
          <a:p>
            <a:pPr algn="ctr"/>
            <a:r>
              <a:rPr sz="1100" b="1">
                <a:solidFill>
                  <a:srgbClr val="0B1A33"/>
                </a:solidFill>
                <a:latin typeface="Calibri"/>
              </a:rPr>
              <a:t>cathode</a:t>
            </a:r>
          </a:p>
        </p:txBody>
      </p:sp>
      <p:sp>
        <p:nvSpPr>
          <p:cNvPr id="11" name="TextBox 10"/>
          <p:cNvSpPr txBox="1"/>
          <p:nvPr/>
        </p:nvSpPr>
        <p:spPr>
          <a:xfrm>
            <a:off x="10332719" y="4069080"/>
            <a:ext cx="1097280" cy="457200"/>
          </a:xfrm>
          <a:prstGeom prst="rect">
            <a:avLst/>
          </a:prstGeom>
          <a:noFill/>
        </p:spPr>
        <p:txBody>
          <a:bodyPr wrap="none">
            <a:spAutoFit/>
          </a:bodyPr>
          <a:lstStyle/>
          <a:p>
            <a:pPr algn="ctr"/>
            <a:r>
              <a:rPr sz="1100" b="1">
                <a:solidFill>
                  <a:srgbClr val="0B1A33"/>
                </a:solidFill>
                <a:latin typeface="Calibri"/>
              </a:rPr>
              <a:t>anode</a:t>
            </a:r>
          </a:p>
        </p:txBody>
      </p:sp>
      <p:sp>
        <p:nvSpPr>
          <p:cNvPr id="12" name="TextBox 11"/>
          <p:cNvSpPr txBox="1"/>
          <p:nvPr/>
        </p:nvSpPr>
        <p:spPr>
          <a:xfrm>
            <a:off x="7772400" y="1691640"/>
            <a:ext cx="3566160" cy="457200"/>
          </a:xfrm>
          <a:prstGeom prst="rect">
            <a:avLst/>
          </a:prstGeom>
          <a:noFill/>
        </p:spPr>
        <p:txBody>
          <a:bodyPr wrap="none">
            <a:spAutoFit/>
          </a:bodyPr>
          <a:lstStyle/>
          <a:p>
            <a:pPr algn="ctr"/>
            <a:r>
              <a:rPr sz="1100" b="1">
                <a:solidFill>
                  <a:srgbClr val="0B1A33"/>
                </a:solidFill>
                <a:latin typeface="Calibri"/>
              </a:rPr>
              <a:t>cathode rays</a:t>
            </a:r>
          </a:p>
        </p:txBody>
      </p:sp>
      <p:sp>
        <p:nvSpPr>
          <p:cNvPr id="13" name="Rounded Rectangle 12"/>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02</a:t>
            </a:r>
          </a:p>
        </p:txBody>
      </p:sp>
      <p:sp>
        <p:nvSpPr>
          <p:cNvPr id="14" name="Rectangle 13"/>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07 / 41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2 — Discovery of Electron</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These rays have interesting properties. They travel in straight lines, they cast the shadow of any object placed in their path, they make a small paddle wheel rotate, and they make the glass or a fluorescent screen glow. Most importantly, they are </a:t>
            </a:r>
            <a:r>
              <a:rPr b="1" sz="2000">
                <a:solidFill>
                  <a:srgbClr val="1A2332"/>
                </a:solidFill>
                <a:latin typeface="Calibri"/>
              </a:rPr>
              <a:t>deflected by electric and magnetic fields</a:t>
            </a:r>
            <a:r>
              <a:rPr sz="2000">
                <a:solidFill>
                  <a:srgbClr val="1A2332"/>
                </a:solidFill>
                <a:latin typeface="Calibri"/>
              </a:rPr>
              <a:t>. In an electric field they bend towards the positive plate, which proves that cathode rays are </a:t>
            </a:r>
            <a:r>
              <a:rPr b="1" sz="2000">
                <a:solidFill>
                  <a:srgbClr val="1A2332"/>
                </a:solidFill>
                <a:latin typeface="Calibri"/>
              </a:rPr>
              <a:t>negatively charged</a:t>
            </a:r>
            <a:r>
              <a:rPr sz="2000">
                <a:solidFill>
                  <a:srgbClr val="1A2332"/>
                </a:solidFill>
                <a:latin typeface="Calibri"/>
              </a:rPr>
              <a:t>.</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02</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08 / 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2 — Discovery of Electron</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Thomson then adjusted the electric and magnetic fields so that their deflections cancelled each other. Using this, he measured the </a:t>
            </a:r>
            <a:r>
              <a:rPr b="1" sz="2000">
                <a:solidFill>
                  <a:srgbClr val="1A2332"/>
                </a:solidFill>
                <a:latin typeface="Calibri"/>
              </a:rPr>
              <a:t>charge-to-mass ratio, e/m = 1.76 × 10¹¹ C/kg</a:t>
            </a:r>
            <a:r>
              <a:rPr sz="2000">
                <a:solidFill>
                  <a:srgbClr val="1A2332"/>
                </a:solidFill>
                <a:latin typeface="Calibri"/>
              </a:rPr>
              <a:t>. This value is about 1800 times larger than the value for a hydrogen ion, which means the particle is extremely light. And the ratio stayed the same whatever gas or cathode material he used. So these particles are a common part of every atom. These particles were named </a:t>
            </a:r>
            <a:r>
              <a:rPr b="1" sz="2000">
                <a:solidFill>
                  <a:srgbClr val="1A2332"/>
                </a:solidFill>
                <a:latin typeface="Calibri"/>
              </a:rPr>
              <a:t>electrons</a:t>
            </a:r>
            <a:r>
              <a:rPr sz="2000">
                <a:solidFill>
                  <a:srgbClr val="1A2332"/>
                </a:solidFill>
                <a:latin typeface="Calibri"/>
              </a:rPr>
              <a:t>.</a:t>
            </a:r>
          </a:p>
          <a:p>
            <a:pPr>
              <a:spcBef>
                <a:spcPts val="0"/>
              </a:spcBef>
              <a:spcAft>
                <a:spcPts val="1200"/>
              </a:spcAft>
            </a:pPr>
            <a:r>
              <a:rPr sz="2000">
                <a:solidFill>
                  <a:srgbClr val="1A2332"/>
                </a:solidFill>
                <a:latin typeface="Calibri"/>
              </a:rPr>
              <a:t>The conclusion is simple: the atom is </a:t>
            </a:r>
            <a:r>
              <a:rPr b="1" sz="2000">
                <a:solidFill>
                  <a:srgbClr val="1A2332"/>
                </a:solidFill>
                <a:latin typeface="Calibri"/>
              </a:rPr>
              <a:t>divisible</a:t>
            </a:r>
            <a:r>
              <a:rPr sz="2000">
                <a:solidFill>
                  <a:srgbClr val="1A2332"/>
                </a:solidFill>
                <a:latin typeface="Calibri"/>
              </a:rPr>
              <a:t>. Later, Millikan's oil drop experiment measured the charge of the electron separately. Now my fellow member will explain the model Thomson built using this discovery.</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02</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09 / 41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3 — Thomson Plum Pudding Model</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667512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Once Thomson knew that electrons exist inside atoms, he had to answer: if electrons are negative and the atom is neutral, where is the positive charge? In </a:t>
            </a:r>
            <a:r>
              <a:rPr b="1" sz="2000">
                <a:solidFill>
                  <a:srgbClr val="1A2332"/>
                </a:solidFill>
                <a:latin typeface="Calibri"/>
              </a:rPr>
              <a:t>1904</a:t>
            </a:r>
            <a:r>
              <a:rPr sz="2000">
                <a:solidFill>
                  <a:srgbClr val="1A2332"/>
                </a:solidFill>
                <a:latin typeface="Calibri"/>
              </a:rPr>
              <a:t> he proposed his model.</a:t>
            </a:r>
          </a:p>
          <a:p>
            <a:pPr>
              <a:spcBef>
                <a:spcPts val="0"/>
              </a:spcBef>
              <a:spcAft>
                <a:spcPts val="1200"/>
              </a:spcAft>
            </a:pPr>
            <a:r>
              <a:rPr sz="2000">
                <a:solidFill>
                  <a:srgbClr val="1A2332"/>
                </a:solidFill>
                <a:latin typeface="Calibri"/>
              </a:rPr>
              <a:t>According to Thomson, the atom is a </a:t>
            </a:r>
            <a:r>
              <a:rPr b="1" sz="2000">
                <a:solidFill>
                  <a:srgbClr val="1A2332"/>
                </a:solidFill>
                <a:latin typeface="Calibri"/>
              </a:rPr>
              <a:t>sphere of positive charge</a:t>
            </a:r>
            <a:r>
              <a:rPr sz="2000">
                <a:solidFill>
                  <a:srgbClr val="1A2332"/>
                </a:solidFill>
                <a:latin typeface="Calibri"/>
              </a:rPr>
              <a:t>, with a radius of about 10⁻¹⁰ metre. The </a:t>
            </a:r>
            <a:r>
              <a:rPr b="1" sz="2000">
                <a:solidFill>
                  <a:srgbClr val="1A2332"/>
                </a:solidFill>
                <a:latin typeface="Calibri"/>
              </a:rPr>
              <a:t>electrons are embedded inside</a:t>
            </a:r>
            <a:r>
              <a:rPr sz="2000">
                <a:solidFill>
                  <a:srgbClr val="1A2332"/>
                </a:solidFill>
                <a:latin typeface="Calibri"/>
              </a:rPr>
              <a:t> this sphere. That is why it is called the </a:t>
            </a:r>
            <a:r>
              <a:rPr b="1" sz="2000">
                <a:solidFill>
                  <a:srgbClr val="1A2332"/>
                </a:solidFill>
                <a:latin typeface="Calibri"/>
              </a:rPr>
              <a:t>plum pudding model</a:t>
            </a:r>
            <a:r>
              <a:rPr sz="2000">
                <a:solidFill>
                  <a:srgbClr val="1A2332"/>
                </a:solidFill>
                <a:latin typeface="Calibri"/>
              </a:rPr>
              <a:t>: the pudding is the positive charge and the plums are the electrons. It is also called the </a:t>
            </a:r>
            <a:r>
              <a:rPr b="1" sz="2000">
                <a:solidFill>
                  <a:srgbClr val="1A2332"/>
                </a:solidFill>
                <a:latin typeface="Calibri"/>
              </a:rPr>
              <a:t>watermelon model</a:t>
            </a:r>
            <a:r>
              <a:rPr sz="2000">
                <a:solidFill>
                  <a:srgbClr val="1A2332"/>
                </a:solidFill>
                <a:latin typeface="Calibri"/>
              </a:rPr>
              <a:t>, where the red pulp is the positive charge and the seeds are the electrons.</a:t>
            </a:r>
          </a:p>
        </p:txBody>
      </p:sp>
      <p:sp>
        <p:nvSpPr>
          <p:cNvPr id="5" name="Rounded Rectangle 4"/>
          <p:cNvSpPr/>
          <p:nvPr/>
        </p:nvSpPr>
        <p:spPr>
          <a:xfrm>
            <a:off x="7498079" y="1234440"/>
            <a:ext cx="4114800" cy="4846320"/>
          </a:xfrm>
          <a:prstGeom prst="roundRect">
            <a:avLst>
              <a:gd name="adj" fmla="val 8000"/>
            </a:avLst>
          </a:prstGeom>
          <a:solidFill>
            <a:srgbClr val="FFFFFF"/>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955279" y="1965960"/>
            <a:ext cx="3200400" cy="2743200"/>
          </a:xfrm>
          <a:prstGeom prst="ellipse">
            <a:avLst/>
          </a:prstGeom>
          <a:solidFill>
            <a:srgbClr val="FDE8C4"/>
          </a:solidFill>
          <a:ln w="381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412480" y="2514600"/>
            <a:ext cx="365760" cy="365760"/>
          </a:xfrm>
          <a:prstGeom prst="ellipse">
            <a:avLst/>
          </a:prstGeom>
          <a:solidFill>
            <a:srgbClr val="0B1A3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0" y="2240280"/>
            <a:ext cx="365760" cy="365760"/>
          </a:xfrm>
          <a:prstGeom prst="ellipse">
            <a:avLst/>
          </a:prstGeom>
          <a:solidFill>
            <a:srgbClr val="0B1A3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75519" y="2606040"/>
            <a:ext cx="365760" cy="365760"/>
          </a:xfrm>
          <a:prstGeom prst="ellipse">
            <a:avLst/>
          </a:prstGeom>
          <a:solidFill>
            <a:srgbClr val="0B1A3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778240" y="3154680"/>
            <a:ext cx="365760" cy="365760"/>
          </a:xfrm>
          <a:prstGeom prst="ellipse">
            <a:avLst/>
          </a:prstGeom>
          <a:solidFill>
            <a:srgbClr val="0B1A3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509759" y="3337560"/>
            <a:ext cx="365760" cy="365760"/>
          </a:xfrm>
          <a:prstGeom prst="ellipse">
            <a:avLst/>
          </a:prstGeom>
          <a:solidFill>
            <a:srgbClr val="0B1A3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149840" y="3154680"/>
            <a:ext cx="365760" cy="365760"/>
          </a:xfrm>
          <a:prstGeom prst="ellipse">
            <a:avLst/>
          </a:prstGeom>
          <a:solidFill>
            <a:srgbClr val="0B1A3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44000" y="3794760"/>
            <a:ext cx="365760" cy="365760"/>
          </a:xfrm>
          <a:prstGeom prst="ellipse">
            <a:avLst/>
          </a:prstGeom>
          <a:solidFill>
            <a:srgbClr val="0B1A3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4892040"/>
            <a:ext cx="3566160" cy="457200"/>
          </a:xfrm>
          <a:prstGeom prst="rect">
            <a:avLst/>
          </a:prstGeom>
          <a:noFill/>
        </p:spPr>
        <p:txBody>
          <a:bodyPr wrap="none">
            <a:spAutoFit/>
          </a:bodyPr>
          <a:lstStyle/>
          <a:p>
            <a:pPr algn="ctr"/>
            <a:r>
              <a:rPr sz="1100" b="1">
                <a:solidFill>
                  <a:srgbClr val="0B1A33"/>
                </a:solidFill>
                <a:latin typeface="Calibri"/>
              </a:rPr>
              <a:t>positive charge</a:t>
            </a:r>
          </a:p>
        </p:txBody>
      </p:sp>
      <p:sp>
        <p:nvSpPr>
          <p:cNvPr id="15" name="TextBox 14"/>
          <p:cNvSpPr txBox="1"/>
          <p:nvPr/>
        </p:nvSpPr>
        <p:spPr>
          <a:xfrm>
            <a:off x="7772400" y="5257800"/>
            <a:ext cx="3566160" cy="457200"/>
          </a:xfrm>
          <a:prstGeom prst="rect">
            <a:avLst/>
          </a:prstGeom>
          <a:noFill/>
        </p:spPr>
        <p:txBody>
          <a:bodyPr wrap="none">
            <a:spAutoFit/>
          </a:bodyPr>
          <a:lstStyle/>
          <a:p>
            <a:pPr algn="ctr"/>
            <a:r>
              <a:rPr sz="1100" b="1">
                <a:solidFill>
                  <a:srgbClr val="0B1A33"/>
                </a:solidFill>
                <a:latin typeface="Calibri"/>
              </a:rPr>
              <a:t>electrons</a:t>
            </a:r>
          </a:p>
        </p:txBody>
      </p:sp>
      <p:sp>
        <p:nvSpPr>
          <p:cNvPr id="16" name="Rounded Rectangle 15"/>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03</a:t>
            </a:r>
          </a:p>
        </p:txBody>
      </p:sp>
      <p:sp>
        <p:nvSpPr>
          <p:cNvPr id="17" name="Rectangle 16"/>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10 / 41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3 — Thomson Plum Pudding Model</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The key idea is that the </a:t>
            </a:r>
            <a:r>
              <a:rPr b="1" sz="2000">
                <a:solidFill>
                  <a:srgbClr val="1A2332"/>
                </a:solidFill>
                <a:latin typeface="Calibri"/>
              </a:rPr>
              <a:t>total positive charge equals the total negative charge</a:t>
            </a:r>
            <a:r>
              <a:rPr sz="2000">
                <a:solidFill>
                  <a:srgbClr val="1A2332"/>
                </a:solidFill>
                <a:latin typeface="Calibri"/>
              </a:rPr>
              <a:t>, so the atom is </a:t>
            </a:r>
            <a:r>
              <a:rPr b="1" sz="2000">
                <a:solidFill>
                  <a:srgbClr val="1A2332"/>
                </a:solidFill>
                <a:latin typeface="Calibri"/>
              </a:rPr>
              <a:t>electrically neutral</a:t>
            </a:r>
            <a:r>
              <a:rPr sz="2000">
                <a:solidFill>
                  <a:srgbClr val="1A2332"/>
                </a:solidFill>
                <a:latin typeface="Calibri"/>
              </a:rPr>
              <a:t>. The positive charge is </a:t>
            </a:r>
            <a:r>
              <a:rPr b="1" sz="2000">
                <a:solidFill>
                  <a:srgbClr val="1A2332"/>
                </a:solidFill>
                <a:latin typeface="Calibri"/>
              </a:rPr>
              <a:t>spread uniformly throughout the atom</a:t>
            </a:r>
            <a:r>
              <a:rPr sz="2000">
                <a:solidFill>
                  <a:srgbClr val="1A2332"/>
                </a:solidFill>
                <a:latin typeface="Calibri"/>
              </a:rPr>
              <a:t>, and there is </a:t>
            </a:r>
            <a:r>
              <a:rPr b="1" sz="2000">
                <a:solidFill>
                  <a:srgbClr val="1A2332"/>
                </a:solidFill>
                <a:latin typeface="Calibri"/>
              </a:rPr>
              <a:t>no nucleus</a:t>
            </a:r>
            <a:r>
              <a:rPr sz="2000">
                <a:solidFill>
                  <a:srgbClr val="1A2332"/>
                </a:solidFill>
                <a:latin typeface="Calibri"/>
              </a:rPr>
              <a:t> in this model. Thomson also said electrons can vibrate about their positions, and he used this to try to explain how atoms emit light.</a:t>
            </a:r>
          </a:p>
          <a:p>
            <a:pPr>
              <a:spcBef>
                <a:spcPts val="0"/>
              </a:spcBef>
              <a:spcAft>
                <a:spcPts val="1200"/>
              </a:spcAft>
            </a:pPr>
            <a:r>
              <a:rPr sz="2000">
                <a:solidFill>
                  <a:srgbClr val="1A2332"/>
                </a:solidFill>
                <a:latin typeface="Calibri"/>
              </a:rPr>
              <a:t>The model could explain neutrality and the fact that electrons can be removed from atoms. But it soon ran into serious trouble, which my fellow member will now explain.</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03</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11 / 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4 — Limitations of Thomson Model</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Thomson's model failed for several reasons.</a:t>
            </a:r>
          </a:p>
          <a:p>
            <a:pPr>
              <a:spcBef>
                <a:spcPts val="0"/>
              </a:spcBef>
              <a:spcAft>
                <a:spcPts val="1200"/>
              </a:spcAft>
            </a:pPr>
            <a:r>
              <a:rPr b="1" sz="2000">
                <a:solidFill>
                  <a:srgbClr val="1A2332"/>
                </a:solidFill>
                <a:latin typeface="Calibri"/>
              </a:rPr>
              <a:t>First, it could not explain large-angle alpha scattering.</a:t>
            </a:r>
            <a:r>
              <a:rPr sz="2000">
                <a:solidFill>
                  <a:srgbClr val="1A2332"/>
                </a:solidFill>
                <a:latin typeface="Calibri"/>
              </a:rPr>
              <a:t> If positive charge is spread over the whole atom, the electric field inside is weak, so an alpha particle should only be pushed slightly. Also, an alpha particle is about 7300 times heavier than an electron, so electrons cannot deflect it either. It is like a bus hitting ping-pong balls: the bus will not bounce back. The model predicted only tiny deflections, but experiments showed otherwise.</a:t>
            </a:r>
          </a:p>
          <a:p>
            <a:pPr>
              <a:spcBef>
                <a:spcPts val="0"/>
              </a:spcBef>
              <a:spcAft>
                <a:spcPts val="1200"/>
              </a:spcAft>
            </a:pPr>
            <a:r>
              <a:rPr b="1" sz="2000">
                <a:solidFill>
                  <a:srgbClr val="1A2332"/>
                </a:solidFill>
                <a:latin typeface="Calibri"/>
              </a:rPr>
              <a:t>Second, it did not introduce a nucleus.</a:t>
            </a:r>
            <a:r>
              <a:rPr sz="2000">
                <a:solidFill>
                  <a:srgbClr val="1A2332"/>
                </a:solidFill>
                <a:latin typeface="Calibri"/>
              </a:rPr>
              <a:t> It assumed that positive charge is spread throughout the atom.</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04</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12 / 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4 — Limitations of Thomson Model</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b="1" sz="2000">
                <a:solidFill>
                  <a:srgbClr val="1A2332"/>
                </a:solidFill>
                <a:latin typeface="Calibri"/>
              </a:rPr>
              <a:t>Third, it could not properly explain line spectra.</a:t>
            </a:r>
            <a:r>
              <a:rPr sz="2000">
                <a:solidFill>
                  <a:srgbClr val="1A2332"/>
                </a:solidFill>
                <a:latin typeface="Calibri"/>
              </a:rPr>
              <a:t> Real atoms emit light only at particular wavelengths, but Thomson's vibrating electrons could not give these exact lines.</a:t>
            </a:r>
          </a:p>
          <a:p>
            <a:pPr>
              <a:spcBef>
                <a:spcPts val="0"/>
              </a:spcBef>
              <a:spcAft>
                <a:spcPts val="1200"/>
              </a:spcAft>
            </a:pPr>
            <a:r>
              <a:rPr b="1" sz="2000">
                <a:solidFill>
                  <a:srgbClr val="1A2332"/>
                </a:solidFill>
                <a:latin typeface="Calibri"/>
              </a:rPr>
              <a:t>Fourth, it could not fully explain atomic stability.</a:t>
            </a:r>
            <a:r>
              <a:rPr sz="2000">
                <a:solidFill>
                  <a:srgbClr val="1A2332"/>
                </a:solidFill>
                <a:latin typeface="Calibri"/>
              </a:rPr>
              <a:t> A set of charges sitting still cannot stay in stable balance using electrostatic forces alone.</a:t>
            </a:r>
          </a:p>
          <a:p>
            <a:pPr>
              <a:spcBef>
                <a:spcPts val="0"/>
              </a:spcBef>
              <a:spcAft>
                <a:spcPts val="1200"/>
              </a:spcAft>
            </a:pPr>
            <a:r>
              <a:rPr sz="2000">
                <a:solidFill>
                  <a:srgbClr val="1A2332"/>
                </a:solidFill>
                <a:latin typeface="Calibri"/>
              </a:rPr>
              <a:t>Finally, the model </a:t>
            </a:r>
            <a:r>
              <a:rPr b="1" sz="2000">
                <a:solidFill>
                  <a:srgbClr val="1A2332"/>
                </a:solidFill>
                <a:latin typeface="Calibri"/>
              </a:rPr>
              <a:t>failed to match Rutherford's experiment</a:t>
            </a:r>
            <a:r>
              <a:rPr sz="2000">
                <a:solidFill>
                  <a:srgbClr val="1A2332"/>
                </a:solidFill>
                <a:latin typeface="Calibri"/>
              </a:rPr>
              <a:t>. So Rutherford proposed a new model. Let us see how he tested Thomson's idea.</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04</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13 / 41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5 — Rutherford Gold Foil Experiment (Setup)</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This experiment was performed by </a:t>
            </a:r>
            <a:r>
              <a:rPr b="1" sz="2000">
                <a:solidFill>
                  <a:srgbClr val="1A2332"/>
                </a:solidFill>
                <a:latin typeface="Calibri"/>
              </a:rPr>
              <a:t>Rutherford, Geiger, and Marsden</a:t>
            </a:r>
            <a:r>
              <a:rPr sz="2000">
                <a:solidFill>
                  <a:srgbClr val="1A2332"/>
                </a:solidFill>
                <a:latin typeface="Calibri"/>
              </a:rPr>
              <a:t> around 1909 at Manchester. The </a:t>
            </a:r>
            <a:r>
              <a:rPr b="1" sz="2000">
                <a:solidFill>
                  <a:srgbClr val="1A2332"/>
                </a:solidFill>
                <a:latin typeface="Calibri"/>
              </a:rPr>
              <a:t>aim</a:t>
            </a:r>
            <a:r>
              <a:rPr sz="2000">
                <a:solidFill>
                  <a:srgbClr val="1A2332"/>
                </a:solidFill>
                <a:latin typeface="Calibri"/>
              </a:rPr>
              <a:t> was to test Thomson's model by firing fast particles at atoms and watching how they get deflected.</a:t>
            </a:r>
          </a:p>
          <a:p>
            <a:pPr>
              <a:spcBef>
                <a:spcPts val="0"/>
              </a:spcBef>
              <a:spcAft>
                <a:spcPts val="1200"/>
              </a:spcAft>
            </a:pPr>
            <a:r>
              <a:rPr sz="2000">
                <a:solidFill>
                  <a:srgbClr val="1A2332"/>
                </a:solidFill>
                <a:latin typeface="Calibri"/>
              </a:rPr>
              <a:t>Now the setup. The </a:t>
            </a:r>
            <a:r>
              <a:rPr b="1" sz="2000">
                <a:solidFill>
                  <a:srgbClr val="1A2332"/>
                </a:solidFill>
                <a:latin typeface="Calibri"/>
              </a:rPr>
              <a:t>alpha source</a:t>
            </a:r>
            <a:r>
              <a:rPr sz="2000">
                <a:solidFill>
                  <a:srgbClr val="1A2332"/>
                </a:solidFill>
                <a:latin typeface="Calibri"/>
              </a:rPr>
              <a:t> was a radioactive material like </a:t>
            </a:r>
            <a:r>
              <a:rPr b="1" sz="2000">
                <a:solidFill>
                  <a:srgbClr val="1A2332"/>
                </a:solidFill>
                <a:latin typeface="Calibri"/>
              </a:rPr>
              <a:t>radium or polonium</a:t>
            </a:r>
            <a:r>
              <a:rPr sz="2000">
                <a:solidFill>
                  <a:srgbClr val="1A2332"/>
                </a:solidFill>
                <a:latin typeface="Calibri"/>
              </a:rPr>
              <a:t>. Alpha particles are helium nuclei, carrying a charge of +2e and moving at very high speed, about 10⁷ metre per second. The source was placed inside a </a:t>
            </a:r>
            <a:r>
              <a:rPr b="1" sz="2000">
                <a:solidFill>
                  <a:srgbClr val="1A2332"/>
                </a:solidFill>
                <a:latin typeface="Calibri"/>
              </a:rPr>
              <a:t>lead block</a:t>
            </a:r>
            <a:r>
              <a:rPr sz="2000">
                <a:solidFill>
                  <a:srgbClr val="1A2332"/>
                </a:solidFill>
                <a:latin typeface="Calibri"/>
              </a:rPr>
              <a:t> with a narrow hole, which produced a thin, narrow beam of alpha particles, because lead absorbs the rest.</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05</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14 / 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5 — Rutherford Gold Foil Experiment (Setup)</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667512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The beam was aimed at a </a:t>
            </a:r>
            <a:r>
              <a:rPr b="1" sz="2000">
                <a:solidFill>
                  <a:srgbClr val="1A2332"/>
                </a:solidFill>
                <a:latin typeface="Calibri"/>
              </a:rPr>
              <a:t>very thin gold foil</a:t>
            </a:r>
            <a:r>
              <a:rPr sz="2000">
                <a:solidFill>
                  <a:srgbClr val="1A2332"/>
                </a:solidFill>
                <a:latin typeface="Calibri"/>
              </a:rPr>
              <a:t>, only a few hundred atoms thick. Gold was chosen because it is highly malleable and can be hammered into extremely thin sheets, and its nucleus has a large charge of +79. Around the foil was a </a:t>
            </a:r>
            <a:r>
              <a:rPr b="1" sz="2000">
                <a:solidFill>
                  <a:srgbClr val="1A2332"/>
                </a:solidFill>
                <a:latin typeface="Calibri"/>
              </a:rPr>
              <a:t>zinc sulphide screen</a:t>
            </a:r>
            <a:r>
              <a:rPr sz="2000">
                <a:solidFill>
                  <a:srgbClr val="1A2332"/>
                </a:solidFill>
                <a:latin typeface="Calibri"/>
              </a:rPr>
              <a:t>. When an alpha particle hits it, it produces a tiny flash of light called a </a:t>
            </a:r>
            <a:r>
              <a:rPr b="1" sz="2000">
                <a:solidFill>
                  <a:srgbClr val="1A2332"/>
                </a:solidFill>
                <a:latin typeface="Calibri"/>
              </a:rPr>
              <a:t>scintillation</a:t>
            </a:r>
            <a:r>
              <a:rPr sz="2000">
                <a:solidFill>
                  <a:srgbClr val="1A2332"/>
                </a:solidFill>
                <a:latin typeface="Calibri"/>
              </a:rPr>
              <a:t>. A </a:t>
            </a:r>
            <a:r>
              <a:rPr b="1" sz="2000">
                <a:solidFill>
                  <a:srgbClr val="1A2332"/>
                </a:solidFill>
                <a:latin typeface="Calibri"/>
              </a:rPr>
              <a:t>microscope</a:t>
            </a:r>
            <a:r>
              <a:rPr sz="2000">
                <a:solidFill>
                  <a:srgbClr val="1A2332"/>
                </a:solidFill>
                <a:latin typeface="Calibri"/>
              </a:rPr>
              <a:t> was used to observe and count these scintillations at different angles. The whole apparatus was kept in a </a:t>
            </a:r>
            <a:r>
              <a:rPr b="1" sz="2000">
                <a:solidFill>
                  <a:srgbClr val="1A2332"/>
                </a:solidFill>
                <a:latin typeface="Calibri"/>
              </a:rPr>
              <a:t>vacuum</a:t>
            </a:r>
            <a:r>
              <a:rPr sz="2000">
                <a:solidFill>
                  <a:srgbClr val="1A2332"/>
                </a:solidFill>
                <a:latin typeface="Calibri"/>
              </a:rPr>
              <a:t> so that alpha particles would not scatter off air molecules.</a:t>
            </a:r>
          </a:p>
        </p:txBody>
      </p:sp>
      <p:sp>
        <p:nvSpPr>
          <p:cNvPr id="5" name="Rounded Rectangle 4"/>
          <p:cNvSpPr/>
          <p:nvPr/>
        </p:nvSpPr>
        <p:spPr>
          <a:xfrm>
            <a:off x="7498079" y="1234440"/>
            <a:ext cx="4114800" cy="4846320"/>
          </a:xfrm>
          <a:prstGeom prst="roundRect">
            <a:avLst>
              <a:gd name="adj" fmla="val 8000"/>
            </a:avLst>
          </a:prstGeom>
          <a:solidFill>
            <a:srgbClr val="FFFFFF"/>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2514600"/>
            <a:ext cx="731520" cy="1645920"/>
          </a:xfrm>
          <a:prstGeom prst="rect">
            <a:avLst/>
          </a:prstGeom>
          <a:solidFill>
            <a:srgbClr val="5A6C7D"/>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43800" y="4251960"/>
            <a:ext cx="1188720" cy="457200"/>
          </a:xfrm>
          <a:prstGeom prst="rect">
            <a:avLst/>
          </a:prstGeom>
          <a:noFill/>
        </p:spPr>
        <p:txBody>
          <a:bodyPr wrap="none">
            <a:spAutoFit/>
          </a:bodyPr>
          <a:lstStyle/>
          <a:p>
            <a:pPr algn="ctr"/>
            <a:r>
              <a:rPr sz="1000" b="1">
                <a:solidFill>
                  <a:srgbClr val="0B1A33"/>
                </a:solidFill>
                <a:latin typeface="Calibri"/>
              </a:rPr>
              <a:t>lead block</a:t>
            </a:r>
          </a:p>
        </p:txBody>
      </p:sp>
      <p:cxnSp>
        <p:nvCxnSpPr>
          <p:cNvPr id="8" name="Connector 7"/>
          <p:cNvCxnSpPr/>
          <p:nvPr/>
        </p:nvCxnSpPr>
        <p:spPr>
          <a:xfrm>
            <a:off x="8503919" y="3337560"/>
            <a:ext cx="1005840" cy="0"/>
          </a:xfrm>
          <a:prstGeom prst="line">
            <a:avLst/>
          </a:prstGeom>
          <a:ln w="38100">
            <a:solidFill>
              <a:srgbClr val="F5A62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0" y="1645920"/>
            <a:ext cx="3566160" cy="457200"/>
          </a:xfrm>
          <a:prstGeom prst="rect">
            <a:avLst/>
          </a:prstGeom>
          <a:noFill/>
        </p:spPr>
        <p:txBody>
          <a:bodyPr wrap="none">
            <a:spAutoFit/>
          </a:bodyPr>
          <a:lstStyle/>
          <a:p>
            <a:pPr algn="ctr"/>
            <a:r>
              <a:rPr sz="1000" b="1">
                <a:solidFill>
                  <a:srgbClr val="0B1A33"/>
                </a:solidFill>
                <a:latin typeface="Calibri"/>
              </a:rPr>
              <a:t>alpha particles</a:t>
            </a:r>
          </a:p>
        </p:txBody>
      </p:sp>
      <p:sp>
        <p:nvSpPr>
          <p:cNvPr id="10" name="Rectangle 9"/>
          <p:cNvSpPr/>
          <p:nvPr/>
        </p:nvSpPr>
        <p:spPr>
          <a:xfrm>
            <a:off x="9509759" y="2148840"/>
            <a:ext cx="73152" cy="2377440"/>
          </a:xfrm>
          <a:prstGeom prst="rect">
            <a:avLst/>
          </a:prstGeom>
          <a:solidFill>
            <a:srgbClr val="F5A623"/>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59" y="4617720"/>
            <a:ext cx="1005840" cy="457200"/>
          </a:xfrm>
          <a:prstGeom prst="rect">
            <a:avLst/>
          </a:prstGeom>
          <a:noFill/>
        </p:spPr>
        <p:txBody>
          <a:bodyPr wrap="none">
            <a:spAutoFit/>
          </a:bodyPr>
          <a:lstStyle/>
          <a:p>
            <a:pPr algn="ctr"/>
            <a:r>
              <a:rPr sz="1000" b="1">
                <a:solidFill>
                  <a:srgbClr val="0B1A33"/>
                </a:solidFill>
                <a:latin typeface="Calibri"/>
              </a:rPr>
              <a:t>gold foil</a:t>
            </a:r>
          </a:p>
        </p:txBody>
      </p:sp>
      <p:sp>
        <p:nvSpPr>
          <p:cNvPr id="12" name="Oval 11"/>
          <p:cNvSpPr/>
          <p:nvPr/>
        </p:nvSpPr>
        <p:spPr>
          <a:xfrm>
            <a:off x="10515600" y="2331720"/>
            <a:ext cx="182880" cy="182880"/>
          </a:xfrm>
          <a:prstGeom prst="ellipse">
            <a:avLst/>
          </a:prstGeom>
          <a:solidFill>
            <a:srgbClr val="5A6C7D"/>
          </a:solidFill>
          <a:ln w="25400">
            <a:solidFill>
              <a:srgbClr val="5A6C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515600" y="2834639"/>
            <a:ext cx="182880" cy="182880"/>
          </a:xfrm>
          <a:prstGeom prst="ellipse">
            <a:avLst/>
          </a:prstGeom>
          <a:solidFill>
            <a:srgbClr val="5A6C7D"/>
          </a:solidFill>
          <a:ln w="25400">
            <a:solidFill>
              <a:srgbClr val="5A6C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0" y="3337560"/>
            <a:ext cx="182880" cy="182880"/>
          </a:xfrm>
          <a:prstGeom prst="ellipse">
            <a:avLst/>
          </a:prstGeom>
          <a:solidFill>
            <a:srgbClr val="5A6C7D"/>
          </a:solidFill>
          <a:ln w="25400">
            <a:solidFill>
              <a:srgbClr val="5A6C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15600" y="3840480"/>
            <a:ext cx="182880" cy="182880"/>
          </a:xfrm>
          <a:prstGeom prst="ellipse">
            <a:avLst/>
          </a:prstGeom>
          <a:solidFill>
            <a:srgbClr val="5A6C7D"/>
          </a:solidFill>
          <a:ln w="25400">
            <a:solidFill>
              <a:srgbClr val="5A6C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515600" y="4343400"/>
            <a:ext cx="182880" cy="182880"/>
          </a:xfrm>
          <a:prstGeom prst="ellipse">
            <a:avLst/>
          </a:prstGeom>
          <a:solidFill>
            <a:srgbClr val="5A6C7D"/>
          </a:solidFill>
          <a:ln w="25400">
            <a:solidFill>
              <a:srgbClr val="5A6C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0" y="4983479"/>
            <a:ext cx="1188720" cy="457200"/>
          </a:xfrm>
          <a:prstGeom prst="rect">
            <a:avLst/>
          </a:prstGeom>
          <a:noFill/>
        </p:spPr>
        <p:txBody>
          <a:bodyPr wrap="none">
            <a:spAutoFit/>
          </a:bodyPr>
          <a:lstStyle/>
          <a:p>
            <a:pPr algn="ctr"/>
            <a:r>
              <a:rPr sz="1000" b="1">
                <a:solidFill>
                  <a:srgbClr val="0B1A33"/>
                </a:solidFill>
                <a:latin typeface="Calibri"/>
              </a:rPr>
              <a:t>zinc sulphide screen</a:t>
            </a:r>
          </a:p>
        </p:txBody>
      </p:sp>
      <p:sp>
        <p:nvSpPr>
          <p:cNvPr id="18" name="Rounded Rectangle 17"/>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05</a:t>
            </a:r>
          </a:p>
        </p:txBody>
      </p:sp>
      <p:sp>
        <p:nvSpPr>
          <p:cNvPr id="19" name="Rectangle 18"/>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15 / 41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5 — Rutherford Gold Foil Experiment (Setup)</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b="1" sz="2000">
                <a:solidFill>
                  <a:srgbClr val="1A2332"/>
                </a:solidFill>
                <a:latin typeface="Calibri"/>
              </a:rPr>
              <a:t>Expected result:</a:t>
            </a:r>
            <a:r>
              <a:rPr sz="2000">
                <a:solidFill>
                  <a:srgbClr val="1A2332"/>
                </a:solidFill>
                <a:latin typeface="Calibri"/>
              </a:rPr>
              <a:t> according to Thomson's model, almost all alpha particles should go through with only </a:t>
            </a:r>
            <a:r>
              <a:rPr b="1" sz="2000">
                <a:solidFill>
                  <a:srgbClr val="1A2332"/>
                </a:solidFill>
                <a:latin typeface="Calibri"/>
              </a:rPr>
              <a:t>small deflections</a:t>
            </a:r>
            <a:r>
              <a:rPr sz="2000">
                <a:solidFill>
                  <a:srgbClr val="1A2332"/>
                </a:solidFill>
                <a:latin typeface="Calibri"/>
              </a:rPr>
              <a:t>. But the actual results were very surprising, as my fellow member will explain.</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05</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16 / 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6 — Observations of Rutherford Experiment</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There were three main observations, and each gave a conclusion.</a:t>
            </a:r>
          </a:p>
          <a:p>
            <a:pPr>
              <a:spcBef>
                <a:spcPts val="0"/>
              </a:spcBef>
              <a:spcAft>
                <a:spcPts val="1200"/>
              </a:spcAft>
            </a:pPr>
            <a:r>
              <a:rPr b="1" sz="2000">
                <a:solidFill>
                  <a:srgbClr val="1A2332"/>
                </a:solidFill>
                <a:latin typeface="Calibri"/>
              </a:rPr>
              <a:t>Observation 1:</a:t>
            </a:r>
            <a:r>
              <a:rPr sz="2000">
                <a:solidFill>
                  <a:srgbClr val="1A2332"/>
                </a:solidFill>
                <a:latin typeface="Calibri"/>
              </a:rPr>
              <a:t> Most alpha particles passed straight through the foil without any deflection. </a:t>
            </a:r>
            <a:r>
              <a:rPr b="1" sz="2000">
                <a:solidFill>
                  <a:srgbClr val="1A2332"/>
                </a:solidFill>
                <a:latin typeface="Calibri"/>
              </a:rPr>
              <a:t>Conclusion:</a:t>
            </a:r>
            <a:r>
              <a:rPr sz="2000">
                <a:solidFill>
                  <a:srgbClr val="1A2332"/>
                </a:solidFill>
                <a:latin typeface="Calibri"/>
              </a:rPr>
              <a:t> the atom is </a:t>
            </a:r>
            <a:r>
              <a:rPr b="1" sz="2000">
                <a:solidFill>
                  <a:srgbClr val="1A2332"/>
                </a:solidFill>
                <a:latin typeface="Calibri"/>
              </a:rPr>
              <a:t>mostly empty space</a:t>
            </a:r>
            <a:r>
              <a:rPr sz="2000">
                <a:solidFill>
                  <a:srgbClr val="1A2332"/>
                </a:solidFill>
                <a:latin typeface="Calibri"/>
              </a:rPr>
              <a:t>.</a:t>
            </a:r>
          </a:p>
          <a:p>
            <a:pPr>
              <a:spcBef>
                <a:spcPts val="0"/>
              </a:spcBef>
              <a:spcAft>
                <a:spcPts val="1200"/>
              </a:spcAft>
            </a:pPr>
            <a:r>
              <a:rPr b="1" sz="2000">
                <a:solidFill>
                  <a:srgbClr val="1A2332"/>
                </a:solidFill>
                <a:latin typeface="Calibri"/>
              </a:rPr>
              <a:t>Observation 2:</a:t>
            </a:r>
            <a:r>
              <a:rPr sz="2000">
                <a:solidFill>
                  <a:srgbClr val="1A2332"/>
                </a:solidFill>
                <a:latin typeface="Calibri"/>
              </a:rPr>
              <a:t> Some alpha particles were deflected by small angles. </a:t>
            </a:r>
            <a:r>
              <a:rPr b="1" sz="2000">
                <a:solidFill>
                  <a:srgbClr val="1A2332"/>
                </a:solidFill>
                <a:latin typeface="Calibri"/>
              </a:rPr>
              <a:t>Conclusion: positive charge exists inside the atom</a:t>
            </a:r>
            <a:r>
              <a:rPr sz="2000">
                <a:solidFill>
                  <a:srgbClr val="1A2332"/>
                </a:solidFill>
                <a:latin typeface="Calibri"/>
              </a:rPr>
              <a:t>, and it repelled the positively charged alpha particles. About 0.14% of particles were deflected by more than 1 degree.</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06</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17 / 41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6 — Observations of Rutherford Experiment</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b="1" sz="2000">
                <a:solidFill>
                  <a:srgbClr val="1A2332"/>
                </a:solidFill>
                <a:latin typeface="Calibri"/>
              </a:rPr>
              <a:t>Observation 3:</a:t>
            </a:r>
            <a:r>
              <a:rPr sz="2000">
                <a:solidFill>
                  <a:srgbClr val="1A2332"/>
                </a:solidFill>
                <a:latin typeface="Calibri"/>
              </a:rPr>
              <a:t> Very few alpha particles, about 1 in 8000, were deflected through large angles of more than 90 degrees, and some even bounced straight back. </a:t>
            </a:r>
            <a:r>
              <a:rPr b="1" sz="2000">
                <a:solidFill>
                  <a:srgbClr val="1A2332"/>
                </a:solidFill>
                <a:latin typeface="Calibri"/>
              </a:rPr>
              <a:t>Conclusion:</a:t>
            </a:r>
            <a:r>
              <a:rPr sz="2000">
                <a:solidFill>
                  <a:srgbClr val="1A2332"/>
                </a:solidFill>
                <a:latin typeface="Calibri"/>
              </a:rPr>
              <a:t> the positive charge and almost all the mass are concentrated in a </a:t>
            </a:r>
            <a:r>
              <a:rPr b="1" sz="2000">
                <a:solidFill>
                  <a:srgbClr val="1A2332"/>
                </a:solidFill>
                <a:latin typeface="Calibri"/>
              </a:rPr>
              <a:t>tiny, dense nucleus</a:t>
            </a:r>
            <a:r>
              <a:rPr sz="2000">
                <a:solidFill>
                  <a:srgbClr val="1A2332"/>
                </a:solidFill>
                <a:latin typeface="Calibri"/>
              </a:rPr>
              <a:t>. Only a head-on collision with such a concentrated charge could throw back a fast, heavy alpha particle. Rutherford later said it was like firing a huge shell at a piece of tissue paper and seeing it come back. This was the most surprising observation.</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06</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18 / 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6 — Observations of Rutherford Experiment</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667512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The amount of deflection depends on the </a:t>
            </a:r>
            <a:r>
              <a:rPr b="1" sz="2000">
                <a:solidFill>
                  <a:srgbClr val="1A2332"/>
                </a:solidFill>
                <a:latin typeface="Calibri"/>
              </a:rPr>
              <a:t>impact parameter</a:t>
            </a:r>
            <a:r>
              <a:rPr sz="2000">
                <a:solidFill>
                  <a:srgbClr val="1A2332"/>
                </a:solidFill>
                <a:latin typeface="Calibri"/>
              </a:rPr>
              <a:t>, which is the perpendicular distance between the alpha particle's original path and the centre of the nucleus. A </a:t>
            </a:r>
            <a:r>
              <a:rPr b="1" sz="2000">
                <a:solidFill>
                  <a:srgbClr val="1A2332"/>
                </a:solidFill>
                <a:latin typeface="Calibri"/>
              </a:rPr>
              <a:t>small impact parameter</a:t>
            </a:r>
            <a:r>
              <a:rPr sz="2000">
                <a:solidFill>
                  <a:srgbClr val="1A2332"/>
                </a:solidFill>
                <a:latin typeface="Calibri"/>
              </a:rPr>
              <a:t> means a close approach and a large deflection, and a head-on approach, with impact parameter zero, makes the particle bounce back at 180 degrees. A </a:t>
            </a:r>
            <a:r>
              <a:rPr b="1" sz="2000">
                <a:solidFill>
                  <a:srgbClr val="1A2332"/>
                </a:solidFill>
                <a:latin typeface="Calibri"/>
              </a:rPr>
              <a:t>large impact parameter</a:t>
            </a:r>
            <a:r>
              <a:rPr sz="2000">
                <a:solidFill>
                  <a:srgbClr val="1A2332"/>
                </a:solidFill>
                <a:latin typeface="Calibri"/>
              </a:rPr>
              <a:t> means a small deflection.</a:t>
            </a:r>
          </a:p>
          <a:p>
            <a:pPr>
              <a:spcBef>
                <a:spcPts val="0"/>
              </a:spcBef>
              <a:spcAft>
                <a:spcPts val="1200"/>
              </a:spcAft>
            </a:pPr>
            <a:r>
              <a:rPr sz="2000">
                <a:solidFill>
                  <a:srgbClr val="1A2332"/>
                </a:solidFill>
                <a:latin typeface="Calibri"/>
              </a:rPr>
              <a:t>From this data, Rutherford built a new model, which my fellow member will explain.</a:t>
            </a:r>
          </a:p>
        </p:txBody>
      </p:sp>
      <p:sp>
        <p:nvSpPr>
          <p:cNvPr id="5" name="Rounded Rectangle 4"/>
          <p:cNvSpPr/>
          <p:nvPr/>
        </p:nvSpPr>
        <p:spPr>
          <a:xfrm>
            <a:off x="7498079" y="1234440"/>
            <a:ext cx="4114800" cy="4846320"/>
          </a:xfrm>
          <a:prstGeom prst="roundRect">
            <a:avLst>
              <a:gd name="adj" fmla="val 8000"/>
            </a:avLst>
          </a:prstGeom>
          <a:solidFill>
            <a:srgbClr val="FFFFFF"/>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235440" y="3246120"/>
            <a:ext cx="548640" cy="548640"/>
          </a:xfrm>
          <a:prstGeom prst="ellipse">
            <a:avLst/>
          </a:prstGeom>
          <a:solidFill>
            <a:srgbClr val="F5A62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89719" y="3886200"/>
            <a:ext cx="731520" cy="457200"/>
          </a:xfrm>
          <a:prstGeom prst="rect">
            <a:avLst/>
          </a:prstGeom>
          <a:noFill/>
        </p:spPr>
        <p:txBody>
          <a:bodyPr wrap="none">
            <a:spAutoFit/>
          </a:bodyPr>
          <a:lstStyle/>
          <a:p>
            <a:pPr algn="ctr"/>
            <a:r>
              <a:rPr sz="1000" b="1">
                <a:solidFill>
                  <a:srgbClr val="0B1A33"/>
                </a:solidFill>
                <a:latin typeface="Calibri"/>
              </a:rPr>
              <a:t>nucleus</a:t>
            </a:r>
          </a:p>
        </p:txBody>
      </p:sp>
      <p:cxnSp>
        <p:nvCxnSpPr>
          <p:cNvPr id="8" name="Connector 7"/>
          <p:cNvCxnSpPr/>
          <p:nvPr/>
        </p:nvCxnSpPr>
        <p:spPr>
          <a:xfrm>
            <a:off x="7680959" y="2331720"/>
            <a:ext cx="1554481" cy="0"/>
          </a:xfrm>
          <a:prstGeom prst="line">
            <a:avLst/>
          </a:prstGeom>
          <a:ln w="25400">
            <a:solidFill>
              <a:srgbClr val="00D4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235440" y="2148840"/>
            <a:ext cx="1920240" cy="182880"/>
          </a:xfrm>
          <a:prstGeom prst="line">
            <a:avLst/>
          </a:prstGeom>
          <a:ln w="25400">
            <a:solidFill>
              <a:srgbClr val="00D4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875519" y="1691640"/>
            <a:ext cx="1463040" cy="457200"/>
          </a:xfrm>
          <a:prstGeom prst="rect">
            <a:avLst/>
          </a:prstGeom>
          <a:noFill/>
        </p:spPr>
        <p:txBody>
          <a:bodyPr wrap="none">
            <a:spAutoFit/>
          </a:bodyPr>
          <a:lstStyle/>
          <a:p>
            <a:r>
              <a:rPr sz="1000" b="1">
                <a:solidFill>
                  <a:srgbClr val="0B1A33"/>
                </a:solidFill>
                <a:latin typeface="Calibri"/>
              </a:rPr>
              <a:t>large impact parameter</a:t>
            </a:r>
          </a:p>
        </p:txBody>
      </p:sp>
      <p:cxnSp>
        <p:nvCxnSpPr>
          <p:cNvPr id="11" name="Connector 10"/>
          <p:cNvCxnSpPr/>
          <p:nvPr/>
        </p:nvCxnSpPr>
        <p:spPr>
          <a:xfrm flipV="1">
            <a:off x="7680959" y="3474720"/>
            <a:ext cx="1508760" cy="45720"/>
          </a:xfrm>
          <a:prstGeom prst="line">
            <a:avLst/>
          </a:prstGeom>
          <a:ln w="31750">
            <a:solidFill>
              <a:srgbClr val="00D4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89719" y="3474720"/>
            <a:ext cx="1874521" cy="777240"/>
          </a:xfrm>
          <a:prstGeom prst="line">
            <a:avLst/>
          </a:prstGeom>
          <a:ln w="31750">
            <a:solidFill>
              <a:srgbClr val="00D4F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875519" y="4343400"/>
            <a:ext cx="1463040" cy="457200"/>
          </a:xfrm>
          <a:prstGeom prst="rect">
            <a:avLst/>
          </a:prstGeom>
          <a:noFill/>
        </p:spPr>
        <p:txBody>
          <a:bodyPr wrap="none">
            <a:spAutoFit/>
          </a:bodyPr>
          <a:lstStyle/>
          <a:p>
            <a:r>
              <a:rPr sz="1000" b="1">
                <a:solidFill>
                  <a:srgbClr val="0B1A33"/>
                </a:solidFill>
                <a:latin typeface="Calibri"/>
              </a:rPr>
              <a:t>small impact parameter</a:t>
            </a:r>
          </a:p>
        </p:txBody>
      </p:sp>
      <p:cxnSp>
        <p:nvCxnSpPr>
          <p:cNvPr id="14" name="Connector 13"/>
          <p:cNvCxnSpPr/>
          <p:nvPr/>
        </p:nvCxnSpPr>
        <p:spPr>
          <a:xfrm flipV="1">
            <a:off x="7680959" y="4983479"/>
            <a:ext cx="1554481" cy="182881"/>
          </a:xfrm>
          <a:prstGeom prst="line">
            <a:avLst/>
          </a:prstGeom>
          <a:ln w="31750">
            <a:solidFill>
              <a:srgbClr val="E5484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863840" y="4983479"/>
            <a:ext cx="1371600" cy="0"/>
          </a:xfrm>
          <a:prstGeom prst="line">
            <a:avLst/>
          </a:prstGeom>
          <a:ln w="31750">
            <a:solidFill>
              <a:srgbClr val="E5484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680959" y="5303520"/>
            <a:ext cx="1828800" cy="457200"/>
          </a:xfrm>
          <a:prstGeom prst="rect">
            <a:avLst/>
          </a:prstGeom>
          <a:noFill/>
        </p:spPr>
        <p:txBody>
          <a:bodyPr wrap="none">
            <a:spAutoFit/>
          </a:bodyPr>
          <a:lstStyle/>
          <a:p>
            <a:r>
              <a:rPr sz="1000" b="1">
                <a:solidFill>
                  <a:srgbClr val="0B1A33"/>
                </a:solidFill>
                <a:latin typeface="Calibri"/>
              </a:rPr>
              <a:t>impact parameter zero</a:t>
            </a:r>
          </a:p>
        </p:txBody>
      </p:sp>
      <p:sp>
        <p:nvSpPr>
          <p:cNvPr id="17" name="TextBox 16"/>
          <p:cNvSpPr txBox="1"/>
          <p:nvPr/>
        </p:nvSpPr>
        <p:spPr>
          <a:xfrm>
            <a:off x="9875519" y="5303520"/>
            <a:ext cx="1280160" cy="457200"/>
          </a:xfrm>
          <a:prstGeom prst="rect">
            <a:avLst/>
          </a:prstGeom>
          <a:noFill/>
        </p:spPr>
        <p:txBody>
          <a:bodyPr wrap="none">
            <a:spAutoFit/>
          </a:bodyPr>
          <a:lstStyle/>
          <a:p>
            <a:r>
              <a:rPr sz="1000" b="1">
                <a:solidFill>
                  <a:srgbClr val="0B1A33"/>
                </a:solidFill>
                <a:latin typeface="Calibri"/>
              </a:rPr>
              <a:t>180 degrees</a:t>
            </a:r>
          </a:p>
        </p:txBody>
      </p:sp>
      <p:sp>
        <p:nvSpPr>
          <p:cNvPr id="18" name="Rounded Rectangle 17"/>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06</a:t>
            </a:r>
          </a:p>
        </p:txBody>
      </p:sp>
      <p:sp>
        <p:nvSpPr>
          <p:cNvPr id="19" name="Rectangle 18"/>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19 / 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7 — Rutherford Nuclear Model</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34440"/>
            <a:ext cx="667512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Based on these observations Rutherford proposed the </a:t>
            </a:r>
            <a:r>
              <a:rPr b="1" sz="2000">
                <a:solidFill>
                  <a:srgbClr val="1A2332"/>
                </a:solidFill>
                <a:latin typeface="Calibri"/>
              </a:rPr>
              <a:t>nuclear model</a:t>
            </a:r>
            <a:r>
              <a:rPr sz="2000">
                <a:solidFill>
                  <a:srgbClr val="1A2332"/>
                </a:solidFill>
                <a:latin typeface="Calibri"/>
              </a:rPr>
              <a:t> in 1911.</a:t>
            </a:r>
          </a:p>
          <a:p>
            <a:pPr>
              <a:spcBef>
                <a:spcPts val="0"/>
              </a:spcBef>
              <a:spcAft>
                <a:spcPts val="1200"/>
              </a:spcAft>
            </a:pPr>
            <a:r>
              <a:rPr sz="2000">
                <a:solidFill>
                  <a:srgbClr val="1A2332"/>
                </a:solidFill>
                <a:latin typeface="Calibri"/>
              </a:rPr>
              <a:t>According to it, the atom has a </a:t>
            </a:r>
            <a:r>
              <a:rPr b="1" sz="2000">
                <a:solidFill>
                  <a:srgbClr val="1A2332"/>
                </a:solidFill>
                <a:latin typeface="Calibri"/>
              </a:rPr>
              <a:t>small, dense, positively charged nucleus</a:t>
            </a:r>
            <a:r>
              <a:rPr sz="2000">
                <a:solidFill>
                  <a:srgbClr val="1A2332"/>
                </a:solidFill>
                <a:latin typeface="Calibri"/>
              </a:rPr>
              <a:t> at the centre. </a:t>
            </a:r>
            <a:r>
              <a:rPr b="1" sz="2000">
                <a:solidFill>
                  <a:srgbClr val="1A2332"/>
                </a:solidFill>
                <a:latin typeface="Calibri"/>
              </a:rPr>
              <a:t>Most of the atom's mass is present in the nucleus.</a:t>
            </a:r>
            <a:r>
              <a:rPr sz="2000">
                <a:solidFill>
                  <a:srgbClr val="1A2332"/>
                </a:solidFill>
                <a:latin typeface="Calibri"/>
              </a:rPr>
              <a:t> The </a:t>
            </a:r>
            <a:r>
              <a:rPr b="1" sz="2000">
                <a:solidFill>
                  <a:srgbClr val="1A2332"/>
                </a:solidFill>
                <a:latin typeface="Calibri"/>
              </a:rPr>
              <a:t>electrons revolve around the nucleus</a:t>
            </a:r>
            <a:r>
              <a:rPr sz="2000">
                <a:solidFill>
                  <a:srgbClr val="1A2332"/>
                </a:solidFill>
                <a:latin typeface="Calibri"/>
              </a:rPr>
              <a:t> in circular orbits, and </a:t>
            </a:r>
            <a:r>
              <a:rPr b="1" sz="2000">
                <a:solidFill>
                  <a:srgbClr val="1A2332"/>
                </a:solidFill>
                <a:latin typeface="Calibri"/>
              </a:rPr>
              <a:t>most of the atom is empty space</a:t>
            </a:r>
            <a:r>
              <a:rPr sz="2000">
                <a:solidFill>
                  <a:srgbClr val="1A2332"/>
                </a:solidFill>
                <a:latin typeface="Calibri"/>
              </a:rPr>
              <a:t>. Because electrons orbit the nucleus like planets orbit the sun, it is also called the </a:t>
            </a:r>
            <a:r>
              <a:rPr b="1" sz="2000">
                <a:solidFill>
                  <a:srgbClr val="1A2332"/>
                </a:solidFill>
                <a:latin typeface="Calibri"/>
              </a:rPr>
              <a:t>planetary model</a:t>
            </a:r>
            <a:r>
              <a:rPr sz="2000">
                <a:solidFill>
                  <a:srgbClr val="1A2332"/>
                </a:solidFill>
                <a:latin typeface="Calibri"/>
              </a:rPr>
              <a:t>.</a:t>
            </a:r>
          </a:p>
          <a:p>
            <a:pPr>
              <a:spcBef>
                <a:spcPts val="0"/>
              </a:spcBef>
              <a:spcAft>
                <a:spcPts val="1200"/>
              </a:spcAft>
            </a:pPr>
            <a:r>
              <a:rPr sz="2000">
                <a:solidFill>
                  <a:srgbClr val="1A2332"/>
                </a:solidFill>
                <a:latin typeface="Calibri"/>
              </a:rPr>
              <a:t>What keeps electrons in orbit? Just as gravity keeps planets in orbit, the </a:t>
            </a:r>
            <a:r>
              <a:rPr b="1" sz="2000">
                <a:solidFill>
                  <a:srgbClr val="1A2332"/>
                </a:solidFill>
                <a:latin typeface="Calibri"/>
              </a:rPr>
              <a:t>electrostatic force of attraction</a:t>
            </a:r>
            <a:r>
              <a:rPr sz="2000">
                <a:solidFill>
                  <a:srgbClr val="1A2332"/>
                </a:solidFill>
                <a:latin typeface="Calibri"/>
              </a:rPr>
              <a:t> between the positive nucleus and the negative electron provides the </a:t>
            </a:r>
            <a:r>
              <a:rPr b="1" sz="2000">
                <a:solidFill>
                  <a:srgbClr val="1A2332"/>
                </a:solidFill>
                <a:latin typeface="Calibri"/>
              </a:rPr>
              <a:t>centripetal force</a:t>
            </a:r>
            <a:r>
              <a:rPr sz="2000">
                <a:solidFill>
                  <a:srgbClr val="1A2332"/>
                </a:solidFill>
                <a:latin typeface="Calibri"/>
              </a:rPr>
              <a:t>. We can write this as: the Coulomb force equals mv²/r.</a:t>
            </a:r>
          </a:p>
        </p:txBody>
      </p:sp>
      <p:sp>
        <p:nvSpPr>
          <p:cNvPr id="5" name="Rounded Rectangle 4"/>
          <p:cNvSpPr/>
          <p:nvPr/>
        </p:nvSpPr>
        <p:spPr>
          <a:xfrm>
            <a:off x="7498079" y="1234440"/>
            <a:ext cx="4114800" cy="4846320"/>
          </a:xfrm>
          <a:prstGeom prst="roundRect">
            <a:avLst>
              <a:gd name="adj" fmla="val 8000"/>
            </a:avLst>
          </a:prstGeom>
          <a:solidFill>
            <a:srgbClr val="FFFFFF"/>
          </a:solidFill>
          <a:ln w="254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0" y="3154680"/>
            <a:ext cx="822960" cy="822960"/>
          </a:xfrm>
          <a:prstGeom prst="ellipse">
            <a:avLst/>
          </a:prstGeom>
          <a:solidFill>
            <a:srgbClr val="F5A62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06840" y="4069080"/>
            <a:ext cx="1097280" cy="457200"/>
          </a:xfrm>
          <a:prstGeom prst="rect">
            <a:avLst/>
          </a:prstGeom>
          <a:noFill/>
        </p:spPr>
        <p:txBody>
          <a:bodyPr wrap="none">
            <a:spAutoFit/>
          </a:bodyPr>
          <a:lstStyle/>
          <a:p>
            <a:pPr algn="ctr"/>
            <a:r>
              <a:rPr sz="1100" b="1">
                <a:solidFill>
                  <a:srgbClr val="0B1A33"/>
                </a:solidFill>
                <a:latin typeface="Calibri"/>
              </a:rPr>
              <a:t>nucleus</a:t>
            </a:r>
          </a:p>
        </p:txBody>
      </p:sp>
      <p:sp>
        <p:nvSpPr>
          <p:cNvPr id="8" name="Oval 7"/>
          <p:cNvSpPr/>
          <p:nvPr/>
        </p:nvSpPr>
        <p:spPr>
          <a:xfrm>
            <a:off x="8138159" y="2423160"/>
            <a:ext cx="2834640" cy="2286000"/>
          </a:xfrm>
          <a:prstGeom prst="ellipse">
            <a:avLst/>
          </a:prstGeom>
          <a:noFill/>
          <a:ln w="3175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21040" y="2743200"/>
            <a:ext cx="256032" cy="256032"/>
          </a:xfrm>
          <a:prstGeom prst="ellipse">
            <a:avLst/>
          </a:prstGeom>
          <a:solidFill>
            <a:srgbClr val="0B1A3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0" y="3886200"/>
            <a:ext cx="256032" cy="256032"/>
          </a:xfrm>
          <a:prstGeom prst="ellipse">
            <a:avLst/>
          </a:prstGeom>
          <a:solidFill>
            <a:srgbClr val="0B1A33"/>
          </a:solidFill>
          <a:ln w="25400">
            <a:solidFill>
              <a:srgbClr val="0B1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4983479"/>
            <a:ext cx="3566160" cy="457200"/>
          </a:xfrm>
          <a:prstGeom prst="rect">
            <a:avLst/>
          </a:prstGeom>
          <a:noFill/>
        </p:spPr>
        <p:txBody>
          <a:bodyPr wrap="none">
            <a:spAutoFit/>
          </a:bodyPr>
          <a:lstStyle/>
          <a:p>
            <a:pPr algn="ctr"/>
            <a:r>
              <a:rPr sz="1100" b="1">
                <a:solidFill>
                  <a:srgbClr val="0B1A33"/>
                </a:solidFill>
                <a:latin typeface="Calibri"/>
              </a:rPr>
              <a:t>electrons</a:t>
            </a:r>
          </a:p>
        </p:txBody>
      </p:sp>
      <p:sp>
        <p:nvSpPr>
          <p:cNvPr id="12" name="Rounded Rectangle 11"/>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07</a:t>
            </a:r>
          </a:p>
        </p:txBody>
      </p:sp>
      <p:sp>
        <p:nvSpPr>
          <p:cNvPr id="13" name="Rectangle 12"/>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20 / 41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7 — Rutherford Nuclear Model</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The sizes are important. The </a:t>
            </a:r>
            <a:r>
              <a:rPr b="1" sz="2000">
                <a:solidFill>
                  <a:srgbClr val="1A2332"/>
                </a:solidFill>
                <a:latin typeface="Calibri"/>
              </a:rPr>
              <a:t>nucleus radius is about 10⁻¹⁵ to 10⁻¹⁴ metre</a:t>
            </a:r>
            <a:r>
              <a:rPr sz="2000">
                <a:solidFill>
                  <a:srgbClr val="1A2332"/>
                </a:solidFill>
                <a:latin typeface="Calibri"/>
              </a:rPr>
              <a:t>, while the </a:t>
            </a:r>
            <a:r>
              <a:rPr b="1" sz="2000">
                <a:solidFill>
                  <a:srgbClr val="1A2332"/>
                </a:solidFill>
                <a:latin typeface="Calibri"/>
              </a:rPr>
              <a:t>atom radius is about 10⁻¹⁰ metre</a:t>
            </a:r>
            <a:r>
              <a:rPr sz="2000">
                <a:solidFill>
                  <a:srgbClr val="1A2332"/>
                </a:solidFill>
                <a:latin typeface="Calibri"/>
              </a:rPr>
              <a:t>. That means the atom is about 10,000 to 100,000 times larger than its nucleus. If the atom were as big as a football stadium, the nucleus would be like a tiny seed at the centre.</a:t>
            </a:r>
          </a:p>
          <a:p>
            <a:pPr>
              <a:spcBef>
                <a:spcPts val="0"/>
              </a:spcBef>
              <a:spcAft>
                <a:spcPts val="1200"/>
              </a:spcAft>
            </a:pPr>
            <a:r>
              <a:rPr sz="2000">
                <a:solidFill>
                  <a:srgbClr val="1A2332"/>
                </a:solidFill>
                <a:latin typeface="Calibri"/>
              </a:rPr>
              <a:t>This model explains alpha scattering perfectly: the nucleus has a strong electric field close to it, so a nearby alpha particle gets strongly repelled, while most alpha particles never come close to any nucleus and go straight. Now my fellow member will compare Thomson's and Rutherford's models.</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07</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21 / 41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8 — Thomson vs Rutherford</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Let us compare both models. The main difference is the </a:t>
            </a:r>
            <a:r>
              <a:rPr b="1" sz="2000">
                <a:solidFill>
                  <a:srgbClr val="1A2332"/>
                </a:solidFill>
                <a:latin typeface="Calibri"/>
              </a:rPr>
              <a:t>position of the positive charge</a:t>
            </a:r>
            <a:r>
              <a:rPr sz="2000">
                <a:solidFill>
                  <a:srgbClr val="1A2332"/>
                </a:solidFill>
                <a:latin typeface="Calibri"/>
              </a:rPr>
              <a:t>.</a:t>
            </a:r>
          </a:p>
        </p:txBody>
      </p:sp>
      <p:graphicFrame>
        <p:nvGraphicFramePr>
          <p:cNvPr id="5" name="Table 4"/>
          <p:cNvGraphicFramePr>
            <a:graphicFrameLocks noGrp="1"/>
          </p:cNvGraphicFramePr>
          <p:nvPr/>
        </p:nvGraphicFramePr>
        <p:xfrm>
          <a:off x="640080" y="2834640"/>
          <a:ext cx="10881360" cy="3017520"/>
        </p:xfrm>
        <a:graphic>
          <a:graphicData uri="http://schemas.openxmlformats.org/drawingml/2006/table">
            <a:tbl>
              <a:tblPr firstRow="1" bandRow="1">
                <a:tableStyleId>{5C22544A-7EE6-4342-B048-85BDC9FD1C3A}</a:tableStyleId>
              </a:tblPr>
              <a:tblGrid>
                <a:gridCol w="2377440"/>
                <a:gridCol w="4251960"/>
                <a:gridCol w="4251960"/>
              </a:tblGrid>
              <a:tr h="603504">
                <a:tc>
                  <a:txBody>
                    <a:bodyPr/>
                    <a:lstStyle/>
                    <a:p>
                      <a:r>
                        <a:rPr sz="1600" b="1">
                          <a:solidFill>
                            <a:srgbClr val="FFFFFF"/>
                          </a:solidFill>
                          <a:latin typeface="Calibri"/>
                        </a:rPr>
                        <a:t/>
                      </a:r>
                    </a:p>
                  </a:txBody>
                  <a:tcPr anchor="ctr">
                    <a:solidFill>
                      <a:srgbClr val="0B1A33"/>
                    </a:solidFill>
                  </a:tcPr>
                </a:tc>
                <a:tc>
                  <a:txBody>
                    <a:bodyPr/>
                    <a:lstStyle/>
                    <a:p>
                      <a:r>
                        <a:rPr sz="1600" b="1">
                          <a:solidFill>
                            <a:srgbClr val="FFFFFF"/>
                          </a:solidFill>
                          <a:latin typeface="Calibri"/>
                        </a:rPr>
                        <a:t>Thomson model</a:t>
                      </a:r>
                    </a:p>
                  </a:txBody>
                  <a:tcPr anchor="ctr">
                    <a:solidFill>
                      <a:srgbClr val="0B1A33"/>
                    </a:solidFill>
                  </a:tcPr>
                </a:tc>
                <a:tc>
                  <a:txBody>
                    <a:bodyPr/>
                    <a:lstStyle/>
                    <a:p>
                      <a:r>
                        <a:rPr sz="1600" b="1">
                          <a:solidFill>
                            <a:srgbClr val="FFFFFF"/>
                          </a:solidFill>
                          <a:latin typeface="Calibri"/>
                        </a:rPr>
                        <a:t>Rutherford model</a:t>
                      </a:r>
                    </a:p>
                  </a:txBody>
                  <a:tcPr anchor="ctr">
                    <a:solidFill>
                      <a:srgbClr val="0B1A33"/>
                    </a:solidFill>
                  </a:tcPr>
                </a:tc>
              </a:tr>
              <a:tr h="603504">
                <a:tc>
                  <a:txBody>
                    <a:bodyPr/>
                    <a:lstStyle/>
                    <a:p>
                      <a:r>
                        <a:rPr sz="1600" b="0">
                          <a:solidFill>
                            <a:srgbClr val="1A2332"/>
                          </a:solidFill>
                          <a:latin typeface="Calibri"/>
                        </a:rPr>
                        <a:t>Positive charge</a:t>
                      </a:r>
                    </a:p>
                  </a:txBody>
                  <a:tcPr anchor="ctr">
                    <a:solidFill>
                      <a:srgbClr val="FFFFFF"/>
                    </a:solidFill>
                  </a:tcPr>
                </a:tc>
                <a:tc>
                  <a:txBody>
                    <a:bodyPr/>
                    <a:lstStyle/>
                    <a:p>
                      <a:r>
                        <a:rPr sz="1600" b="0">
                          <a:solidFill>
                            <a:srgbClr val="1A2332"/>
                          </a:solidFill>
                          <a:latin typeface="Calibri"/>
                        </a:rPr>
                        <a:t>Spread throughout the atom</a:t>
                      </a:r>
                    </a:p>
                  </a:txBody>
                  <a:tcPr anchor="ctr">
                    <a:solidFill>
                      <a:srgbClr val="FFFFFF"/>
                    </a:solidFill>
                  </a:tcPr>
                </a:tc>
                <a:tc>
                  <a:txBody>
                    <a:bodyPr/>
                    <a:lstStyle/>
                    <a:p>
                      <a:r>
                        <a:rPr sz="1600" b="0">
                          <a:solidFill>
                            <a:srgbClr val="1A2332"/>
                          </a:solidFill>
                          <a:latin typeface="Calibri"/>
                        </a:rPr>
                        <a:t>Concentrated in the nucleus</a:t>
                      </a:r>
                    </a:p>
                  </a:txBody>
                  <a:tcPr anchor="ctr">
                    <a:solidFill>
                      <a:srgbClr val="FFFFFF"/>
                    </a:solidFill>
                  </a:tcPr>
                </a:tc>
              </a:tr>
              <a:tr h="603504">
                <a:tc>
                  <a:txBody>
                    <a:bodyPr/>
                    <a:lstStyle/>
                    <a:p>
                      <a:r>
                        <a:rPr sz="1600" b="0">
                          <a:solidFill>
                            <a:srgbClr val="1A2332"/>
                          </a:solidFill>
                          <a:latin typeface="Calibri"/>
                        </a:rPr>
                        <a:t>Electrons</a:t>
                      </a:r>
                    </a:p>
                  </a:txBody>
                  <a:tcPr anchor="ctr">
                    <a:solidFill>
                      <a:srgbClr val="EFF3F8"/>
                    </a:solidFill>
                  </a:tcPr>
                </a:tc>
                <a:tc>
                  <a:txBody>
                    <a:bodyPr/>
                    <a:lstStyle/>
                    <a:p>
                      <a:r>
                        <a:rPr sz="1600" b="0">
                          <a:solidFill>
                            <a:srgbClr val="1A2332"/>
                          </a:solidFill>
                          <a:latin typeface="Calibri"/>
                        </a:rPr>
                        <a:t>Embedded in the positive sphere</a:t>
                      </a:r>
                    </a:p>
                  </a:txBody>
                  <a:tcPr anchor="ctr">
                    <a:solidFill>
                      <a:srgbClr val="EFF3F8"/>
                    </a:solidFill>
                  </a:tcPr>
                </a:tc>
                <a:tc>
                  <a:txBody>
                    <a:bodyPr/>
                    <a:lstStyle/>
                    <a:p>
                      <a:r>
                        <a:rPr sz="1600" b="0">
                          <a:solidFill>
                            <a:srgbClr val="1A2332"/>
                          </a:solidFill>
                          <a:latin typeface="Calibri"/>
                        </a:rPr>
                        <a:t>Revolve around the nucleus</a:t>
                      </a:r>
                    </a:p>
                  </a:txBody>
                  <a:tcPr anchor="ctr">
                    <a:solidFill>
                      <a:srgbClr val="EFF3F8"/>
                    </a:solidFill>
                  </a:tcPr>
                </a:tc>
              </a:tr>
              <a:tr h="603504">
                <a:tc>
                  <a:txBody>
                    <a:bodyPr/>
                    <a:lstStyle/>
                    <a:p>
                      <a:r>
                        <a:rPr sz="1600" b="0">
                          <a:solidFill>
                            <a:srgbClr val="1A2332"/>
                          </a:solidFill>
                          <a:latin typeface="Calibri"/>
                        </a:rPr>
                        <a:t>Nucleus</a:t>
                      </a:r>
                    </a:p>
                  </a:txBody>
                  <a:tcPr anchor="ctr">
                    <a:solidFill>
                      <a:srgbClr val="FFFFFF"/>
                    </a:solidFill>
                  </a:tcPr>
                </a:tc>
                <a:tc>
                  <a:txBody>
                    <a:bodyPr/>
                    <a:lstStyle/>
                    <a:p>
                      <a:r>
                        <a:rPr sz="1600" b="0">
                          <a:solidFill>
                            <a:srgbClr val="1A2332"/>
                          </a:solidFill>
                          <a:latin typeface="Calibri"/>
                        </a:rPr>
                        <a:t>No nucleus</a:t>
                      </a:r>
                    </a:p>
                  </a:txBody>
                  <a:tcPr anchor="ctr">
                    <a:solidFill>
                      <a:srgbClr val="FFFFFF"/>
                    </a:solidFill>
                  </a:tcPr>
                </a:tc>
                <a:tc>
                  <a:txBody>
                    <a:bodyPr/>
                    <a:lstStyle/>
                    <a:p>
                      <a:r>
                        <a:rPr sz="1600" b="0">
                          <a:solidFill>
                            <a:srgbClr val="1A2332"/>
                          </a:solidFill>
                          <a:latin typeface="Calibri"/>
                        </a:rPr>
                        <a:t>Nucleus present</a:t>
                      </a:r>
                    </a:p>
                  </a:txBody>
                  <a:tcPr anchor="ctr">
                    <a:solidFill>
                      <a:srgbClr val="FFFFFF"/>
                    </a:solidFill>
                  </a:tcPr>
                </a:tc>
              </a:tr>
              <a:tr h="603504">
                <a:tc>
                  <a:txBody>
                    <a:bodyPr/>
                    <a:lstStyle/>
                    <a:p>
                      <a:r>
                        <a:rPr sz="1600" b="0">
                          <a:solidFill>
                            <a:srgbClr val="1A2332"/>
                          </a:solidFill>
                          <a:latin typeface="Calibri"/>
                        </a:rPr>
                        <a:t>Alpha scattering</a:t>
                      </a:r>
                    </a:p>
                  </a:txBody>
                  <a:tcPr anchor="ctr">
                    <a:solidFill>
                      <a:srgbClr val="EFF3F8"/>
                    </a:solidFill>
                  </a:tcPr>
                </a:tc>
                <a:tc>
                  <a:txBody>
                    <a:bodyPr/>
                    <a:lstStyle/>
                    <a:p>
                      <a:r>
                        <a:rPr sz="1600" b="0">
                          <a:solidFill>
                            <a:srgbClr val="1A2332"/>
                          </a:solidFill>
                          <a:latin typeface="Calibri"/>
                        </a:rPr>
                        <a:t>Failed to explain it</a:t>
                      </a:r>
                    </a:p>
                  </a:txBody>
                  <a:tcPr anchor="ctr">
                    <a:solidFill>
                      <a:srgbClr val="EFF3F8"/>
                    </a:solidFill>
                  </a:tcPr>
                </a:tc>
                <a:tc>
                  <a:txBody>
                    <a:bodyPr/>
                    <a:lstStyle/>
                    <a:p>
                      <a:r>
                        <a:rPr sz="1600" b="0">
                          <a:solidFill>
                            <a:srgbClr val="1A2332"/>
                          </a:solidFill>
                          <a:latin typeface="Calibri"/>
                        </a:rPr>
                        <a:t>Successfully explained it</a:t>
                      </a:r>
                    </a:p>
                  </a:txBody>
                  <a:tcPr anchor="ctr">
                    <a:solidFill>
                      <a:srgbClr val="EFF3F8"/>
                    </a:solidFill>
                  </a:tcPr>
                </a:tc>
              </a:tr>
            </a:tbl>
          </a:graphicData>
        </a:graphic>
      </p:graphicFrame>
      <p:sp>
        <p:nvSpPr>
          <p:cNvPr id="6" name="Rounded Rectangle 5"/>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08</a:t>
            </a:r>
          </a:p>
        </p:txBody>
      </p:sp>
      <p:sp>
        <p:nvSpPr>
          <p:cNvPr id="7" name="Rectangle 6"/>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22 / 41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8 — Thomson vs Rutherford</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So Thomson imagined a uniform, filled atom, while Rutherford showed that the atom is mostly empty with a tiny dense centre. Thomson's contribution was proving that electrons exist inside atoms. Rutherford's contribution was discovering the nucleus. Each model improved on the previous one using experimental evidence.</a:t>
            </a:r>
          </a:p>
          <a:p>
            <a:pPr>
              <a:spcBef>
                <a:spcPts val="0"/>
              </a:spcBef>
              <a:spcAft>
                <a:spcPts val="1200"/>
              </a:spcAft>
            </a:pPr>
            <a:r>
              <a:rPr sz="2000">
                <a:solidFill>
                  <a:srgbClr val="1A2332"/>
                </a:solidFill>
                <a:latin typeface="Calibri"/>
              </a:rPr>
              <a:t>But there is one thing common to both: they were </a:t>
            </a:r>
            <a:r>
              <a:rPr b="1" sz="2000">
                <a:solidFill>
                  <a:srgbClr val="1A2332"/>
                </a:solidFill>
                <a:latin typeface="Calibri"/>
              </a:rPr>
              <a:t>classical models</a:t>
            </a:r>
            <a:r>
              <a:rPr sz="2000">
                <a:solidFill>
                  <a:srgbClr val="1A2332"/>
                </a:solidFill>
                <a:latin typeface="Calibri"/>
              </a:rPr>
              <a:t>, based on classical physics. And classical models also had serious limitations, which my fellow member will explain.</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08</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23 / 41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9 — Limitations of Classical Models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Rutherford's model was a big step, but it also failed, because of classical physics.</a:t>
            </a:r>
          </a:p>
          <a:p>
            <a:pPr>
              <a:spcBef>
                <a:spcPts val="0"/>
              </a:spcBef>
              <a:spcAft>
                <a:spcPts val="1200"/>
              </a:spcAft>
            </a:pPr>
            <a:r>
              <a:rPr sz="2000">
                <a:solidFill>
                  <a:srgbClr val="1A2332"/>
                </a:solidFill>
                <a:latin typeface="Calibri"/>
              </a:rPr>
              <a:t>In a circular orbit, the electron is constantly changing direction, so it is </a:t>
            </a:r>
            <a:r>
              <a:rPr b="1" sz="2000">
                <a:solidFill>
                  <a:srgbClr val="1A2332"/>
                </a:solidFill>
                <a:latin typeface="Calibri"/>
              </a:rPr>
              <a:t>accelerated</a:t>
            </a:r>
            <a:r>
              <a:rPr sz="2000">
                <a:solidFill>
                  <a:srgbClr val="1A2332"/>
                </a:solidFill>
                <a:latin typeface="Calibri"/>
              </a:rPr>
              <a:t>. Classical physics, specifically Maxwell's electromagnetic theory, says that an </a:t>
            </a:r>
            <a:r>
              <a:rPr b="1" sz="2000">
                <a:solidFill>
                  <a:srgbClr val="1A2332"/>
                </a:solidFill>
                <a:latin typeface="Calibri"/>
              </a:rPr>
              <a:t>accelerated charge radiates energy</a:t>
            </a:r>
            <a:r>
              <a:rPr sz="2000">
                <a:solidFill>
                  <a:srgbClr val="1A2332"/>
                </a:solidFill>
                <a:latin typeface="Calibri"/>
              </a:rPr>
              <a:t> in the form of electromagnetic waves. So the electron should </a:t>
            </a:r>
            <a:r>
              <a:rPr b="1" sz="2000">
                <a:solidFill>
                  <a:srgbClr val="1A2332"/>
                </a:solidFill>
                <a:latin typeface="Calibri"/>
              </a:rPr>
              <a:t>lose energy continuously</a:t>
            </a:r>
            <a:r>
              <a:rPr sz="2000">
                <a:solidFill>
                  <a:srgbClr val="1A2332"/>
                </a:solidFill>
                <a:latin typeface="Calibri"/>
              </a:rPr>
              <a:t>. As it loses energy, its orbit should shrink, and it should </a:t>
            </a:r>
            <a:r>
              <a:rPr b="1" sz="2000">
                <a:solidFill>
                  <a:srgbClr val="1A2332"/>
                </a:solidFill>
                <a:latin typeface="Calibri"/>
              </a:rPr>
              <a:t>spiral into the nucleus</a:t>
            </a:r>
            <a:r>
              <a:rPr sz="2000">
                <a:solidFill>
                  <a:srgbClr val="1A2332"/>
                </a:solidFill>
                <a:latin typeface="Calibri"/>
              </a:rPr>
              <a:t>. Calculations show this would take only about 10⁻¹¹ second. So the </a:t>
            </a:r>
            <a:r>
              <a:rPr b="1" sz="2000">
                <a:solidFill>
                  <a:srgbClr val="1A2332"/>
                </a:solidFill>
                <a:latin typeface="Calibri"/>
              </a:rPr>
              <a:t>atom should collapse</a:t>
            </a:r>
            <a:r>
              <a:rPr sz="2000">
                <a:solidFill>
                  <a:srgbClr val="1A2332"/>
                </a:solidFill>
                <a:latin typeface="Calibri"/>
              </a:rPr>
              <a:t>. But in reality, </a:t>
            </a:r>
            <a:r>
              <a:rPr b="1" sz="2000">
                <a:solidFill>
                  <a:srgbClr val="1A2332"/>
                </a:solidFill>
                <a:latin typeface="Calibri"/>
              </a:rPr>
              <a:t>atoms are stable</a:t>
            </a:r>
            <a:r>
              <a:rPr sz="2000">
                <a:solidFill>
                  <a:srgbClr val="1A2332"/>
                </a:solidFill>
                <a:latin typeface="Calibri"/>
              </a:rPr>
              <a:t>.</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09</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24 / 41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9 — Limitations of Classical Models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The second problem is the spectrum. Since the electron would spiral inward, its frequency would change continuously, so the classical model predicts a </a:t>
            </a:r>
            <a:r>
              <a:rPr b="1" sz="2000">
                <a:solidFill>
                  <a:srgbClr val="1A2332"/>
                </a:solidFill>
                <a:latin typeface="Calibri"/>
              </a:rPr>
              <a:t>continuous spectrum</a:t>
            </a:r>
            <a:r>
              <a:rPr sz="2000">
                <a:solidFill>
                  <a:srgbClr val="1A2332"/>
                </a:solidFill>
                <a:latin typeface="Calibri"/>
              </a:rPr>
              <a:t>, with all wavelengths. But real atoms, like hydrogen, show a </a:t>
            </a:r>
            <a:r>
              <a:rPr b="1" sz="2000">
                <a:solidFill>
                  <a:srgbClr val="1A2332"/>
                </a:solidFill>
                <a:latin typeface="Calibri"/>
              </a:rPr>
              <a:t>line spectrum</a:t>
            </a:r>
            <a:r>
              <a:rPr sz="2000">
                <a:solidFill>
                  <a:srgbClr val="1A2332"/>
                </a:solidFill>
                <a:latin typeface="Calibri"/>
              </a:rPr>
              <a:t>, only specific wavelengths such as the Balmer series in the visible region. These lines follow the Rydberg formula, which Rutherford's model could not explain.</a:t>
            </a:r>
          </a:p>
          <a:p>
            <a:pPr>
              <a:spcBef>
                <a:spcPts val="0"/>
              </a:spcBef>
              <a:spcAft>
                <a:spcPts val="1200"/>
              </a:spcAft>
            </a:pPr>
            <a:r>
              <a:rPr sz="2000">
                <a:solidFill>
                  <a:srgbClr val="1A2332"/>
                </a:solidFill>
                <a:latin typeface="Calibri"/>
              </a:rPr>
              <a:t>Therefore, </a:t>
            </a:r>
            <a:r>
              <a:rPr b="1" sz="2000">
                <a:solidFill>
                  <a:srgbClr val="1A2332"/>
                </a:solidFill>
                <a:latin typeface="Calibri"/>
              </a:rPr>
              <a:t>classical physics fails at the atomic scale</a:t>
            </a:r>
            <a:r>
              <a:rPr sz="2000">
                <a:solidFill>
                  <a:srgbClr val="1A2332"/>
                </a:solidFill>
                <a:latin typeface="Calibri"/>
              </a:rPr>
              <a:t>, and a new theory was needed. Let us see how it was solved.</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09</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25 / 41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10 — Conclusion and Modern Atomic Theory</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To conclude: </a:t>
            </a:r>
            <a:r>
              <a:rPr b="1" sz="2000">
                <a:solidFill>
                  <a:srgbClr val="1A2332"/>
                </a:solidFill>
                <a:latin typeface="Calibri"/>
              </a:rPr>
              <a:t>Thomson</a:t>
            </a:r>
            <a:r>
              <a:rPr sz="2000">
                <a:solidFill>
                  <a:srgbClr val="1A2332"/>
                </a:solidFill>
                <a:latin typeface="Calibri"/>
              </a:rPr>
              <a:t> discovered the electron and proposed the plum pudding model. </a:t>
            </a:r>
            <a:r>
              <a:rPr b="1" sz="2000">
                <a:solidFill>
                  <a:srgbClr val="1A2332"/>
                </a:solidFill>
                <a:latin typeface="Calibri"/>
              </a:rPr>
              <a:t>Rutherford</a:t>
            </a:r>
            <a:r>
              <a:rPr sz="2000">
                <a:solidFill>
                  <a:srgbClr val="1A2332"/>
                </a:solidFill>
                <a:latin typeface="Calibri"/>
              </a:rPr>
              <a:t> discovered the nucleus and proposed the planetary model. But </a:t>
            </a:r>
            <a:r>
              <a:rPr b="1" sz="2000">
                <a:solidFill>
                  <a:srgbClr val="1A2332"/>
                </a:solidFill>
                <a:latin typeface="Calibri"/>
              </a:rPr>
              <a:t>classical models failed to explain stability and spectra</a:t>
            </a:r>
            <a:r>
              <a:rPr sz="2000">
                <a:solidFill>
                  <a:srgbClr val="1A2332"/>
                </a:solidFill>
                <a:latin typeface="Calibri"/>
              </a:rPr>
              <a:t>.</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10</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26 / 41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10 — Conclusion and Modern Atomic Theory</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In </a:t>
            </a:r>
            <a:r>
              <a:rPr b="1" sz="2000">
                <a:solidFill>
                  <a:srgbClr val="1A2332"/>
                </a:solidFill>
                <a:latin typeface="Calibri"/>
              </a:rPr>
              <a:t>1913</a:t>
            </a:r>
            <a:r>
              <a:rPr sz="2000">
                <a:solidFill>
                  <a:srgbClr val="1A2332"/>
                </a:solidFill>
                <a:latin typeface="Calibri"/>
              </a:rPr>
              <a:t>, Niels </a:t>
            </a:r>
            <a:r>
              <a:rPr b="1" sz="2000">
                <a:solidFill>
                  <a:srgbClr val="1A2332"/>
                </a:solidFill>
                <a:latin typeface="Calibri"/>
              </a:rPr>
              <a:t>Bohr</a:t>
            </a:r>
            <a:r>
              <a:rPr sz="2000">
                <a:solidFill>
                  <a:srgbClr val="1A2332"/>
                </a:solidFill>
                <a:latin typeface="Calibri"/>
              </a:rPr>
              <a:t> fixed this with three ideas. First, electrons move only in certain </a:t>
            </a:r>
            <a:r>
              <a:rPr b="1" sz="2000">
                <a:solidFill>
                  <a:srgbClr val="1A2332"/>
                </a:solidFill>
                <a:latin typeface="Calibri"/>
              </a:rPr>
              <a:t>stationary orbits</a:t>
            </a:r>
            <a:r>
              <a:rPr sz="2000">
                <a:solidFill>
                  <a:srgbClr val="1A2332"/>
                </a:solidFill>
                <a:latin typeface="Calibri"/>
              </a:rPr>
              <a:t> and do not radiate energy while in them. Second, only orbits where the angular momentum is a whole-number multiple of h/2π are allowed, which means orbits are </a:t>
            </a:r>
            <a:r>
              <a:rPr b="1" sz="2000">
                <a:solidFill>
                  <a:srgbClr val="1A2332"/>
                </a:solidFill>
                <a:latin typeface="Calibri"/>
              </a:rPr>
              <a:t>quantised</a:t>
            </a:r>
            <a:r>
              <a:rPr sz="2000">
                <a:solidFill>
                  <a:srgbClr val="1A2332"/>
                </a:solidFill>
                <a:latin typeface="Calibri"/>
              </a:rPr>
              <a:t>. Third, an electron emits or absorbs light only when it jumps between orbits, and the energy is hν, the difference between the two energy levels. This explained the hydrogen line spectrum. For hydrogen, the energy levels are −13.6/n² electron volts.</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10</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27 / 41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Member 10 — Conclusion and Modern Atomic Theory</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But Bohr's model worked only for hydrogen-like atoms. So the </a:t>
            </a:r>
            <a:r>
              <a:rPr b="1" sz="2000">
                <a:solidFill>
                  <a:srgbClr val="1A2332"/>
                </a:solidFill>
                <a:latin typeface="Calibri"/>
              </a:rPr>
              <a:t>modern quantum model</a:t>
            </a:r>
            <a:r>
              <a:rPr sz="2000">
                <a:solidFill>
                  <a:srgbClr val="1A2332"/>
                </a:solidFill>
                <a:latin typeface="Calibri"/>
              </a:rPr>
              <a:t> was developed, based on Heisenberg's uncertainty principle and Schrödinger's wave equation. It says we cannot know the exact path of an electron, only the </a:t>
            </a:r>
            <a:r>
              <a:rPr b="1" sz="2000">
                <a:solidFill>
                  <a:srgbClr val="1A2332"/>
                </a:solidFill>
                <a:latin typeface="Calibri"/>
              </a:rPr>
              <a:t>probability</a:t>
            </a:r>
            <a:r>
              <a:rPr sz="2000">
                <a:solidFill>
                  <a:srgbClr val="1A2332"/>
                </a:solidFill>
                <a:latin typeface="Calibri"/>
              </a:rPr>
              <a:t> of finding it in a region of space. Such a region is called an </a:t>
            </a:r>
            <a:r>
              <a:rPr b="1" sz="2000">
                <a:solidFill>
                  <a:srgbClr val="1A2332"/>
                </a:solidFill>
                <a:latin typeface="Calibri"/>
              </a:rPr>
              <a:t>orbital</a:t>
            </a:r>
            <a:r>
              <a:rPr sz="2000">
                <a:solidFill>
                  <a:srgbClr val="1A2332"/>
                </a:solidFill>
                <a:latin typeface="Calibri"/>
              </a:rPr>
              <a:t>, described by quantum numbers.</a:t>
            </a:r>
          </a:p>
          <a:p>
            <a:pPr>
              <a:spcBef>
                <a:spcPts val="0"/>
              </a:spcBef>
              <a:spcAft>
                <a:spcPts val="1200"/>
              </a:spcAft>
            </a:pPr>
            <a:r>
              <a:rPr sz="2000">
                <a:solidFill>
                  <a:srgbClr val="1A2332"/>
                </a:solidFill>
                <a:latin typeface="Calibri"/>
              </a:rPr>
              <a:t>The timeline is: </a:t>
            </a:r>
            <a:r>
              <a:rPr b="1" sz="2000">
                <a:solidFill>
                  <a:srgbClr val="1A2332"/>
                </a:solidFill>
                <a:latin typeface="Calibri"/>
              </a:rPr>
              <a:t>Dalton → Thomson → Rutherford → Bohr → Quantum Model.</a:t>
            </a:r>
            <a:r>
              <a:rPr sz="2000">
                <a:solidFill>
                  <a:srgbClr val="1A2332"/>
                </a:solidFill>
                <a:latin typeface="Calibri"/>
              </a:rPr>
              <a:t> Atomic theory developed through experiments and the correction of old models.</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10</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28 / 41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Quick Revision (Any Member)</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Quick revision. The electron was discovered by J.J. Thomson in 1897. The Thomson model is the plum pudding model and has no nucleus. Rutherford's experiment is the gold foil, or alpha scattering, experiment. Rutherford discovered the nucleus, and his model is the planetary model. Classical models failed to explain stability and line spectra. Bohr introduced quantised orbits, and the modern model uses orbitals.</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ANY MEMBER</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29 / 41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Closing (All Members Together)</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Respected teacher and friends, thank you for listening to our presentation. We are ready for questions.</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ALL MEMBERS</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30 / 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Suggestion: let the member who presented that topic answer, instead of leaving all ten to Member 10.</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ALL MEMBERS</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31 / 41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1. </a:t>
            </a:r>
            <a:r>
              <a:rPr b="1" sz="2000">
                <a:solidFill>
                  <a:srgbClr val="1A2332"/>
                </a:solidFill>
                <a:latin typeface="Calibri"/>
              </a:rPr>
              <a:t>What is an atom?</a:t>
            </a:r>
            <a:r>
              <a:rPr sz="2000">
                <a:solidFill>
                  <a:srgbClr val="1A2332"/>
                </a:solidFill>
                <a:latin typeface="Calibri"/>
              </a:rPr>
              <a:t> (Member 1) The smallest particle of an element that can take part in chemical reactions. It was once thought indivisible, but it contains electrons, protons, and neutrons.</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01</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32 / 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2. </a:t>
            </a:r>
            <a:r>
              <a:rPr b="1" sz="2000">
                <a:solidFill>
                  <a:srgbClr val="1A2332"/>
                </a:solidFill>
                <a:latin typeface="Calibri"/>
              </a:rPr>
              <a:t>Why is the Thomson model called the plum pudding model?</a:t>
            </a:r>
            <a:r>
              <a:rPr sz="2000">
                <a:solidFill>
                  <a:srgbClr val="1A2332"/>
                </a:solidFill>
                <a:latin typeface="Calibri"/>
              </a:rPr>
              <a:t> (Member 3) Because electrons are embedded in a positive sphere, like plums in a pudding or seeds in a watermelon.</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03</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33 / 41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3. </a:t>
            </a:r>
            <a:r>
              <a:rPr b="1" sz="2000">
                <a:solidFill>
                  <a:srgbClr val="1A2332"/>
                </a:solidFill>
                <a:latin typeface="Calibri"/>
              </a:rPr>
              <a:t>What are cathode rays?</a:t>
            </a:r>
            <a:r>
              <a:rPr sz="2000">
                <a:solidFill>
                  <a:srgbClr val="1A2332"/>
                </a:solidFill>
                <a:latin typeface="Calibri"/>
              </a:rPr>
              <a:t> (Member 2) Streams of negatively charged particles, called electrons, that travel from cathode to anode in a low-pressure gas tube. They are deflected by electric and magnetic fields.</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02</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34 / 41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4. </a:t>
            </a:r>
            <a:r>
              <a:rPr b="1" sz="2000">
                <a:solidFill>
                  <a:srgbClr val="1A2332"/>
                </a:solidFill>
                <a:latin typeface="Calibri"/>
              </a:rPr>
              <a:t>Why did the Thomson model fail?</a:t>
            </a:r>
            <a:r>
              <a:rPr sz="2000">
                <a:solidFill>
                  <a:srgbClr val="1A2332"/>
                </a:solidFill>
                <a:latin typeface="Calibri"/>
              </a:rPr>
              <a:t> (Member 4) It could not explain large-angle scattering of alpha particles, had no nucleus, and could not explain line spectra or stability.</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04</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35 / 41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5. </a:t>
            </a:r>
            <a:r>
              <a:rPr b="1" sz="2000">
                <a:solidFill>
                  <a:srgbClr val="1A2332"/>
                </a:solidFill>
                <a:latin typeface="Calibri"/>
              </a:rPr>
              <a:t>What are alpha particles?</a:t>
            </a:r>
            <a:r>
              <a:rPr sz="2000">
                <a:solidFill>
                  <a:srgbClr val="1A2332"/>
                </a:solidFill>
                <a:latin typeface="Calibri"/>
              </a:rPr>
              <a:t> (Member 5) Helium nuclei, two protons and two neutrons, with charge +2e. They are emitted by radioactive elements like radium and polonium.</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05</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36 / 41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6. </a:t>
            </a:r>
            <a:r>
              <a:rPr b="1" sz="2000">
                <a:solidFill>
                  <a:srgbClr val="1A2332"/>
                </a:solidFill>
                <a:latin typeface="Calibri"/>
              </a:rPr>
              <a:t>Why did most alpha particles pass straight?</a:t>
            </a:r>
            <a:r>
              <a:rPr sz="2000">
                <a:solidFill>
                  <a:srgbClr val="1A2332"/>
                </a:solidFill>
                <a:latin typeface="Calibri"/>
              </a:rPr>
              <a:t> (Member 6) Because the atom is mostly empty space, and most particles never came near a nucleus.</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06</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37 / 41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7. </a:t>
            </a:r>
            <a:r>
              <a:rPr b="1" sz="2000">
                <a:solidFill>
                  <a:srgbClr val="1A2332"/>
                </a:solidFill>
                <a:latin typeface="Calibri"/>
              </a:rPr>
              <a:t>Why were some alpha particles deflected greatly?</a:t>
            </a:r>
            <a:r>
              <a:rPr sz="2000">
                <a:solidFill>
                  <a:srgbClr val="1A2332"/>
                </a:solidFill>
                <a:latin typeface="Calibri"/>
              </a:rPr>
              <a:t> (Member 6) Because they came very close to the tiny, dense, positively charged nucleus and were strongly repelled. A small impact parameter gives a large deflection.</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06</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38 / 41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8. </a:t>
            </a:r>
            <a:r>
              <a:rPr b="1" sz="2000">
                <a:solidFill>
                  <a:srgbClr val="1A2332"/>
                </a:solidFill>
                <a:latin typeface="Calibri"/>
              </a:rPr>
              <a:t>What is the Rutherford nuclear model?</a:t>
            </a:r>
            <a:r>
              <a:rPr sz="2000">
                <a:solidFill>
                  <a:srgbClr val="1A2332"/>
                </a:solidFill>
                <a:latin typeface="Calibri"/>
              </a:rPr>
              <a:t> (Member 7) The atom has a small, dense, positive nucleus containing most of the mass, with electrons revolving around it. Most of the atom is empty space.</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07</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39 / 41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9. </a:t>
            </a:r>
            <a:r>
              <a:rPr b="1" sz="2000">
                <a:solidFill>
                  <a:srgbClr val="1A2332"/>
                </a:solidFill>
                <a:latin typeface="Calibri"/>
              </a:rPr>
              <a:t>Why is the Rutherford model called the planetary model?</a:t>
            </a:r>
            <a:r>
              <a:rPr sz="2000">
                <a:solidFill>
                  <a:srgbClr val="1A2332"/>
                </a:solidFill>
                <a:latin typeface="Calibri"/>
              </a:rPr>
              <a:t> (Member 7) Because electrons revolve around the nucleus like planets around the sun, with electrostatic force playing the role of gravity.</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07</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40 / 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TextBox 1"/>
          <p:cNvSpPr txBox="1"/>
          <p:nvPr/>
        </p:nvSpPr>
        <p:spPr>
          <a:xfrm>
            <a:off x="548640" y="219456"/>
            <a:ext cx="8778240" cy="859536"/>
          </a:xfrm>
          <a:prstGeom prst="rect">
            <a:avLst/>
          </a:prstGeom>
          <a:noFill/>
        </p:spPr>
        <p:txBody>
          <a:bodyPr wrap="square">
            <a:spAutoFit/>
          </a:bodyPr>
          <a:lstStyle/>
          <a:p>
            <a:r>
              <a:rPr sz="2800" b="1">
                <a:solidFill>
                  <a:srgbClr val="0B1A33"/>
                </a:solidFill>
                <a:latin typeface="Calibri"/>
              </a:rPr>
              <a:t>Teacher Cross Questions — Detailed Answers</a:t>
            </a:r>
          </a:p>
        </p:txBody>
      </p:sp>
      <p:sp>
        <p:nvSpPr>
          <p:cNvPr id="3" name="Rectangle 2"/>
          <p:cNvSpPr/>
          <p:nvPr/>
        </p:nvSpPr>
        <p:spPr>
          <a:xfrm>
            <a:off x="347472" y="237744"/>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881360" cy="4937760"/>
          </a:xfrm>
          <a:prstGeom prst="rect">
            <a:avLst/>
          </a:prstGeom>
          <a:noFill/>
        </p:spPr>
        <p:txBody>
          <a:bodyPr wrap="square">
            <a:spAutoFit/>
          </a:bodyPr>
          <a:lstStyle/>
          <a:p>
            <a:pPr>
              <a:spcBef>
                <a:spcPts val="0"/>
              </a:spcBef>
              <a:spcAft>
                <a:spcPts val="1200"/>
              </a:spcAft>
            </a:pPr>
            <a:r>
              <a:rPr sz="2000">
                <a:solidFill>
                  <a:srgbClr val="1A2332"/>
                </a:solidFill>
                <a:latin typeface="Calibri"/>
              </a:rPr>
              <a:t>10. </a:t>
            </a:r>
            <a:r>
              <a:rPr b="1" sz="2000">
                <a:solidFill>
                  <a:srgbClr val="1A2332"/>
                </a:solidFill>
                <a:latin typeface="Calibri"/>
              </a:rPr>
              <a:t>What is the main limitation of classical models?</a:t>
            </a:r>
            <a:r>
              <a:rPr sz="2000">
                <a:solidFill>
                  <a:srgbClr val="1A2332"/>
                </a:solidFill>
                <a:latin typeface="Calibri"/>
              </a:rPr>
              <a:t> (Member 9) They cannot explain atomic stability, since an orbiting electron should radiate energy and spiral into the nucleus, and they cannot explain line spectra, since they predict a continuous one.</a:t>
            </a:r>
          </a:p>
        </p:txBody>
      </p:sp>
      <p:sp>
        <p:nvSpPr>
          <p:cNvPr id="5" name="Rounded Rectangle 4"/>
          <p:cNvSpPr/>
          <p:nvPr/>
        </p:nvSpPr>
        <p:spPr>
          <a:xfrm>
            <a:off x="9646920" y="201168"/>
            <a:ext cx="2011680" cy="41148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B1A33"/>
                </a:solidFill>
                <a:latin typeface="Calibri"/>
              </a:rPr>
              <a:t>MEMBER 09</a:t>
            </a:r>
          </a:p>
        </p:txBody>
      </p:sp>
      <p:sp>
        <p:nvSpPr>
          <p:cNvPr id="6" name="Rectangle 5"/>
          <p:cNvSpPr/>
          <p:nvPr/>
        </p:nvSpPr>
        <p:spPr>
          <a:xfrm>
            <a:off x="0" y="6400800"/>
            <a:ext cx="12188952" cy="457200"/>
          </a:xfrm>
          <a:prstGeom prst="rect">
            <a:avLst/>
          </a:prstGeom>
          <a:solidFill>
            <a:srgbClr val="0B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0" y="6473952"/>
            <a:ext cx="914400" cy="310896"/>
          </a:xfrm>
          <a:prstGeom prst="rect">
            <a:avLst/>
          </a:prstGeom>
          <a:noFill/>
        </p:spPr>
        <p:txBody>
          <a:bodyPr wrap="none">
            <a:spAutoFit/>
          </a:bodyPr>
          <a:lstStyle/>
          <a:p>
            <a:pPr algn="r"/>
            <a:r>
              <a:rPr sz="1000" b="1">
                <a:solidFill>
                  <a:srgbClr val="FFFFFF"/>
                </a:solidFill>
                <a:latin typeface="Calibri"/>
              </a:rPr>
              <a:t>41 / 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